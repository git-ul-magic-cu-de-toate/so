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7" r:id="rId2"/>
    <p:sldId id="403" r:id="rId3"/>
    <p:sldId id="466" r:id="rId4"/>
    <p:sldId id="486" r:id="rId5"/>
    <p:sldId id="487" r:id="rId6"/>
    <p:sldId id="259" r:id="rId7"/>
    <p:sldId id="488" r:id="rId8"/>
    <p:sldId id="489" r:id="rId9"/>
    <p:sldId id="491" r:id="rId10"/>
    <p:sldId id="312" r:id="rId11"/>
    <p:sldId id="492" r:id="rId12"/>
    <p:sldId id="500" r:id="rId13"/>
    <p:sldId id="493" r:id="rId14"/>
    <p:sldId id="261" r:id="rId15"/>
    <p:sldId id="633" r:id="rId16"/>
    <p:sldId id="637" r:id="rId17"/>
    <p:sldId id="634" r:id="rId18"/>
    <p:sldId id="669" r:id="rId19"/>
    <p:sldId id="262" r:id="rId20"/>
    <p:sldId id="635" r:id="rId21"/>
    <p:sldId id="646" r:id="rId22"/>
    <p:sldId id="636" r:id="rId23"/>
    <p:sldId id="639" r:id="rId24"/>
    <p:sldId id="638" r:id="rId25"/>
    <p:sldId id="640" r:id="rId26"/>
    <p:sldId id="641" r:id="rId27"/>
    <p:sldId id="642" r:id="rId28"/>
    <p:sldId id="645" r:id="rId29"/>
    <p:sldId id="643" r:id="rId30"/>
    <p:sldId id="644" r:id="rId31"/>
    <p:sldId id="647" r:id="rId32"/>
    <p:sldId id="648" r:id="rId33"/>
    <p:sldId id="649" r:id="rId34"/>
    <p:sldId id="650" r:id="rId35"/>
    <p:sldId id="651" r:id="rId36"/>
    <p:sldId id="652" r:id="rId37"/>
    <p:sldId id="653" r:id="rId38"/>
    <p:sldId id="654" r:id="rId39"/>
    <p:sldId id="655" r:id="rId40"/>
    <p:sldId id="656" r:id="rId41"/>
    <p:sldId id="657" r:id="rId42"/>
    <p:sldId id="658" r:id="rId43"/>
    <p:sldId id="659" r:id="rId44"/>
    <p:sldId id="660" r:id="rId45"/>
    <p:sldId id="661" r:id="rId46"/>
    <p:sldId id="662" r:id="rId47"/>
    <p:sldId id="663" r:id="rId48"/>
    <p:sldId id="664" r:id="rId49"/>
    <p:sldId id="665" r:id="rId50"/>
    <p:sldId id="666" r:id="rId51"/>
    <p:sldId id="667" r:id="rId52"/>
    <p:sldId id="668" r:id="rId53"/>
    <p:sldId id="483" r:id="rId54"/>
    <p:sldId id="267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46" autoAdjust="0"/>
    <p:restoredTop sz="85082" autoAdjust="0"/>
  </p:normalViewPr>
  <p:slideViewPr>
    <p:cSldViewPr>
      <p:cViewPr varScale="1">
        <p:scale>
          <a:sx n="108" d="100"/>
          <a:sy n="108" d="100"/>
        </p:scale>
        <p:origin x="20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5246D8-2D8B-D443-92D2-B83CF568DE4F}" type="doc">
      <dgm:prSet loTypeId="urn:microsoft.com/office/officeart/2005/8/layout/arrow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A836470-E160-0D4B-B94B-C84347DF8DA6}">
      <dgm:prSet/>
      <dgm:spPr/>
      <dgm:t>
        <a:bodyPr/>
        <a:lstStyle/>
        <a:p>
          <a:r>
            <a:rPr lang="ro-RO" noProof="0" dirty="0"/>
            <a:t>fișiere și directoare</a:t>
          </a:r>
        </a:p>
      </dgm:t>
    </dgm:pt>
    <dgm:pt modelId="{EDD5A9DE-7D77-BD42-A8A9-0715FB0886DA}" type="parTrans" cxnId="{C8AB1842-AA40-C640-9836-7E5AF5CA5ED3}">
      <dgm:prSet/>
      <dgm:spPr/>
      <dgm:t>
        <a:bodyPr/>
        <a:lstStyle/>
        <a:p>
          <a:endParaRPr lang="en-US"/>
        </a:p>
      </dgm:t>
    </dgm:pt>
    <dgm:pt modelId="{432A5655-A179-2F4C-9113-C55067846198}" type="sibTrans" cxnId="{C8AB1842-AA40-C640-9836-7E5AF5CA5ED3}">
      <dgm:prSet/>
      <dgm:spPr/>
      <dgm:t>
        <a:bodyPr/>
        <a:lstStyle/>
        <a:p>
          <a:endParaRPr lang="en-US"/>
        </a:p>
      </dgm:t>
    </dgm:pt>
    <dgm:pt modelId="{E10D0554-C095-9F47-AC0E-A4BF2AFF2472}">
      <dgm:prSet/>
      <dgm:spPr/>
      <dgm:t>
        <a:bodyPr/>
        <a:lstStyle/>
        <a:p>
          <a:r>
            <a:rPr lang="ro-RO" noProof="0" dirty="0"/>
            <a:t>Structuri de date</a:t>
          </a:r>
        </a:p>
      </dgm:t>
    </dgm:pt>
    <dgm:pt modelId="{115752DA-7E6A-7446-ABCF-303E83219110}" type="parTrans" cxnId="{93ED61BA-3E1D-E840-A3FB-35BF5B3ABA46}">
      <dgm:prSet/>
      <dgm:spPr/>
      <dgm:t>
        <a:bodyPr/>
        <a:lstStyle/>
        <a:p>
          <a:endParaRPr lang="en-US"/>
        </a:p>
      </dgm:t>
    </dgm:pt>
    <dgm:pt modelId="{61294D39-6DEC-DB44-8A13-9FB072F60F2A}" type="sibTrans" cxnId="{93ED61BA-3E1D-E840-A3FB-35BF5B3ABA46}">
      <dgm:prSet/>
      <dgm:spPr/>
      <dgm:t>
        <a:bodyPr/>
        <a:lstStyle/>
        <a:p>
          <a:endParaRPr lang="en-US"/>
        </a:p>
      </dgm:t>
    </dgm:pt>
    <dgm:pt modelId="{BE14688B-A5DE-294E-9E7E-8E770DA9A45D}">
      <dgm:prSet/>
      <dgm:spPr/>
      <dgm:t>
        <a:bodyPr/>
        <a:lstStyle/>
        <a:p>
          <a:r>
            <a:rPr lang="ro-RO" noProof="0" dirty="0"/>
            <a:t>Aplicații</a:t>
          </a:r>
        </a:p>
      </dgm:t>
    </dgm:pt>
    <dgm:pt modelId="{FD1E6E9F-40C1-954D-B8D0-F795848093A5}" type="parTrans" cxnId="{A957BFEE-0E1C-0D48-9B29-C99296E3A3AE}">
      <dgm:prSet/>
      <dgm:spPr/>
      <dgm:t>
        <a:bodyPr/>
        <a:lstStyle/>
        <a:p>
          <a:endParaRPr lang="en-US"/>
        </a:p>
      </dgm:t>
    </dgm:pt>
    <dgm:pt modelId="{55AD4C2E-0AE9-A047-B281-663FF20F7907}" type="sibTrans" cxnId="{A957BFEE-0E1C-0D48-9B29-C99296E3A3AE}">
      <dgm:prSet/>
      <dgm:spPr/>
      <dgm:t>
        <a:bodyPr/>
        <a:lstStyle/>
        <a:p>
          <a:endParaRPr lang="en-US"/>
        </a:p>
      </dgm:t>
    </dgm:pt>
    <dgm:pt modelId="{8DBD4B60-D93B-FE48-9F42-23075E7E028A}">
      <dgm:prSet/>
      <dgm:spPr/>
      <dgm:t>
        <a:bodyPr/>
        <a:lstStyle/>
        <a:p>
          <a:r>
            <a:rPr lang="ro-RO" noProof="0" dirty="0"/>
            <a:t>Sistemul de operare</a:t>
          </a:r>
        </a:p>
      </dgm:t>
    </dgm:pt>
    <dgm:pt modelId="{6B1AE460-15D5-4140-A6AD-283E4F9FC2FF}" type="parTrans" cxnId="{2EC1CBDE-716C-AE46-B7C1-A7B62BC16C07}">
      <dgm:prSet/>
      <dgm:spPr/>
      <dgm:t>
        <a:bodyPr/>
        <a:lstStyle/>
        <a:p>
          <a:endParaRPr lang="en-US"/>
        </a:p>
      </dgm:t>
    </dgm:pt>
    <dgm:pt modelId="{705F7078-3424-4F44-BD15-E21D9103FDB6}" type="sibTrans" cxnId="{2EC1CBDE-716C-AE46-B7C1-A7B62BC16C07}">
      <dgm:prSet/>
      <dgm:spPr/>
      <dgm:t>
        <a:bodyPr/>
        <a:lstStyle/>
        <a:p>
          <a:endParaRPr lang="en-US"/>
        </a:p>
      </dgm:t>
    </dgm:pt>
    <dgm:pt modelId="{7914869E-08D9-EC43-BAC6-7F2A97ABC424}" type="pres">
      <dgm:prSet presAssocID="{015246D8-2D8B-D443-92D2-B83CF568DE4F}" presName="compositeShape" presStyleCnt="0">
        <dgm:presLayoutVars>
          <dgm:chMax val="2"/>
          <dgm:dir/>
          <dgm:resizeHandles val="exact"/>
        </dgm:presLayoutVars>
      </dgm:prSet>
      <dgm:spPr/>
    </dgm:pt>
    <dgm:pt modelId="{62D548D3-6C9A-BC44-9F7C-BE00ACE64467}" type="pres">
      <dgm:prSet presAssocID="{015246D8-2D8B-D443-92D2-B83CF568DE4F}" presName="divider" presStyleLbl="fgShp" presStyleIdx="0" presStyleCnt="1"/>
      <dgm:spPr/>
    </dgm:pt>
    <dgm:pt modelId="{7136A28F-CE50-BE47-807F-69057D82E074}" type="pres">
      <dgm:prSet presAssocID="{BE14688B-A5DE-294E-9E7E-8E770DA9A45D}" presName="downArrow" presStyleLbl="node1" presStyleIdx="0" presStyleCnt="2"/>
      <dgm:spPr/>
    </dgm:pt>
    <dgm:pt modelId="{91699EAC-A5FE-DD4D-8D24-D927BE8BF3A1}" type="pres">
      <dgm:prSet presAssocID="{BE14688B-A5DE-294E-9E7E-8E770DA9A45D}" presName="downArrowText" presStyleLbl="revTx" presStyleIdx="0" presStyleCnt="2">
        <dgm:presLayoutVars>
          <dgm:bulletEnabled val="1"/>
        </dgm:presLayoutVars>
      </dgm:prSet>
      <dgm:spPr/>
    </dgm:pt>
    <dgm:pt modelId="{2997D7DF-71DD-E54E-8E9E-5E116D47A05E}" type="pres">
      <dgm:prSet presAssocID="{8DBD4B60-D93B-FE48-9F42-23075E7E028A}" presName="upArrow" presStyleLbl="node1" presStyleIdx="1" presStyleCnt="2"/>
      <dgm:spPr/>
    </dgm:pt>
    <dgm:pt modelId="{C00DEE72-621B-D943-9B09-F76E2FF44BAC}" type="pres">
      <dgm:prSet presAssocID="{8DBD4B60-D93B-FE48-9F42-23075E7E028A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C8AB1842-AA40-C640-9836-7E5AF5CA5ED3}" srcId="{BE14688B-A5DE-294E-9E7E-8E770DA9A45D}" destId="{FA836470-E160-0D4B-B94B-C84347DF8DA6}" srcOrd="0" destOrd="0" parTransId="{EDD5A9DE-7D77-BD42-A8A9-0715FB0886DA}" sibTransId="{432A5655-A179-2F4C-9113-C55067846198}"/>
    <dgm:cxn modelId="{5CCC6D47-0BAA-F04F-9757-DEEB24417A51}" type="presOf" srcId="{015246D8-2D8B-D443-92D2-B83CF568DE4F}" destId="{7914869E-08D9-EC43-BAC6-7F2A97ABC424}" srcOrd="0" destOrd="0" presId="urn:microsoft.com/office/officeart/2005/8/layout/arrow3"/>
    <dgm:cxn modelId="{4E6EC854-9C09-084A-AB2F-EB61A0C098E5}" type="presOf" srcId="{BE14688B-A5DE-294E-9E7E-8E770DA9A45D}" destId="{91699EAC-A5FE-DD4D-8D24-D927BE8BF3A1}" srcOrd="0" destOrd="0" presId="urn:microsoft.com/office/officeart/2005/8/layout/arrow3"/>
    <dgm:cxn modelId="{2A73775F-8C70-1741-A694-C5F505D525F2}" type="presOf" srcId="{E10D0554-C095-9F47-AC0E-A4BF2AFF2472}" destId="{C00DEE72-621B-D943-9B09-F76E2FF44BAC}" srcOrd="0" destOrd="1" presId="urn:microsoft.com/office/officeart/2005/8/layout/arrow3"/>
    <dgm:cxn modelId="{EC22D26B-C47C-5B40-95DE-A5C97182C8A0}" type="presOf" srcId="{8DBD4B60-D93B-FE48-9F42-23075E7E028A}" destId="{C00DEE72-621B-D943-9B09-F76E2FF44BAC}" srcOrd="0" destOrd="0" presId="urn:microsoft.com/office/officeart/2005/8/layout/arrow3"/>
    <dgm:cxn modelId="{0141178E-0C9A-3F4A-9EC2-791968455966}" type="presOf" srcId="{FA836470-E160-0D4B-B94B-C84347DF8DA6}" destId="{91699EAC-A5FE-DD4D-8D24-D927BE8BF3A1}" srcOrd="0" destOrd="1" presId="urn:microsoft.com/office/officeart/2005/8/layout/arrow3"/>
    <dgm:cxn modelId="{93ED61BA-3E1D-E840-A3FB-35BF5B3ABA46}" srcId="{8DBD4B60-D93B-FE48-9F42-23075E7E028A}" destId="{E10D0554-C095-9F47-AC0E-A4BF2AFF2472}" srcOrd="0" destOrd="0" parTransId="{115752DA-7E6A-7446-ABCF-303E83219110}" sibTransId="{61294D39-6DEC-DB44-8A13-9FB072F60F2A}"/>
    <dgm:cxn modelId="{2EC1CBDE-716C-AE46-B7C1-A7B62BC16C07}" srcId="{015246D8-2D8B-D443-92D2-B83CF568DE4F}" destId="{8DBD4B60-D93B-FE48-9F42-23075E7E028A}" srcOrd="1" destOrd="0" parTransId="{6B1AE460-15D5-4140-A6AD-283E4F9FC2FF}" sibTransId="{705F7078-3424-4F44-BD15-E21D9103FDB6}"/>
    <dgm:cxn modelId="{A957BFEE-0E1C-0D48-9B29-C99296E3A3AE}" srcId="{015246D8-2D8B-D443-92D2-B83CF568DE4F}" destId="{BE14688B-A5DE-294E-9E7E-8E770DA9A45D}" srcOrd="0" destOrd="0" parTransId="{FD1E6E9F-40C1-954D-B8D0-F795848093A5}" sibTransId="{55AD4C2E-0AE9-A047-B281-663FF20F7907}"/>
    <dgm:cxn modelId="{5402AFEB-79B2-744C-BEE0-7417FD614101}" type="presParOf" srcId="{7914869E-08D9-EC43-BAC6-7F2A97ABC424}" destId="{62D548D3-6C9A-BC44-9F7C-BE00ACE64467}" srcOrd="0" destOrd="0" presId="urn:microsoft.com/office/officeart/2005/8/layout/arrow3"/>
    <dgm:cxn modelId="{77656B23-ABDD-9C42-B76C-29CA5FFAEE50}" type="presParOf" srcId="{7914869E-08D9-EC43-BAC6-7F2A97ABC424}" destId="{7136A28F-CE50-BE47-807F-69057D82E074}" srcOrd="1" destOrd="0" presId="urn:microsoft.com/office/officeart/2005/8/layout/arrow3"/>
    <dgm:cxn modelId="{1942D801-7E4F-2B4E-86FA-416D44D9E3C8}" type="presParOf" srcId="{7914869E-08D9-EC43-BAC6-7F2A97ABC424}" destId="{91699EAC-A5FE-DD4D-8D24-D927BE8BF3A1}" srcOrd="2" destOrd="0" presId="urn:microsoft.com/office/officeart/2005/8/layout/arrow3"/>
    <dgm:cxn modelId="{016B9E29-8D4E-6F46-A180-C3310505084C}" type="presParOf" srcId="{7914869E-08D9-EC43-BAC6-7F2A97ABC424}" destId="{2997D7DF-71DD-E54E-8E9E-5E116D47A05E}" srcOrd="3" destOrd="0" presId="urn:microsoft.com/office/officeart/2005/8/layout/arrow3"/>
    <dgm:cxn modelId="{82C187BA-A9EE-FE48-BC02-272BD5C6C862}" type="presParOf" srcId="{7914869E-08D9-EC43-BAC6-7F2A97ABC424}" destId="{C00DEE72-621B-D943-9B09-F76E2FF44BAC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548D3-6C9A-BC44-9F7C-BE00ACE64467}">
      <dsp:nvSpPr>
        <dsp:cNvPr id="0" name=""/>
        <dsp:cNvSpPr/>
      </dsp:nvSpPr>
      <dsp:spPr>
        <a:xfrm rot="21300000">
          <a:off x="25254" y="1794666"/>
          <a:ext cx="8179091" cy="936629"/>
        </a:xfrm>
        <a:prstGeom prst="mathMinus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6A28F-CE50-BE47-807F-69057D82E074}">
      <dsp:nvSpPr>
        <dsp:cNvPr id="0" name=""/>
        <dsp:cNvSpPr/>
      </dsp:nvSpPr>
      <dsp:spPr>
        <a:xfrm>
          <a:off x="987552" y="226298"/>
          <a:ext cx="2468880" cy="1810385"/>
        </a:xfrm>
        <a:prstGeom prst="downArrow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99EAC-A5FE-DD4D-8D24-D927BE8BF3A1}">
      <dsp:nvSpPr>
        <dsp:cNvPr id="0" name=""/>
        <dsp:cNvSpPr/>
      </dsp:nvSpPr>
      <dsp:spPr>
        <a:xfrm>
          <a:off x="4361687" y="0"/>
          <a:ext cx="2633472" cy="1900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noProof="0" dirty="0"/>
            <a:t>Aplicații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200" kern="1200" noProof="0" dirty="0"/>
            <a:t>fișiere și directoare</a:t>
          </a:r>
        </a:p>
      </dsp:txBody>
      <dsp:txXfrm>
        <a:off x="4361687" y="0"/>
        <a:ext cx="2633472" cy="1900904"/>
      </dsp:txXfrm>
    </dsp:sp>
    <dsp:sp modelId="{2997D7DF-71DD-E54E-8E9E-5E116D47A05E}">
      <dsp:nvSpPr>
        <dsp:cNvPr id="0" name=""/>
        <dsp:cNvSpPr/>
      </dsp:nvSpPr>
      <dsp:spPr>
        <a:xfrm>
          <a:off x="4773168" y="2489279"/>
          <a:ext cx="2468880" cy="1810385"/>
        </a:xfrm>
        <a:prstGeom prst="upArrow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DEE72-621B-D943-9B09-F76E2FF44BAC}">
      <dsp:nvSpPr>
        <dsp:cNvPr id="0" name=""/>
        <dsp:cNvSpPr/>
      </dsp:nvSpPr>
      <dsp:spPr>
        <a:xfrm>
          <a:off x="1234440" y="2625058"/>
          <a:ext cx="2633472" cy="1900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noProof="0" dirty="0"/>
            <a:t>Sistemul de operare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2200" kern="1200" noProof="0" dirty="0"/>
            <a:t>Structuri de date</a:t>
          </a:r>
        </a:p>
      </dsp:txBody>
      <dsp:txXfrm>
        <a:off x="1234440" y="2625058"/>
        <a:ext cx="2633472" cy="1900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5/11/20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5/11/20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07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310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3452561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613675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i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i35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sisteme de fisiere tranzactionale vs. sisteme non-tranzactionale (trade-off consistenta vs. viteza)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sisteme de fisiere distribuite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sisteme de fisiere de retea (NFS)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ce tip de SF se foloseste pt. swap si de ce?</a:t>
            </a:r>
            <a:endParaRPr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724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i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i4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  <p:extLst>
      <p:ext uri="{BB962C8B-B14F-4D97-AF65-F5344CB8AC3E}">
        <p14:creationId xmlns:p14="http://schemas.microsoft.com/office/powerpoint/2010/main" val="1604011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11.05.2020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11.05.2020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11.05.2020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11.05.2020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11.05.2020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11.05.2020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11.05.2020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11.05.2020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11.05.2020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11.05.2020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11.05.2020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11.05.2020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Implementarea sistemelor de fișiere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Contenu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Fișiere</a:t>
            </a:r>
          </a:p>
          <a:p>
            <a:r>
              <a:rPr lang="ro-RO"/>
              <a:t>Sisteme de fișiere</a:t>
            </a:r>
          </a:p>
          <a:p>
            <a:r>
              <a:rPr lang="ro-RO"/>
              <a:t>Exemple</a:t>
            </a:r>
          </a:p>
          <a:p>
            <a:pPr lvl="1"/>
            <a:r>
              <a:rPr lang="ro-RO"/>
              <a:t>DOS (FAT)</a:t>
            </a:r>
          </a:p>
          <a:p>
            <a:pPr lvl="1"/>
            <a:r>
              <a:rPr lang="ro-RO"/>
              <a:t>Linux (ext)</a:t>
            </a:r>
          </a:p>
          <a:p>
            <a:pPr lvl="1"/>
            <a:r>
              <a:rPr lang="ro-RO"/>
              <a:t>Windows (NTFS)</a:t>
            </a:r>
          </a:p>
          <a:p>
            <a:endParaRPr lang="ro-RO"/>
          </a:p>
          <a:p>
            <a:endParaRPr lang="ro-RO"/>
          </a:p>
          <a:p>
            <a:endParaRPr lang="ro-RO"/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95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6</a:t>
            </a:r>
          </a:p>
          <a:p>
            <a:pPr lvl="2"/>
            <a:r>
              <a:rPr lang="ro-RO"/>
              <a:t>6.3</a:t>
            </a:r>
          </a:p>
          <a:p>
            <a:pPr lvl="2"/>
            <a:r>
              <a:rPr lang="ro-RO"/>
              <a:t>6.4</a:t>
            </a:r>
          </a:p>
          <a:p>
            <a:pPr lvl="2"/>
            <a:endParaRPr lang="ro-RO"/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11</a:t>
            </a:r>
          </a:p>
          <a:p>
            <a:pPr lvl="2"/>
            <a:r>
              <a:rPr lang="ro-RO"/>
              <a:t>11.1 – 11.8</a:t>
            </a:r>
          </a:p>
          <a:p>
            <a:pPr marL="914400" lvl="2" indent="0">
              <a:buNone/>
            </a:pP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6469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1EBE38-7B73-9B40-90D2-35583144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Fișier</a:t>
            </a:r>
            <a:endParaRPr lang="fr-F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AD69F0-A29C-4A43-8743-0325B421B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8EBDE-A655-7C4A-871C-A8DA23B4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20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67B6-4B3D-424B-8FB2-5BBFF0C7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Discul</a:t>
            </a:r>
            <a:endParaRPr lang="ro-RO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9970A-44A5-7140-B7B0-D880D5D217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/>
              <a:t>persistent</a:t>
            </a:r>
          </a:p>
          <a:p>
            <a:endParaRPr lang="ro-RO"/>
          </a:p>
          <a:p>
            <a:r>
              <a:rPr lang="ro-RO"/>
              <a:t>dimensiune de stocare mare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tabel de blocuri</a:t>
            </a: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423E9-EA18-DB44-B2CC-B110D327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</a:t>
            </a:fld>
            <a:endParaRPr lang="ro-RO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436A3F0-BFF0-E54D-B19B-0D6F436A92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725771"/>
            <a:ext cx="2057400" cy="4274820"/>
          </a:xfrm>
        </p:spPr>
      </p:pic>
    </p:spTree>
    <p:extLst>
      <p:ext uri="{BB962C8B-B14F-4D97-AF65-F5344CB8AC3E}">
        <p14:creationId xmlns:p14="http://schemas.microsoft.com/office/powerpoint/2010/main" val="76501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6C60-5177-3846-A7F4-D9105A7A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 de fișiere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83EB-2E5D-DF4C-A342-E7823B883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transformă tabelul de blocuri în fișiere și directoare</a:t>
            </a:r>
          </a:p>
          <a:p>
            <a:endParaRPr lang="ro-RO"/>
          </a:p>
          <a:p>
            <a:r>
              <a:rPr lang="ro-RO"/>
              <a:t>structură de date utilizată de SO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0F094-B60D-814E-95A8-E5BE5840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276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201A-38A4-45AF-84BE-28D2727EA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Operații pe disc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B7B2B-C716-4705-BA79-39164947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ro-RO" smtClean="0"/>
              <a:pPr/>
              <a:t>7</a:t>
            </a:fld>
            <a:endParaRPr lang="ro-RO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793F69-5623-43A7-9C01-F3543CEE912C}"/>
              </a:ext>
            </a:extLst>
          </p:cNvPr>
          <p:cNvGrpSpPr/>
          <p:nvPr/>
        </p:nvGrpSpPr>
        <p:grpSpPr>
          <a:xfrm>
            <a:off x="497019" y="2424113"/>
            <a:ext cx="8149963" cy="2464879"/>
            <a:chOff x="600075" y="2586503"/>
            <a:chExt cx="7915275" cy="2009775"/>
          </a:xfrm>
        </p:grpSpPr>
        <p:pic>
          <p:nvPicPr>
            <p:cNvPr id="8" name="Grafic 11">
              <a:extLst>
                <a:ext uri="{FF2B5EF4-FFF2-40B4-BE49-F238E27FC236}">
                  <a16:creationId xmlns:a16="http://schemas.microsoft.com/office/drawing/2014/main" id="{418C4C0D-AF43-47B0-947A-258AEF75E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075" y="2586503"/>
              <a:ext cx="7915275" cy="2009775"/>
            </a:xfrm>
            <a:prstGeom prst="rect">
              <a:avLst/>
            </a:prstGeom>
          </p:spPr>
        </p:pic>
        <p:sp>
          <p:nvSpPr>
            <p:cNvPr id="9" name="CasetăText 12">
              <a:extLst>
                <a:ext uri="{FF2B5EF4-FFF2-40B4-BE49-F238E27FC236}">
                  <a16:creationId xmlns:a16="http://schemas.microsoft.com/office/drawing/2014/main" id="{DEBADCE7-DC90-4B01-A259-2D4986D9ABBD}"/>
                </a:ext>
              </a:extLst>
            </p:cNvPr>
            <p:cNvSpPr txBox="1"/>
            <p:nvPr/>
          </p:nvSpPr>
          <p:spPr>
            <a:xfrm>
              <a:off x="812517" y="3959366"/>
              <a:ext cx="546944" cy="250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400"/>
                <a:t>disc</a:t>
              </a:r>
            </a:p>
          </p:txBody>
        </p:sp>
        <p:sp>
          <p:nvSpPr>
            <p:cNvPr id="10" name="CasetăText 13">
              <a:extLst>
                <a:ext uri="{FF2B5EF4-FFF2-40B4-BE49-F238E27FC236}">
                  <a16:creationId xmlns:a16="http://schemas.microsoft.com/office/drawing/2014/main" id="{6A11CF01-F8AA-4F2D-B011-89847D40BD2A}"/>
                </a:ext>
              </a:extLst>
            </p:cNvPr>
            <p:cNvSpPr txBox="1"/>
            <p:nvPr/>
          </p:nvSpPr>
          <p:spPr>
            <a:xfrm>
              <a:off x="2168486" y="2979237"/>
              <a:ext cx="901288" cy="376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200" dirty="0"/>
                <a:t>partiționare</a:t>
              </a:r>
            </a:p>
            <a:p>
              <a:endParaRPr lang="ro-RO" sz="1200" dirty="0"/>
            </a:p>
          </p:txBody>
        </p:sp>
        <p:sp>
          <p:nvSpPr>
            <p:cNvPr id="11" name="CasetăText 14">
              <a:extLst>
                <a:ext uri="{FF2B5EF4-FFF2-40B4-BE49-F238E27FC236}">
                  <a16:creationId xmlns:a16="http://schemas.microsoft.com/office/drawing/2014/main" id="{3E67F007-BD9E-4844-821C-B71F1F299563}"/>
                </a:ext>
              </a:extLst>
            </p:cNvPr>
            <p:cNvSpPr txBox="1"/>
            <p:nvPr/>
          </p:nvSpPr>
          <p:spPr>
            <a:xfrm>
              <a:off x="4063436" y="3080514"/>
              <a:ext cx="888895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 dirty="0"/>
                <a:t>formatare</a:t>
              </a:r>
            </a:p>
          </p:txBody>
        </p:sp>
        <p:sp>
          <p:nvSpPr>
            <p:cNvPr id="12" name="CasetăText 15">
              <a:extLst>
                <a:ext uri="{FF2B5EF4-FFF2-40B4-BE49-F238E27FC236}">
                  <a16:creationId xmlns:a16="http://schemas.microsoft.com/office/drawing/2014/main" id="{80D33CB0-E293-4A98-95F4-F569DECB0BAE}"/>
                </a:ext>
              </a:extLst>
            </p:cNvPr>
            <p:cNvSpPr txBox="1"/>
            <p:nvPr/>
          </p:nvSpPr>
          <p:spPr>
            <a:xfrm>
              <a:off x="5733213" y="3080514"/>
              <a:ext cx="786704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 dirty="0"/>
                <a:t>montare</a:t>
              </a:r>
            </a:p>
          </p:txBody>
        </p:sp>
        <p:sp>
          <p:nvSpPr>
            <p:cNvPr id="13" name="CasetăText 16">
              <a:extLst>
                <a:ext uri="{FF2B5EF4-FFF2-40B4-BE49-F238E27FC236}">
                  <a16:creationId xmlns:a16="http://schemas.microsoft.com/office/drawing/2014/main" id="{9760E660-1A78-4A53-B0CB-F855CF50D630}"/>
                </a:ext>
              </a:extLst>
            </p:cNvPr>
            <p:cNvSpPr txBox="1"/>
            <p:nvPr/>
          </p:nvSpPr>
          <p:spPr>
            <a:xfrm>
              <a:off x="7486650" y="3080514"/>
              <a:ext cx="689308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 dirty="0"/>
                <a:t>backup</a:t>
              </a:r>
            </a:p>
          </p:txBody>
        </p:sp>
        <p:sp>
          <p:nvSpPr>
            <p:cNvPr id="14" name="CasetăText 17">
              <a:extLst>
                <a:ext uri="{FF2B5EF4-FFF2-40B4-BE49-F238E27FC236}">
                  <a16:creationId xmlns:a16="http://schemas.microsoft.com/office/drawing/2014/main" id="{C049300D-CE13-4289-94E3-9FABA3E590F3}"/>
                </a:ext>
              </a:extLst>
            </p:cNvPr>
            <p:cNvSpPr txBox="1"/>
            <p:nvPr/>
          </p:nvSpPr>
          <p:spPr>
            <a:xfrm>
              <a:off x="4677308" y="4118161"/>
              <a:ext cx="451049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/>
                <a:t>fsck</a:t>
              </a:r>
            </a:p>
          </p:txBody>
        </p:sp>
        <p:sp>
          <p:nvSpPr>
            <p:cNvPr id="15" name="CasetăText 18">
              <a:extLst>
                <a:ext uri="{FF2B5EF4-FFF2-40B4-BE49-F238E27FC236}">
                  <a16:creationId xmlns:a16="http://schemas.microsoft.com/office/drawing/2014/main" id="{FC099F7A-2F9F-4227-91EF-7403665EEE0A}"/>
                </a:ext>
              </a:extLst>
            </p:cNvPr>
            <p:cNvSpPr txBox="1"/>
            <p:nvPr/>
          </p:nvSpPr>
          <p:spPr>
            <a:xfrm>
              <a:off x="6717400" y="4129754"/>
              <a:ext cx="707368" cy="2509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1400" dirty="0"/>
                <a:t>folosire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834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65AD-991C-46A9-A2D0-FE479FAC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16B1-AFA5-44D2-BC23-3C25461C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Zonă contiguă</a:t>
            </a:r>
          </a:p>
          <a:p>
            <a:endParaRPr lang="ro-RO"/>
          </a:p>
          <a:p>
            <a:r>
              <a:rPr lang="ro-RO"/>
              <a:t>Conține un sistem de fișiere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6EE42-87DA-42B0-B2F2-9F8B1F23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808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1503-CCAD-4F34-A796-88B3005C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partiționare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B0A3-EA95-4BDC-A7EC-85D3585A8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b="1" dirty="0"/>
              <a:t>MBR </a:t>
            </a:r>
            <a:r>
              <a:rPr lang="ro-RO" dirty="0"/>
              <a:t>– (Master Boot Record)</a:t>
            </a:r>
          </a:p>
          <a:p>
            <a:pPr lvl="1"/>
            <a:r>
              <a:rPr lang="ro-RO" dirty="0"/>
              <a:t>partiții primare (maxim 4)</a:t>
            </a:r>
          </a:p>
          <a:p>
            <a:pPr lvl="1"/>
            <a:r>
              <a:rPr lang="ro-RO" dirty="0"/>
              <a:t>partiție extinsă – poate fi în locul unei partiții primare</a:t>
            </a:r>
          </a:p>
          <a:p>
            <a:pPr lvl="1"/>
            <a:r>
              <a:rPr lang="ro-RO" dirty="0"/>
              <a:t>partiție logică – în interiorul partiției extinse</a:t>
            </a:r>
          </a:p>
          <a:p>
            <a:r>
              <a:rPr lang="ro-RO" b="1" dirty="0"/>
              <a:t>GPT</a:t>
            </a:r>
            <a:r>
              <a:rPr lang="ro-RO" dirty="0"/>
              <a:t> – (GUID </a:t>
            </a:r>
            <a:r>
              <a:rPr lang="ro-RO" dirty="0" err="1"/>
              <a:t>Partition</a:t>
            </a:r>
            <a:r>
              <a:rPr lang="ro-RO" dirty="0"/>
              <a:t> Table)</a:t>
            </a:r>
          </a:p>
          <a:p>
            <a:pPr lvl="1"/>
            <a:r>
              <a:rPr lang="ro-RO" dirty="0"/>
              <a:t>nu are limită de partiții</a:t>
            </a:r>
          </a:p>
          <a:p>
            <a:pPr lvl="1"/>
            <a:r>
              <a:rPr lang="ro-RO" dirty="0"/>
              <a:t>fiecare partiție are un GUID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A19A6-9A2E-4786-AB94-BFCA0697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622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4B668D-040F-1649-88CB-7D9DEE7F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MBR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9DAFF-E030-43EC-B810-5A6B26C8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432167A-0EFE-3D48-93F1-966D45D72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50" y="1913731"/>
            <a:ext cx="5194300" cy="3898900"/>
          </a:xfrm>
        </p:spPr>
      </p:pic>
    </p:spTree>
    <p:extLst>
      <p:ext uri="{BB962C8B-B14F-4D97-AF65-F5344CB8AC3E}">
        <p14:creationId xmlns:p14="http://schemas.microsoft.com/office/powerpoint/2010/main" val="273725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6172-8F9F-614E-AACA-A5F935B7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GPT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8646D-497D-4539-A0C0-BFBEB6C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fr-FR" smtClean="0"/>
              <a:pPr/>
              <a:t>11</a:t>
            </a:fld>
            <a:endParaRPr lang="fr-FR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7201EA0-8517-524D-AB2E-12B8A21BB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195" y="1600200"/>
            <a:ext cx="3291609" cy="4525963"/>
          </a:xfrm>
        </p:spPr>
      </p:pic>
    </p:spTree>
    <p:extLst>
      <p:ext uri="{BB962C8B-B14F-4D97-AF65-F5344CB8AC3E}">
        <p14:creationId xmlns:p14="http://schemas.microsoft.com/office/powerpoint/2010/main" val="419006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59E737-EEAB-3A4D-A1E6-BE43F359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Sistem de fișiere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B5BEE5-A77E-6C4F-BBFF-9A1B45AA3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5AAD5-1C7C-2741-A5FD-972A7659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9926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6C60-5177-3846-A7F4-D9105A7A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Sistem de fișiere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314880E-F766-BD4B-95C9-A6C10A6C0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085833"/>
              </p:ext>
            </p:extLst>
          </p:nvPr>
        </p:nvGraphicFramePr>
        <p:xfrm>
          <a:off x="457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1FF4C-EAB8-204A-9BFC-B7479FCD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14438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AE63C5-45DA-D645-B7D8-71D96F75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sisteme de fișiere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9E4816-E951-FA4E-847F-2BB07E1C8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ext3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ReiserFS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HFS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NTFS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FAT32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ISO9660</a:t>
            </a:r>
          </a:p>
          <a:p>
            <a:pPr marL="593084" indent="-457200">
              <a:lnSpc>
                <a:spcPct val="111607"/>
              </a:lnSpc>
              <a:spcBef>
                <a:spcPts val="0"/>
              </a:spcBef>
              <a:buClr>
                <a:srgbClr val="000000"/>
              </a:buClr>
              <a:buSzPts val="2822"/>
            </a:pPr>
            <a:r>
              <a:rPr lang="ro-RO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UDF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FDD2-BBA7-904A-89BC-071D21C5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3818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0698E1-0664-E045-894C-4F4152E6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Implementarea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A0CFFB-D319-4E44-BDAA-E66CE064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3B322-58CA-EB4C-9F4C-D3DB41C0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3673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BE0218-1A3D-7349-8FAF-160691D7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Discul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46AB1-A958-1748-87FD-D9E6BA1C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Pagini</a:t>
            </a:r>
          </a:p>
          <a:p>
            <a:pPr lvl="1"/>
            <a:r>
              <a:rPr lang="ro-RO"/>
              <a:t>Mai multe blocuri</a:t>
            </a:r>
          </a:p>
          <a:p>
            <a:endParaRPr lang="ro-RO"/>
          </a:p>
          <a:p>
            <a:r>
              <a:rPr lang="ro-RO"/>
              <a:t>Bloc</a:t>
            </a:r>
          </a:p>
          <a:p>
            <a:pPr lvl="1"/>
            <a:r>
              <a:rPr lang="ro-RO"/>
              <a:t>Unitatea de citire și scriere</a:t>
            </a:r>
          </a:p>
          <a:p>
            <a:pPr lvl="1"/>
            <a:r>
              <a:rPr lang="ro-RO"/>
              <a:t>Sub-multiplu unei pagini de memorie</a:t>
            </a:r>
          </a:p>
          <a:p>
            <a:pPr lvl="2"/>
            <a:r>
              <a:rPr lang="ro-RO"/>
              <a:t>(în general 512 B)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9A2A1-F2F9-8D4B-AEBC-56277544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2433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558EE1-935D-D64F-94BC-60F6C902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Partiția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8589C-E256-D749-92D6-0A983634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B64FC4-3603-024F-8625-D6E641FA7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Pe o partiție sunt stocate</a:t>
            </a:r>
          </a:p>
          <a:p>
            <a:pPr lvl="1"/>
            <a:r>
              <a:rPr lang="ro-RO"/>
              <a:t>date</a:t>
            </a:r>
          </a:p>
          <a:p>
            <a:pPr lvl="1"/>
            <a:r>
              <a:rPr lang="ro-RO"/>
              <a:t>metadate</a:t>
            </a:r>
          </a:p>
        </p:txBody>
      </p:sp>
    </p:spTree>
    <p:extLst>
      <p:ext uri="{BB962C8B-B14F-4D97-AF65-F5344CB8AC3E}">
        <p14:creationId xmlns:p14="http://schemas.microsoft.com/office/powerpoint/2010/main" val="2540559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EDE0-D53B-184A-A564-F3EB128D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Folosirea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38E7C4-1C60-974B-BB4F-146F13B60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94" y="1600200"/>
            <a:ext cx="5997212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7C144-771A-374D-9AB4-7EF756C6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57321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F18D-71ED-DF4B-82A6-D48D34F8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Structura sistemului de fișiere</a:t>
            </a:r>
          </a:p>
        </p:txBody>
      </p:sp>
      <p:pic>
        <p:nvPicPr>
          <p:cNvPr id="9" name="Google Shape;74;p13">
            <a:extLst>
              <a:ext uri="{FF2B5EF4-FFF2-40B4-BE49-F238E27FC236}">
                <a16:creationId xmlns:a16="http://schemas.microsoft.com/office/drawing/2014/main" id="{62850F69-CD3E-7741-B37D-A7F19ABB0EE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985" y="2313779"/>
            <a:ext cx="7529880" cy="31726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669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35D5-4427-BD41-BDF4-B8898C7E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Fișier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D76C7-7BD2-D144-B0DE-79FFE5C9D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Date</a:t>
            </a:r>
          </a:p>
          <a:p>
            <a:pPr lvl="1"/>
            <a:r>
              <a:rPr lang="ro-RO"/>
              <a:t>Conțiunutul fișierului</a:t>
            </a:r>
          </a:p>
          <a:p>
            <a:endParaRPr lang="ro-RO"/>
          </a:p>
          <a:p>
            <a:r>
              <a:rPr lang="ro-RO"/>
              <a:t>Metadate</a:t>
            </a:r>
          </a:p>
          <a:p>
            <a:pPr lvl="1"/>
            <a:r>
              <a:rPr lang="ro-RO"/>
              <a:t>Informații despre fișier</a:t>
            </a:r>
          </a:p>
          <a:p>
            <a:pPr lvl="1"/>
            <a:r>
              <a:rPr lang="ro-RO"/>
              <a:t>FCB – File Control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E08A-5691-1D42-BE8D-16318E87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0159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5719-F8AF-7040-99EF-B13037A6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Director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D5EE-D5C4-2548-87A6-3EA314A18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Un fișier special</a:t>
            </a:r>
          </a:p>
          <a:p>
            <a:pPr lvl="1"/>
            <a:r>
              <a:rPr lang="ro-RO"/>
              <a:t>în general</a:t>
            </a:r>
          </a:p>
          <a:p>
            <a:pPr marL="0" indent="0">
              <a:buNone/>
            </a:pPr>
            <a:endParaRPr lang="ro-RO"/>
          </a:p>
          <a:p>
            <a:r>
              <a:rPr lang="ro-RO"/>
              <a:t>Date</a:t>
            </a:r>
          </a:p>
          <a:p>
            <a:pPr lvl="1"/>
            <a:r>
              <a:rPr lang="ro-RO" i="1"/>
              <a:t>lista</a:t>
            </a:r>
            <a:r>
              <a:rPr lang="ro-RO"/>
              <a:t> de fișiere</a:t>
            </a:r>
          </a:p>
          <a:p>
            <a:pPr marL="457200" lvl="1" indent="0">
              <a:buNone/>
            </a:pPr>
            <a:endParaRPr lang="ro-RO"/>
          </a:p>
          <a:p>
            <a:r>
              <a:rPr lang="ro-RO"/>
              <a:t>Metadate</a:t>
            </a:r>
          </a:p>
          <a:p>
            <a:pPr lvl="1"/>
            <a:r>
              <a:rPr lang="ro-RO"/>
              <a:t>Informații despre fișier</a:t>
            </a:r>
          </a:p>
          <a:p>
            <a:pPr lvl="1"/>
            <a:r>
              <a:rPr lang="ro-RO"/>
              <a:t>FCB – File Control Block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D69A2-CB64-6C40-8EDB-F2A53EE7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1474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FFBE-8A91-3B47-B314-222A6C60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fișierelor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1F382-781D-7448-AC2F-FA852D90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/>
              <a:t>Contiguă</a:t>
            </a:r>
          </a:p>
          <a:p>
            <a:pPr lvl="1"/>
            <a:r>
              <a:rPr lang="ro-RO" dirty="0"/>
              <a:t>Fișierele sunt stocate una după alta</a:t>
            </a:r>
          </a:p>
          <a:p>
            <a:pPr lvl="2"/>
            <a:r>
              <a:rPr lang="ro-RO" dirty="0">
                <a:solidFill>
                  <a:srgbClr val="FF0000"/>
                </a:solidFill>
              </a:rPr>
              <a:t>Fragmentare</a:t>
            </a:r>
          </a:p>
          <a:p>
            <a:endParaRPr lang="ro-RO" dirty="0"/>
          </a:p>
          <a:p>
            <a:r>
              <a:rPr lang="ro-RO" dirty="0"/>
              <a:t>Liste</a:t>
            </a:r>
          </a:p>
          <a:p>
            <a:pPr lvl="1"/>
            <a:r>
              <a:rPr lang="ro-RO" dirty="0"/>
              <a:t>Fiecare bloc are un pointer către următorul bloc</a:t>
            </a:r>
          </a:p>
          <a:p>
            <a:pPr lvl="2"/>
            <a:r>
              <a:rPr lang="ro-RO" dirty="0">
                <a:solidFill>
                  <a:srgbClr val="FF0000"/>
                </a:solidFill>
              </a:rPr>
              <a:t>Viteză de acces redusă</a:t>
            </a:r>
          </a:p>
          <a:p>
            <a:pPr lvl="2"/>
            <a:r>
              <a:rPr lang="ro-RO" dirty="0">
                <a:solidFill>
                  <a:srgbClr val="92D050"/>
                </a:solidFill>
              </a:rPr>
              <a:t>Evită fragmentarea</a:t>
            </a:r>
            <a:endParaRPr lang="ro-RO" dirty="0">
              <a:solidFill>
                <a:srgbClr val="FF0000"/>
              </a:solidFill>
            </a:endParaRPr>
          </a:p>
          <a:p>
            <a:endParaRPr lang="ro-RO" dirty="0"/>
          </a:p>
          <a:p>
            <a:r>
              <a:rPr lang="ro-RO" dirty="0"/>
              <a:t>Indexată</a:t>
            </a:r>
          </a:p>
          <a:p>
            <a:pPr lvl="1"/>
            <a:r>
              <a:rPr lang="ro-RO" dirty="0"/>
              <a:t>FCB-</a:t>
            </a:r>
            <a:r>
              <a:rPr lang="ro-RO" dirty="0" err="1"/>
              <a:t>ul</a:t>
            </a:r>
            <a:r>
              <a:rPr lang="ro-RO" dirty="0"/>
              <a:t> conține o listă de pointeri către fiecare bloc de date</a:t>
            </a:r>
          </a:p>
          <a:p>
            <a:pPr lvl="2"/>
            <a:r>
              <a:rPr lang="ro-RO" dirty="0">
                <a:solidFill>
                  <a:srgbClr val="92D050"/>
                </a:solidFill>
              </a:rPr>
              <a:t>Evită fragmentarea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1117-121B-5147-ADA8-27AC7F8A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2019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contiguă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F3F47-91D3-BE4F-B7CC-F06F19976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Similară cu alocarea contiguă de memorie</a:t>
            </a:r>
          </a:p>
          <a:p>
            <a:endParaRPr lang="ro-RO" dirty="0"/>
          </a:p>
          <a:p>
            <a:r>
              <a:rPr lang="ro-RO" dirty="0"/>
              <a:t>Fișierele sunt alocate unul după altul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Fragmentare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Probleme la  modificarea unui fișier</a:t>
            </a:r>
          </a:p>
          <a:p>
            <a:endParaRPr lang="ro-RO" dirty="0"/>
          </a:p>
          <a:p>
            <a:r>
              <a:rPr lang="ro-RO" dirty="0" err="1"/>
              <a:t>Metdate</a:t>
            </a:r>
            <a:r>
              <a:rPr lang="ro-RO" dirty="0"/>
              <a:t> (FCB)</a:t>
            </a:r>
          </a:p>
          <a:p>
            <a:pPr lvl="1"/>
            <a:r>
              <a:rPr lang="ro-RO" dirty="0"/>
              <a:t>Pointer spre primul bloc al fișierului</a:t>
            </a:r>
          </a:p>
          <a:p>
            <a:pPr lvl="1"/>
            <a:r>
              <a:rPr lang="ro-RO" dirty="0"/>
              <a:t>Numărul de blocuri alocate fișierului</a:t>
            </a:r>
          </a:p>
          <a:p>
            <a:pPr marL="0" indent="0">
              <a:buNone/>
            </a:pPr>
            <a:endParaRPr lang="ro-RO" dirty="0">
              <a:solidFill>
                <a:srgbClr val="FF0000"/>
              </a:solidFill>
            </a:endParaRPr>
          </a:p>
          <a:p>
            <a:r>
              <a:rPr lang="ro-RO" dirty="0">
                <a:solidFill>
                  <a:srgbClr val="92D050"/>
                </a:solidFill>
              </a:rPr>
              <a:t>Implementare simplă</a:t>
            </a:r>
          </a:p>
          <a:p>
            <a:r>
              <a:rPr lang="ro-RO" dirty="0">
                <a:solidFill>
                  <a:srgbClr val="92D050"/>
                </a:solidFill>
              </a:rPr>
              <a:t>Citire rapidă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1639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contiguă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  <p:pic>
        <p:nvPicPr>
          <p:cNvPr id="10" name="Google Shape;142;p17">
            <a:extLst>
              <a:ext uri="{FF2B5EF4-FFF2-40B4-BE49-F238E27FC236}">
                <a16:creationId xmlns:a16="http://schemas.microsoft.com/office/drawing/2014/main" id="{99CE32D6-BA3D-4B4C-A2C4-5F3CC1A1AAC3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1200" y="1272381"/>
            <a:ext cx="51816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3B203B-55B5-A04B-A76D-97BD6B2A87C7}"/>
              </a:ext>
            </a:extLst>
          </p:cNvPr>
          <p:cNvSpPr txBox="1"/>
          <p:nvPr/>
        </p:nvSpPr>
        <p:spPr>
          <a:xfrm>
            <a:off x="5181600" y="3863181"/>
            <a:ext cx="1100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Metadate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6C1F5-E3AA-2A4F-B208-B45C348E602A}"/>
              </a:ext>
            </a:extLst>
          </p:cNvPr>
          <p:cNvSpPr txBox="1"/>
          <p:nvPr/>
        </p:nvSpPr>
        <p:spPr>
          <a:xfrm>
            <a:off x="4191000" y="5791200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00049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57AC-EDDC-C34D-BE8E-26E49CD4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Utilizare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99CF-1B2B-544B-B132-0E8EEB1B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Sisteme de fișiere ReadOnly</a:t>
            </a:r>
          </a:p>
          <a:p>
            <a:endParaRPr lang="ro-RO"/>
          </a:p>
          <a:p>
            <a:r>
              <a:rPr lang="ro-RO"/>
              <a:t>ISO 9660 (și alte variante)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1B547-41B5-644B-9465-9E968DB7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29168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cu liste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F3F47-91D3-BE4F-B7CC-F06F19976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Similară cu alocarea contiguă</a:t>
            </a:r>
          </a:p>
          <a:p>
            <a:endParaRPr lang="ro-RO" dirty="0"/>
          </a:p>
          <a:p>
            <a:r>
              <a:rPr lang="ro-RO" dirty="0"/>
              <a:t>Fiecare bloc are un pointer către următorul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Probleme la modificarea fișierului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Citire lentă</a:t>
            </a:r>
          </a:p>
          <a:p>
            <a:endParaRPr lang="ro-RO" dirty="0"/>
          </a:p>
          <a:p>
            <a:r>
              <a:rPr lang="ro-RO" dirty="0" err="1"/>
              <a:t>Metadate</a:t>
            </a:r>
            <a:r>
              <a:rPr lang="ro-RO" dirty="0"/>
              <a:t> (FCB)</a:t>
            </a:r>
          </a:p>
          <a:p>
            <a:pPr lvl="1"/>
            <a:r>
              <a:rPr lang="ro-RO" dirty="0"/>
              <a:t>Pointer sper primul bloc al fișierului</a:t>
            </a:r>
          </a:p>
          <a:p>
            <a:pPr lvl="1"/>
            <a:r>
              <a:rPr lang="ro-RO" dirty="0"/>
              <a:t>Pointer spre ultimul bloc al fișierului</a:t>
            </a:r>
          </a:p>
          <a:p>
            <a:pPr marL="0" indent="0">
              <a:buNone/>
            </a:pPr>
            <a:endParaRPr lang="ro-RO" dirty="0">
              <a:solidFill>
                <a:srgbClr val="FF0000"/>
              </a:solidFill>
            </a:endParaRPr>
          </a:p>
          <a:p>
            <a:r>
              <a:rPr lang="ro-RO" dirty="0">
                <a:solidFill>
                  <a:srgbClr val="92D050"/>
                </a:solidFill>
              </a:rPr>
              <a:t>Nu există fragmentare</a:t>
            </a:r>
          </a:p>
          <a:p>
            <a:r>
              <a:rPr lang="ro-RO" dirty="0">
                <a:solidFill>
                  <a:srgbClr val="92D050"/>
                </a:solidFill>
              </a:rPr>
              <a:t>Implementare simplă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20574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58;p19">
            <a:extLst>
              <a:ext uri="{FF2B5EF4-FFF2-40B4-BE49-F238E27FC236}">
                <a16:creationId xmlns:a16="http://schemas.microsoft.com/office/drawing/2014/main" id="{3B766FC6-E344-1A4C-90EB-5B3AB0DF7FD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3600" y="1323945"/>
            <a:ext cx="4876800" cy="50784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</a:t>
            </a:r>
            <a:r>
              <a:rPr lang="ro-RO" dirty="0"/>
              <a:t>cu liste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B203B-55B5-A04B-A76D-97BD6B2A87C7}"/>
              </a:ext>
            </a:extLst>
          </p:cNvPr>
          <p:cNvSpPr txBox="1"/>
          <p:nvPr/>
        </p:nvSpPr>
        <p:spPr>
          <a:xfrm>
            <a:off x="4343400" y="2362200"/>
            <a:ext cx="1088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/>
              <a:t>metadate</a:t>
            </a:r>
            <a:endParaRPr lang="ro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6C1F5-E3AA-2A4F-B208-B45C348E602A}"/>
              </a:ext>
            </a:extLst>
          </p:cNvPr>
          <p:cNvSpPr txBox="1"/>
          <p:nvPr/>
        </p:nvSpPr>
        <p:spPr>
          <a:xfrm>
            <a:off x="4191000" y="5791200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23732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Alocarea cu liste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  <p:pic>
        <p:nvPicPr>
          <p:cNvPr id="10" name="Google Shape;182;p21">
            <a:extLst>
              <a:ext uri="{FF2B5EF4-FFF2-40B4-BE49-F238E27FC236}">
                <a16:creationId xmlns:a16="http://schemas.microsoft.com/office/drawing/2014/main" id="{C3DAD655-106E-D347-917D-3ED9624C86DC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7747" y="1477962"/>
            <a:ext cx="5508506" cy="4770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4779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57AC-EDDC-C34D-BE8E-26E49CD4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Utilizare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99CF-1B2B-544B-B132-0E8EEB1B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Sisteme de fișiere folosite de dispozitive simple</a:t>
            </a:r>
          </a:p>
          <a:p>
            <a:pPr lvl="1"/>
            <a:r>
              <a:rPr lang="ro-RO"/>
              <a:t>SD Card Arduino</a:t>
            </a:r>
          </a:p>
          <a:p>
            <a:endParaRPr lang="ro-RO"/>
          </a:p>
          <a:p>
            <a:r>
              <a:rPr lang="ro-RO"/>
              <a:t>FAT</a:t>
            </a:r>
          </a:p>
          <a:p>
            <a:r>
              <a:rPr lang="ro-RO"/>
              <a:t>FAT32</a:t>
            </a:r>
          </a:p>
          <a:p>
            <a:r>
              <a:rPr lang="ro-RO"/>
              <a:t>vFAT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1B547-41B5-644B-9465-9E968DB7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2824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 indexată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F3F47-91D3-BE4F-B7CC-F06F19976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/>
              <a:t>Similară cu alocarea paginilor de memorie virtuală</a:t>
            </a:r>
          </a:p>
          <a:p>
            <a:endParaRPr lang="ro-RO"/>
          </a:p>
          <a:p>
            <a:r>
              <a:rPr lang="ro-RO"/>
              <a:t>FCB-ul conține o listă de pointeri către blocurile de date ale fișierului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Numărul de pointeri către blocuri de date este limita de dimensiune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Indirectare (similară cu tabelul de memoria virtuală) </a:t>
            </a:r>
          </a:p>
          <a:p>
            <a:endParaRPr lang="ro-RO"/>
          </a:p>
          <a:p>
            <a:r>
              <a:rPr lang="ro-RO"/>
              <a:t>Metdate (FCB)</a:t>
            </a:r>
          </a:p>
          <a:p>
            <a:pPr lvl="1"/>
            <a:r>
              <a:rPr lang="ro-RO"/>
              <a:t>Dimensiunea fișierlui</a:t>
            </a:r>
          </a:p>
          <a:p>
            <a:pPr lvl="1"/>
            <a:r>
              <a:rPr lang="ro-RO"/>
              <a:t>Lista de pointeri spre blocurile de date ale fișierlui</a:t>
            </a:r>
          </a:p>
          <a:p>
            <a:pPr marL="0" indent="0">
              <a:buNone/>
            </a:pPr>
            <a:endParaRPr lang="ro-RO">
              <a:solidFill>
                <a:srgbClr val="FF0000"/>
              </a:solidFill>
            </a:endParaRPr>
          </a:p>
          <a:p>
            <a:r>
              <a:rPr lang="ro-RO">
                <a:solidFill>
                  <a:srgbClr val="92D050"/>
                </a:solidFill>
              </a:rPr>
              <a:t>Nu are fragmentare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2529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98;p23">
            <a:extLst>
              <a:ext uri="{FF2B5EF4-FFF2-40B4-BE49-F238E27FC236}">
                <a16:creationId xmlns:a16="http://schemas.microsoft.com/office/drawing/2014/main" id="{2F8BAE0F-5F85-6E4B-97B6-262CC1CB5AC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2600" y="1401800"/>
            <a:ext cx="5638800" cy="49227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2DDEC1-29FA-C240-812D-B74C7BC1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Alocare indexată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162-E61E-EB40-A3C1-A46E19D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B203B-55B5-A04B-A76D-97BD6B2A87C7}"/>
              </a:ext>
            </a:extLst>
          </p:cNvPr>
          <p:cNvSpPr txBox="1"/>
          <p:nvPr/>
        </p:nvSpPr>
        <p:spPr>
          <a:xfrm>
            <a:off x="4876800" y="2514600"/>
            <a:ext cx="1088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/>
              <a:t>metadate</a:t>
            </a:r>
            <a:endParaRPr lang="ro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6C1F5-E3AA-2A4F-B208-B45C348E602A}"/>
              </a:ext>
            </a:extLst>
          </p:cNvPr>
          <p:cNvSpPr txBox="1"/>
          <p:nvPr/>
        </p:nvSpPr>
        <p:spPr>
          <a:xfrm>
            <a:off x="3962400" y="5748841"/>
            <a:ext cx="60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37802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57AC-EDDC-C34D-BE8E-26E49CD4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Utilizare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99CF-1B2B-544B-B132-0E8EEB1B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Ext2,3,4</a:t>
            </a:r>
          </a:p>
          <a:p>
            <a:r>
              <a:rPr lang="ro-RO"/>
              <a:t>NTFS</a:t>
            </a:r>
          </a:p>
          <a:p>
            <a:r>
              <a:rPr lang="ro-RO"/>
              <a:t>RaiserFS</a:t>
            </a:r>
          </a:p>
          <a:p>
            <a:r>
              <a:rPr lang="ro-RO"/>
              <a:t>HPFS</a:t>
            </a:r>
          </a:p>
          <a:p>
            <a:r>
              <a:rPr lang="ro-RO"/>
              <a:t>AppleFS</a:t>
            </a:r>
          </a:p>
          <a:p>
            <a:r>
              <a:rPr lang="ro-RO"/>
              <a:t>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1B547-41B5-644B-9465-9E968DB7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4436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551D-AE74-1145-8A04-493338E7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de FCB (i-node)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2F99C-CA03-2742-82C4-9452851E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  <p:pic>
        <p:nvPicPr>
          <p:cNvPr id="5" name="Google Shape;214;p25">
            <a:extLst>
              <a:ext uri="{FF2B5EF4-FFF2-40B4-BE49-F238E27FC236}">
                <a16:creationId xmlns:a16="http://schemas.microsoft.com/office/drawing/2014/main" id="{A74EB779-344B-0941-AF39-64E79A57F90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2284" y="1477962"/>
            <a:ext cx="5879432" cy="4770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5915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5719-F8AF-7040-99EF-B13037A6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Director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D5EE-D5C4-2548-87A6-3EA314A18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ro-RO" dirty="0"/>
              <a:t>Un fișier special</a:t>
            </a:r>
          </a:p>
          <a:p>
            <a:r>
              <a:rPr lang="ro-RO" dirty="0"/>
              <a:t>Date</a:t>
            </a:r>
          </a:p>
          <a:p>
            <a:pPr lvl="1"/>
            <a:r>
              <a:rPr lang="ro-RO" dirty="0"/>
              <a:t>listă de </a:t>
            </a:r>
            <a:r>
              <a:rPr lang="ro-RO" i="1" dirty="0" err="1"/>
              <a:t>dentry</a:t>
            </a:r>
            <a:r>
              <a:rPr lang="ro-RO" dirty="0"/>
              <a:t> (</a:t>
            </a:r>
            <a:r>
              <a:rPr lang="ro-RO" dirty="0" err="1"/>
              <a:t>directory</a:t>
            </a:r>
            <a:r>
              <a:rPr lang="ro-RO" dirty="0"/>
              <a:t> </a:t>
            </a:r>
            <a:r>
              <a:rPr lang="ro-RO" dirty="0" err="1"/>
              <a:t>entry</a:t>
            </a:r>
            <a:r>
              <a:rPr lang="ro-RO" dirty="0"/>
              <a:t>)</a:t>
            </a:r>
          </a:p>
          <a:p>
            <a:r>
              <a:rPr lang="ro-RO" dirty="0"/>
              <a:t>Dimensiunea depinde de numărul de intrări din listă</a:t>
            </a:r>
          </a:p>
          <a:p>
            <a:r>
              <a:rPr lang="ro-RO" dirty="0"/>
              <a:t>. și .. sunt speciale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D69A2-CB64-6C40-8EDB-F2A53EE7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  <p:pic>
        <p:nvPicPr>
          <p:cNvPr id="5" name="Google Shape;231;p27">
            <a:extLst>
              <a:ext uri="{FF2B5EF4-FFF2-40B4-BE49-F238E27FC236}">
                <a16:creationId xmlns:a16="http://schemas.microsoft.com/office/drawing/2014/main" id="{713B2F9B-9BFA-5740-BA6F-BFA32A0C1D7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5800" y="4781967"/>
            <a:ext cx="7772400" cy="14965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1512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A9E8-4A42-344C-A266-99159CC5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6149-EF80-9042-BE93-3996B13A3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Informații</a:t>
            </a:r>
          </a:p>
          <a:p>
            <a:pPr lvl="1"/>
            <a:r>
              <a:rPr lang="ro-RO" dirty="0"/>
              <a:t>numele </a:t>
            </a:r>
            <a:r>
              <a:rPr lang="ro-RO" dirty="0" err="1"/>
              <a:t>fișierlui</a:t>
            </a:r>
            <a:endParaRPr lang="ro-RO" dirty="0"/>
          </a:p>
          <a:p>
            <a:pPr lvl="1"/>
            <a:r>
              <a:rPr lang="ro-RO" dirty="0" err="1"/>
              <a:t>id-ul</a:t>
            </a:r>
            <a:r>
              <a:rPr lang="ro-RO" dirty="0"/>
              <a:t> fișierului (</a:t>
            </a:r>
            <a:r>
              <a:rPr lang="ro-RO" i="1" dirty="0" err="1"/>
              <a:t>entry</a:t>
            </a:r>
            <a:r>
              <a:rPr lang="ro-RO" dirty="0"/>
              <a:t> pentru FAT sau </a:t>
            </a:r>
            <a:r>
              <a:rPr lang="ro-RO" i="1" dirty="0" err="1"/>
              <a:t>inode</a:t>
            </a:r>
            <a:r>
              <a:rPr lang="ro-RO" dirty="0"/>
              <a:t>)</a:t>
            </a:r>
          </a:p>
          <a:p>
            <a:pPr lvl="1"/>
            <a:r>
              <a:rPr lang="ro-RO" dirty="0"/>
              <a:t>…</a:t>
            </a:r>
          </a:p>
          <a:p>
            <a:endParaRPr lang="ro-RO" dirty="0"/>
          </a:p>
          <a:p>
            <a:r>
              <a:rPr lang="ro-RO" dirty="0"/>
              <a:t>Windows</a:t>
            </a:r>
          </a:p>
          <a:p>
            <a:pPr lvl="1"/>
            <a:r>
              <a:rPr lang="ro-RO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WIN32_FIND_DATA</a:t>
            </a:r>
          </a:p>
          <a:p>
            <a:pPr lvl="1"/>
            <a:endParaRPr lang="ro-RO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ro-RO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POSIX</a:t>
            </a:r>
          </a:p>
          <a:p>
            <a:pPr lvl="1"/>
            <a:r>
              <a:rPr lang="ro-RO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struct</a:t>
            </a:r>
            <a:r>
              <a:rPr lang="ro-RO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ro-RO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dirent</a:t>
            </a:r>
            <a:endParaRPr lang="ro-RO" dirty="0"/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6FD49-6770-D742-9ECC-0449137F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8476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A366-5B2F-0145-B875-347589A2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ext2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F95E5-6002-D847-8CD1-F0C44F72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  <p:pic>
        <p:nvPicPr>
          <p:cNvPr id="5" name="Google Shape;239;p28">
            <a:extLst>
              <a:ext uri="{FF2B5EF4-FFF2-40B4-BE49-F238E27FC236}">
                <a16:creationId xmlns:a16="http://schemas.microsoft.com/office/drawing/2014/main" id="{27BB32C7-EDA8-2C4C-B729-5788B6C5240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95201" y="1554162"/>
            <a:ext cx="6953598" cy="46180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749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762A-7906-ED4B-879A-2D7EBD98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Link-uri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7F1E-0AAC-5543-A4DF-453AF0F19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Hard </a:t>
            </a:r>
            <a:r>
              <a:rPr lang="ro-RO" dirty="0" err="1"/>
              <a:t>Links</a:t>
            </a:r>
            <a:endParaRPr lang="ro-RO" dirty="0"/>
          </a:p>
          <a:p>
            <a:pPr lvl="1"/>
            <a:r>
              <a:rPr lang="ro-RO" dirty="0"/>
              <a:t>două structuri </a:t>
            </a:r>
            <a:r>
              <a:rPr lang="ro-RO" i="1" dirty="0" err="1"/>
              <a:t>dentry</a:t>
            </a:r>
            <a:r>
              <a:rPr lang="ro-RO" dirty="0"/>
              <a:t> spre </a:t>
            </a:r>
            <a:r>
              <a:rPr lang="ro-RO" dirty="0" err="1"/>
              <a:t>aceelași</a:t>
            </a:r>
            <a:r>
              <a:rPr lang="ro-RO" dirty="0"/>
              <a:t> </a:t>
            </a:r>
            <a:r>
              <a:rPr lang="ro-RO" i="1" dirty="0"/>
              <a:t>i-</a:t>
            </a:r>
            <a:r>
              <a:rPr lang="ro-RO" i="1" dirty="0" err="1"/>
              <a:t>node</a:t>
            </a:r>
            <a:endParaRPr lang="ro-RO" i="1" dirty="0"/>
          </a:p>
          <a:p>
            <a:pPr lvl="1"/>
            <a:r>
              <a:rPr lang="ro-RO" dirty="0">
                <a:solidFill>
                  <a:srgbClr val="FF0000"/>
                </a:solidFill>
              </a:rPr>
              <a:t>Nu se poate folosi între partiții diferite</a:t>
            </a:r>
          </a:p>
          <a:p>
            <a:r>
              <a:rPr lang="ro-RO" dirty="0" err="1"/>
              <a:t>Sym</a:t>
            </a:r>
            <a:r>
              <a:rPr lang="ro-RO" dirty="0"/>
              <a:t> </a:t>
            </a:r>
            <a:r>
              <a:rPr lang="ro-RO" dirty="0" err="1"/>
              <a:t>Links</a:t>
            </a:r>
            <a:r>
              <a:rPr lang="ro-RO" dirty="0"/>
              <a:t> (Soft </a:t>
            </a:r>
            <a:r>
              <a:rPr lang="ro-RO" dirty="0" err="1"/>
              <a:t>Links</a:t>
            </a:r>
            <a:r>
              <a:rPr lang="ro-RO" dirty="0"/>
              <a:t>)</a:t>
            </a:r>
          </a:p>
          <a:p>
            <a:pPr lvl="1"/>
            <a:r>
              <a:rPr lang="ro-RO" i="1" dirty="0"/>
              <a:t>i-</a:t>
            </a:r>
            <a:r>
              <a:rPr lang="ro-RO" i="1" dirty="0" err="1"/>
              <a:t>node</a:t>
            </a:r>
            <a:r>
              <a:rPr lang="ro-RO" dirty="0"/>
              <a:t> special</a:t>
            </a:r>
          </a:p>
          <a:p>
            <a:pPr lvl="1"/>
            <a:r>
              <a:rPr lang="ro-RO" dirty="0"/>
              <a:t>datele fișierului reprezintă numele (cu cale) fișierului original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68A4B-E33B-4A40-9B7E-24ED89F9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3371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90EA-33F1-3944-B45F-8C31548B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link-uri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76B2-4BCA-4949-8042-75CF1564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  <p:pic>
        <p:nvPicPr>
          <p:cNvPr id="5" name="Google Shape;255;p30">
            <a:extLst>
              <a:ext uri="{FF2B5EF4-FFF2-40B4-BE49-F238E27FC236}">
                <a16:creationId xmlns:a16="http://schemas.microsoft.com/office/drawing/2014/main" id="{CA87AD53-D874-B944-898B-F1D31E08A4B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08892" y="1600200"/>
            <a:ext cx="5526215" cy="4525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3814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EAFD-55C2-1B41-B1F4-4E35905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Spațiu liber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A37D4-BD85-3E48-AEB3-4133A1D9E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Vector de biți</a:t>
            </a:r>
          </a:p>
          <a:p>
            <a:pPr lvl="1"/>
            <a:r>
              <a:rPr lang="ro-RO" dirty="0"/>
              <a:t>1 liber</a:t>
            </a:r>
          </a:p>
          <a:p>
            <a:pPr lvl="1"/>
            <a:r>
              <a:rPr lang="ro-RO" dirty="0"/>
              <a:t>0 ocupat</a:t>
            </a:r>
          </a:p>
          <a:p>
            <a:r>
              <a:rPr lang="ro-RO" dirty="0"/>
              <a:t>Listă de blocuri</a:t>
            </a:r>
          </a:p>
          <a:p>
            <a:pPr lvl="1"/>
            <a:r>
              <a:rPr lang="ro-RO" dirty="0"/>
              <a:t>Un bloc liber are un pointer către următorul bloc liber </a:t>
            </a:r>
          </a:p>
          <a:p>
            <a:pPr lvl="1"/>
            <a:r>
              <a:rPr lang="ro-RO" dirty="0"/>
              <a:t>Primul bloc liber este stocat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6EDE2-931E-E14C-A8D2-8197FFB1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5164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4A9C-9642-2746-BF1A-AB626CC3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BEDA9-B232-ED40-8FD1-942FB82CD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disc de 512 GB</a:t>
            </a:r>
          </a:p>
          <a:p>
            <a:r>
              <a:rPr lang="ro-RO" dirty="0"/>
              <a:t>bloc 512 B</a:t>
            </a:r>
          </a:p>
          <a:p>
            <a:r>
              <a:rPr lang="ro-RO" dirty="0"/>
              <a:t>Adresa unui bloc are 32 biți </a:t>
            </a:r>
          </a:p>
          <a:p>
            <a:r>
              <a:rPr lang="ro-RO" dirty="0"/>
              <a:t>Care este dimensiunea:</a:t>
            </a:r>
          </a:p>
          <a:p>
            <a:pPr lvl="1"/>
            <a:r>
              <a:rPr lang="ro-RO" dirty="0"/>
              <a:t>Listei de blocuri</a:t>
            </a:r>
          </a:p>
          <a:p>
            <a:pPr lvl="1"/>
            <a:r>
              <a:rPr lang="ro-RO" dirty="0"/>
              <a:t>Vectorului de biți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310B-8780-2E41-8E01-4BC2C8CF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23490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7477-936B-FE46-91A6-AF5991F2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Buffer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3D75-3D85-F449-AA31-A1E37AD5C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Discul este mai lent decât memoria RAM</a:t>
            </a:r>
          </a:p>
          <a:p>
            <a:endParaRPr lang="ro-RO" dirty="0"/>
          </a:p>
          <a:p>
            <a:r>
              <a:rPr lang="ro-RO" dirty="0"/>
              <a:t>SO folosește o memorie cache pentru a eficientiza</a:t>
            </a:r>
          </a:p>
          <a:p>
            <a:endParaRPr lang="ro-RO" dirty="0"/>
          </a:p>
          <a:p>
            <a:r>
              <a:rPr lang="ro-RO" dirty="0"/>
              <a:t>Buffer Cache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33984-1E33-6C41-AE90-351C3D95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573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EFD3-9291-4947-BF4E-31F4C3C6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Buffer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E7BF6-4E66-AF4A-820B-7D950AE5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42</a:t>
            </a:fld>
            <a:endParaRPr lang="ro-RO"/>
          </a:p>
        </p:txBody>
      </p:sp>
      <p:pic>
        <p:nvPicPr>
          <p:cNvPr id="5" name="Google Shape;303;p36">
            <a:extLst>
              <a:ext uri="{FF2B5EF4-FFF2-40B4-BE49-F238E27FC236}">
                <a16:creationId xmlns:a16="http://schemas.microsoft.com/office/drawing/2014/main" id="{8BC1DF31-3388-F341-9043-7197C3FFBE03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3600" y="1501247"/>
            <a:ext cx="4876800" cy="4723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5793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DEA3-E9BB-A64A-997D-FF77293A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Unified Buffer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91FF6-E56E-2E49-B48E-2E3448F3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43</a:t>
            </a:fld>
            <a:endParaRPr lang="ro-RO"/>
          </a:p>
        </p:txBody>
      </p:sp>
      <p:pic>
        <p:nvPicPr>
          <p:cNvPr id="5" name="Google Shape;311;p37">
            <a:extLst>
              <a:ext uri="{FF2B5EF4-FFF2-40B4-BE49-F238E27FC236}">
                <a16:creationId xmlns:a16="http://schemas.microsoft.com/office/drawing/2014/main" id="{1426E690-A38E-DA49-8200-B2CCA535792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83722" y="1706562"/>
            <a:ext cx="6176556" cy="43132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869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9D51-1BEC-0645-90EA-FA5D7101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Alte memorii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68EF-06D7-E04B-B155-BC8216E9E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i="1" dirty="0"/>
              <a:t>i-</a:t>
            </a:r>
            <a:r>
              <a:rPr lang="ro-RO" i="1" dirty="0" err="1"/>
              <a:t>node</a:t>
            </a:r>
            <a:r>
              <a:rPr lang="ro-RO" dirty="0"/>
              <a:t> cache</a:t>
            </a:r>
          </a:p>
          <a:p>
            <a:pPr lvl="1"/>
            <a:r>
              <a:rPr lang="ro-RO" dirty="0"/>
              <a:t>Pune în RAM </a:t>
            </a:r>
            <a:r>
              <a:rPr lang="ro-RO" dirty="0" err="1"/>
              <a:t>inode</a:t>
            </a:r>
            <a:r>
              <a:rPr lang="ro-RO" dirty="0"/>
              <a:t>-uri pentru a le putea accesa mai rapid</a:t>
            </a:r>
          </a:p>
          <a:p>
            <a:endParaRPr lang="ro-RO" dirty="0"/>
          </a:p>
          <a:p>
            <a:r>
              <a:rPr lang="ro-RO" i="1" dirty="0" err="1"/>
              <a:t>dcache</a:t>
            </a:r>
            <a:endParaRPr lang="ro-RO" i="1" dirty="0"/>
          </a:p>
          <a:p>
            <a:pPr lvl="1"/>
            <a:r>
              <a:rPr lang="ro-RO" dirty="0"/>
              <a:t>Rezolvarea fișierelor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85DB-C52A-D447-9714-A6C97802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75129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1A68-62DC-DF4A-BBED-137F173E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>
            <a:normAutofit fontScale="90000"/>
          </a:bodyPr>
          <a:lstStyle/>
          <a:p>
            <a:r>
              <a:rPr lang="ro-RO"/>
              <a:t>Consistența sistemului de fișiere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7958-C669-994B-93EA-CB48D2112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Blocuri de date</a:t>
            </a:r>
          </a:p>
          <a:p>
            <a:pPr lvl="1"/>
            <a:r>
              <a:rPr lang="ro-RO"/>
              <a:t>erorile nu sunt detectabile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E numai problema fișierlului</a:t>
            </a:r>
          </a:p>
          <a:p>
            <a:endParaRPr lang="ro-RO"/>
          </a:p>
          <a:p>
            <a:r>
              <a:rPr lang="ro-RO"/>
              <a:t>Blocuri de metadate</a:t>
            </a:r>
          </a:p>
          <a:p>
            <a:pPr lvl="1"/>
            <a:r>
              <a:rPr lang="ro-RO"/>
              <a:t>erorile sunt detectabile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Este problema sistemului de fișiere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28CAB-5C97-524A-B98A-40634F01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1417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5E90-5F10-6D4C-B172-36631F65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fsck/scandisk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C543-51AA-B242-9AC0-757665120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Verifică toate blocurile</a:t>
            </a:r>
          </a:p>
          <a:p>
            <a:pPr lvl="1"/>
            <a:r>
              <a:rPr lang="ro-RO" dirty="0"/>
              <a:t>Ia toate </a:t>
            </a:r>
            <a:r>
              <a:rPr lang="ro-RO" i="1" dirty="0"/>
              <a:t>i-</a:t>
            </a:r>
            <a:r>
              <a:rPr lang="ro-RO" i="1" dirty="0" err="1"/>
              <a:t>node</a:t>
            </a:r>
            <a:r>
              <a:rPr lang="ro-RO" dirty="0"/>
              <a:t>-urile și marchează blocurile ocupate</a:t>
            </a:r>
          </a:p>
          <a:p>
            <a:pPr lvl="1"/>
            <a:endParaRPr lang="ro-RO" dirty="0"/>
          </a:p>
          <a:p>
            <a:r>
              <a:rPr lang="ro-RO" dirty="0"/>
              <a:t>Compară listele de </a:t>
            </a:r>
            <a:r>
              <a:rPr lang="ro-RO" i="1" dirty="0" err="1"/>
              <a:t>inode</a:t>
            </a:r>
            <a:r>
              <a:rPr lang="ro-RO" dirty="0"/>
              <a:t>-uri și blocuri ocupate cu listele inițiale de </a:t>
            </a:r>
            <a:r>
              <a:rPr lang="ro-RO" i="1" dirty="0" err="1"/>
              <a:t>inode</a:t>
            </a:r>
            <a:r>
              <a:rPr lang="ro-RO" dirty="0"/>
              <a:t>-uri și blocuri libere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17BB-C082-1D48-8D74-6B1A8F9BA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067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5E90-5F10-6D4C-B172-36631F65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fsck/scandisk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C543-51AA-B242-9AC0-757665120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Pentru toate fișierele</a:t>
            </a:r>
          </a:p>
          <a:p>
            <a:pPr lvl="1"/>
            <a:r>
              <a:rPr lang="ro-RO"/>
              <a:t>Scrie un tabel de referințe</a:t>
            </a:r>
          </a:p>
          <a:p>
            <a:pPr lvl="1"/>
            <a:r>
              <a:rPr lang="ro-RO"/>
              <a:t>Ia toate structurile </a:t>
            </a:r>
            <a:r>
              <a:rPr lang="ro-RO" i="1"/>
              <a:t>dentry</a:t>
            </a:r>
            <a:r>
              <a:rPr lang="ro-RO"/>
              <a:t> și incrementează referințele fiecărui </a:t>
            </a:r>
            <a:r>
              <a:rPr lang="ro-RO" i="1"/>
              <a:t>inode</a:t>
            </a:r>
            <a:r>
              <a:rPr lang="ro-RO"/>
              <a:t> in tabel</a:t>
            </a:r>
          </a:p>
          <a:p>
            <a:pPr lvl="1"/>
            <a:r>
              <a:rPr lang="ro-RO"/>
              <a:t>Compară referința cu referința stocată în </a:t>
            </a:r>
            <a:r>
              <a:rPr lang="ro-RO" i="1"/>
              <a:t>inode</a:t>
            </a:r>
            <a:r>
              <a:rPr lang="ro-RO"/>
              <a:t>-ul inițial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17BB-C082-1D48-8D74-6B1A8F9BA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575380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5E90-5F10-6D4C-B172-36631F65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fsck/scandisk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17BB-C082-1D48-8D74-6B1A8F9BA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  <p:pic>
        <p:nvPicPr>
          <p:cNvPr id="5" name="Google Shape;361;p43">
            <a:extLst>
              <a:ext uri="{FF2B5EF4-FFF2-40B4-BE49-F238E27FC236}">
                <a16:creationId xmlns:a16="http://schemas.microsoft.com/office/drawing/2014/main" id="{1C4C9568-C60A-BC42-BB6D-305428DA507F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107" y="1637505"/>
            <a:ext cx="7665786" cy="27892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62;p43">
            <a:extLst>
              <a:ext uri="{FF2B5EF4-FFF2-40B4-BE49-F238E27FC236}">
                <a16:creationId xmlns:a16="http://schemas.microsoft.com/office/drawing/2014/main" id="{064E3C81-4CF0-9341-BDDD-F5BB8C973C57}"/>
              </a:ext>
            </a:extLst>
          </p:cNvPr>
          <p:cNvSpPr txBox="1"/>
          <p:nvPr/>
        </p:nvSpPr>
        <p:spPr>
          <a:xfrm>
            <a:off x="1143000" y="4644368"/>
            <a:ext cx="2889000" cy="115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118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consistent</a:t>
            </a:r>
          </a:p>
          <a:p>
            <a:pPr marL="0" marR="0" lvl="0" indent="0" algn="l" rtl="0">
              <a:lnSpc>
                <a:spcPct val="1118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181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8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bloc de date pierdut</a:t>
            </a:r>
          </a:p>
        </p:txBody>
      </p:sp>
      <p:sp>
        <p:nvSpPr>
          <p:cNvPr id="7" name="Google Shape;363;p43">
            <a:extLst>
              <a:ext uri="{FF2B5EF4-FFF2-40B4-BE49-F238E27FC236}">
                <a16:creationId xmlns:a16="http://schemas.microsoft.com/office/drawing/2014/main" id="{11532E6A-9B9F-4949-BC72-C4086839BA9D}"/>
              </a:ext>
            </a:extLst>
          </p:cNvPr>
          <p:cNvSpPr txBox="1"/>
          <p:nvPr/>
        </p:nvSpPr>
        <p:spPr>
          <a:xfrm>
            <a:off x="5059825" y="4644367"/>
            <a:ext cx="3119375" cy="154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118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bloc de date duplicat în lista de blocuri libere</a:t>
            </a:r>
          </a:p>
          <a:p>
            <a:pPr marL="0" marR="0" lvl="0" indent="0" algn="l" rtl="0">
              <a:lnSpc>
                <a:spcPct val="1118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181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8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1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bloc de date duplicat folosit</a:t>
            </a:r>
          </a:p>
        </p:txBody>
      </p:sp>
    </p:spTree>
    <p:extLst>
      <p:ext uri="{BB962C8B-B14F-4D97-AF65-F5344CB8AC3E}">
        <p14:creationId xmlns:p14="http://schemas.microsoft.com/office/powerpoint/2010/main" val="3884384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3771-DB43-5746-BBDE-8602C48A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Sisteme de fișiere jurnalizate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FD393-2A5C-E642-AAF6-2697DC56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Operațiile unei tranzacții ce urmează a fi efectuate sunt scrise într-un jurnal</a:t>
            </a:r>
          </a:p>
          <a:p>
            <a:endParaRPr lang="ro-RO"/>
          </a:p>
          <a:p>
            <a:r>
              <a:rPr lang="ro-RO"/>
              <a:t>Operațiile executate sunt sunt marcate în jurnal</a:t>
            </a:r>
          </a:p>
          <a:p>
            <a:endParaRPr lang="ro-RO"/>
          </a:p>
          <a:p>
            <a:r>
              <a:rPr lang="ro-RO"/>
              <a:t>O tranzacție este completă când toate operațiile sunt marcate în jurnal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C0D85-63B2-2746-BDD2-5E6BEC62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389466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3771-DB43-5746-BBDE-8602C48A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Sisteme de fișiere jurnalizate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FD393-2A5C-E642-AAF6-2697DC56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La fiecare boot este verificat jurnalul iar tranzacțiile sunt fie executate mai departe fie sunt date înapoi</a:t>
            </a:r>
          </a:p>
          <a:p>
            <a:endParaRPr lang="ro-RO"/>
          </a:p>
          <a:p>
            <a:r>
              <a:rPr lang="ro-RO">
                <a:solidFill>
                  <a:srgbClr val="92D050"/>
                </a:solidFill>
              </a:rPr>
              <a:t>Avantaje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Reducerea timpului necesare la verificarea sistemului de fișiere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Reducerea posibilității de a pierde date la reboot</a:t>
            </a:r>
          </a:p>
          <a:p>
            <a:pPr marL="457200" lvl="1" indent="0">
              <a:buNone/>
            </a:pPr>
            <a:endParaRPr lang="ro-RO">
              <a:solidFill>
                <a:srgbClr val="92D050"/>
              </a:solidFill>
            </a:endParaRPr>
          </a:p>
          <a:p>
            <a:r>
              <a:rPr lang="ro-RO">
                <a:solidFill>
                  <a:srgbClr val="FF0000"/>
                </a:solidFill>
              </a:rPr>
              <a:t>Dezavantaje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Sistemul de fișiere este mai lent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C0D85-63B2-2746-BDD2-5E6BEC62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6370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CE39-1D9B-3140-9560-2FF05395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Virtual File System – VFS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7CF7-7535-FD4A-8EB2-BBD83CDA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i="1" dirty="0" err="1"/>
              <a:t>vnode</a:t>
            </a:r>
            <a:r>
              <a:rPr lang="ro-RO" dirty="0"/>
              <a:t> – identifică în mod unic un fișier</a:t>
            </a:r>
          </a:p>
          <a:p>
            <a:pPr lvl="1"/>
            <a:r>
              <a:rPr lang="ro-RO" dirty="0"/>
              <a:t>are și informații despre sistemul de fișiere pe care se găsește fișierul</a:t>
            </a:r>
          </a:p>
          <a:p>
            <a:pPr lvl="1"/>
            <a:endParaRPr lang="ro-RO" dirty="0"/>
          </a:p>
          <a:p>
            <a:r>
              <a:rPr lang="ro-RO" dirty="0"/>
              <a:t>Windows</a:t>
            </a:r>
          </a:p>
          <a:p>
            <a:pPr lvl="1"/>
            <a:r>
              <a:rPr lang="ro-RO" dirty="0"/>
              <a:t>IFS</a:t>
            </a:r>
          </a:p>
          <a:p>
            <a:pPr lvl="1"/>
            <a:endParaRPr lang="ro-RO" dirty="0"/>
          </a:p>
          <a:p>
            <a:r>
              <a:rPr lang="ro-RO" dirty="0"/>
              <a:t>Linux</a:t>
            </a:r>
          </a:p>
          <a:p>
            <a:pPr lvl="1"/>
            <a:r>
              <a:rPr lang="ro-RO" dirty="0"/>
              <a:t>VFS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EC2B2-268B-4941-94A8-FC0EA59C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03021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CE39-1D9B-3140-9560-2FF05395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Virtual File System – VFS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EC2B2-268B-4941-94A8-FC0EA59C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  <p:pic>
        <p:nvPicPr>
          <p:cNvPr id="5" name="Google Shape;387;p46">
            <a:extLst>
              <a:ext uri="{FF2B5EF4-FFF2-40B4-BE49-F238E27FC236}">
                <a16:creationId xmlns:a16="http://schemas.microsoft.com/office/drawing/2014/main" id="{85766A3B-E300-5546-A670-571C0B0D31F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8395" y="1706562"/>
            <a:ext cx="5607210" cy="43132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10495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ro-RO"/>
              <a:t>metadate</a:t>
            </a:r>
          </a:p>
          <a:p>
            <a:r>
              <a:rPr lang="ro-RO"/>
              <a:t>date</a:t>
            </a:r>
          </a:p>
          <a:p>
            <a:r>
              <a:rPr lang="ro-RO"/>
              <a:t>pagini</a:t>
            </a:r>
          </a:p>
          <a:p>
            <a:r>
              <a:rPr lang="ro-RO"/>
              <a:t>bloc</a:t>
            </a:r>
          </a:p>
          <a:p>
            <a:r>
              <a:rPr lang="ro-RO"/>
              <a:t>partiție</a:t>
            </a:r>
          </a:p>
          <a:p>
            <a:r>
              <a:rPr lang="ro-RO"/>
              <a:t>FCB</a:t>
            </a:r>
          </a:p>
          <a:p>
            <a:r>
              <a:rPr lang="ro-RO"/>
              <a:t>alocare contiguă</a:t>
            </a:r>
          </a:p>
          <a:p>
            <a:r>
              <a:rPr lang="ro-RO"/>
              <a:t>alocare cu liste</a:t>
            </a:r>
          </a:p>
          <a:p>
            <a:r>
              <a:rPr lang="ro-RO"/>
              <a:t>alocare indexată</a:t>
            </a:r>
          </a:p>
          <a:p>
            <a:endParaRPr lang="ro-R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00201"/>
            <a:ext cx="4038600" cy="4525963"/>
          </a:xfrm>
        </p:spPr>
        <p:txBody>
          <a:bodyPr>
            <a:normAutofit lnSpcReduction="10000"/>
          </a:bodyPr>
          <a:lstStyle/>
          <a:p>
            <a:r>
              <a:rPr lang="ro-RO" dirty="0"/>
              <a:t>FAT</a:t>
            </a:r>
          </a:p>
          <a:p>
            <a:r>
              <a:rPr lang="ro-RO" i="1" dirty="0" err="1"/>
              <a:t>inode</a:t>
            </a:r>
            <a:endParaRPr lang="ro-RO" i="1" dirty="0"/>
          </a:p>
          <a:p>
            <a:r>
              <a:rPr lang="ro-RO" i="1" dirty="0" err="1"/>
              <a:t>dirent</a:t>
            </a:r>
            <a:endParaRPr lang="ro-RO" i="1" dirty="0"/>
          </a:p>
          <a:p>
            <a:r>
              <a:rPr lang="ro-RO" dirty="0"/>
              <a:t>buffer cache</a:t>
            </a:r>
          </a:p>
          <a:p>
            <a:r>
              <a:rPr lang="ro-RO" dirty="0" err="1"/>
              <a:t>fsck</a:t>
            </a:r>
            <a:endParaRPr lang="ro-RO" dirty="0"/>
          </a:p>
          <a:p>
            <a:r>
              <a:rPr lang="ro-RO" dirty="0" err="1"/>
              <a:t>fdisk</a:t>
            </a:r>
            <a:endParaRPr lang="ro-RO" dirty="0"/>
          </a:p>
          <a:p>
            <a:r>
              <a:rPr lang="ro-RO" dirty="0"/>
              <a:t>jurnal</a:t>
            </a:r>
          </a:p>
          <a:p>
            <a:r>
              <a:rPr lang="ro-RO" dirty="0"/>
              <a:t>VFS</a:t>
            </a:r>
          </a:p>
          <a:p>
            <a:r>
              <a:rPr lang="ro-RO" i="1" dirty="0" err="1"/>
              <a:t>vnode</a:t>
            </a:r>
            <a:endParaRPr lang="ro-RO" i="1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24139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15354</TotalTime>
  <Words>1006</Words>
  <Application>Microsoft Macintosh PowerPoint</Application>
  <PresentationFormat>On-screen Show (4:3)</PresentationFormat>
  <Paragraphs>363</Paragraphs>
  <Slides>54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Sisteme de operare</vt:lpstr>
      <vt:lpstr>Contenu</vt:lpstr>
      <vt:lpstr>Bibliografie</vt:lpstr>
      <vt:lpstr>Fișier</vt:lpstr>
      <vt:lpstr>Discul</vt:lpstr>
      <vt:lpstr>Sistem de fișiere</vt:lpstr>
      <vt:lpstr>Operații pe disc</vt:lpstr>
      <vt:lpstr>Partition</vt:lpstr>
      <vt:lpstr>Tipuri de partiționare</vt:lpstr>
      <vt:lpstr>MBR</vt:lpstr>
      <vt:lpstr>GPT</vt:lpstr>
      <vt:lpstr>Sistem de fișiere</vt:lpstr>
      <vt:lpstr>Sistem de fișiere</vt:lpstr>
      <vt:lpstr>Exemple de sisteme de fișiere</vt:lpstr>
      <vt:lpstr>Implementarea</vt:lpstr>
      <vt:lpstr>Discul</vt:lpstr>
      <vt:lpstr>Partiția</vt:lpstr>
      <vt:lpstr>Folosirea</vt:lpstr>
      <vt:lpstr>Structura sistemului de fișiere</vt:lpstr>
      <vt:lpstr>Fișier</vt:lpstr>
      <vt:lpstr>Director</vt:lpstr>
      <vt:lpstr>Alocarea fișierelor</vt:lpstr>
      <vt:lpstr>Alocarea contiguă</vt:lpstr>
      <vt:lpstr>Alocarea contiguă</vt:lpstr>
      <vt:lpstr>Utilizare</vt:lpstr>
      <vt:lpstr>Alocarea cu liste</vt:lpstr>
      <vt:lpstr>Alocarea cu liste</vt:lpstr>
      <vt:lpstr>Alocarea cu liste</vt:lpstr>
      <vt:lpstr>Utilizare</vt:lpstr>
      <vt:lpstr>Alocare indexată</vt:lpstr>
      <vt:lpstr>Alocare indexată</vt:lpstr>
      <vt:lpstr>Utilizare</vt:lpstr>
      <vt:lpstr>Exemplu de FCB (i-node)</vt:lpstr>
      <vt:lpstr>Director</vt:lpstr>
      <vt:lpstr>dentry</vt:lpstr>
      <vt:lpstr>Exemplu ext2</vt:lpstr>
      <vt:lpstr>Link-uri</vt:lpstr>
      <vt:lpstr>Exemple de link-uri</vt:lpstr>
      <vt:lpstr>Spațiu liber</vt:lpstr>
      <vt:lpstr>Exemplu</vt:lpstr>
      <vt:lpstr>Buffer Cache</vt:lpstr>
      <vt:lpstr>Buffer Cache</vt:lpstr>
      <vt:lpstr>Unified Buffer Cache</vt:lpstr>
      <vt:lpstr>Alte memorii cache</vt:lpstr>
      <vt:lpstr>Consistența sistemului de fișiere</vt:lpstr>
      <vt:lpstr>fsck/scandisk</vt:lpstr>
      <vt:lpstr>fsck/scandisk</vt:lpstr>
      <vt:lpstr>Exemplu fsck/scandisk</vt:lpstr>
      <vt:lpstr>Sisteme de fișiere jurnalizate</vt:lpstr>
      <vt:lpstr>Sisteme de fișiere jurnalizate</vt:lpstr>
      <vt:lpstr>Virtual File System – VFS</vt:lpstr>
      <vt:lpstr>Virtual File System – VFS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1624</cp:revision>
  <cp:lastPrinted>2020-04-27T10:10:11Z</cp:lastPrinted>
  <dcterms:created xsi:type="dcterms:W3CDTF">2010-02-23T11:53:40Z</dcterms:created>
  <dcterms:modified xsi:type="dcterms:W3CDTF">2020-05-11T16:47:22Z</dcterms:modified>
</cp:coreProperties>
</file>