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7" r:id="rId2"/>
    <p:sldId id="403" r:id="rId3"/>
    <p:sldId id="466" r:id="rId4"/>
    <p:sldId id="666" r:id="rId5"/>
    <p:sldId id="484" r:id="rId6"/>
    <p:sldId id="485" r:id="rId7"/>
    <p:sldId id="486" r:id="rId8"/>
    <p:sldId id="487" r:id="rId9"/>
    <p:sldId id="488" r:id="rId10"/>
    <p:sldId id="489" r:id="rId11"/>
    <p:sldId id="490" r:id="rId12"/>
    <p:sldId id="491" r:id="rId13"/>
    <p:sldId id="492" r:id="rId14"/>
    <p:sldId id="493" r:id="rId15"/>
    <p:sldId id="494" r:id="rId16"/>
    <p:sldId id="495" r:id="rId17"/>
    <p:sldId id="643" r:id="rId18"/>
    <p:sldId id="658" r:id="rId19"/>
    <p:sldId id="661" r:id="rId20"/>
    <p:sldId id="659" r:id="rId21"/>
    <p:sldId id="662" r:id="rId22"/>
    <p:sldId id="638" r:id="rId23"/>
    <p:sldId id="496" r:id="rId24"/>
    <p:sldId id="639" r:id="rId25"/>
    <p:sldId id="640" r:id="rId26"/>
    <p:sldId id="641" r:id="rId27"/>
    <p:sldId id="665" r:id="rId28"/>
    <p:sldId id="647" r:id="rId29"/>
    <p:sldId id="642" r:id="rId30"/>
    <p:sldId id="644" r:id="rId31"/>
    <p:sldId id="645" r:id="rId32"/>
    <p:sldId id="663" r:id="rId33"/>
    <p:sldId id="657" r:id="rId34"/>
    <p:sldId id="646" r:id="rId35"/>
    <p:sldId id="648" r:id="rId36"/>
    <p:sldId id="650" r:id="rId37"/>
    <p:sldId id="649" r:id="rId38"/>
    <p:sldId id="651" r:id="rId39"/>
    <p:sldId id="652" r:id="rId40"/>
    <p:sldId id="654" r:id="rId41"/>
    <p:sldId id="653" r:id="rId42"/>
    <p:sldId id="655" r:id="rId43"/>
    <p:sldId id="656" r:id="rId44"/>
    <p:sldId id="664" r:id="rId45"/>
    <p:sldId id="483" r:id="rId46"/>
    <p:sldId id="267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6" autoAdjust="0"/>
    <p:restoredTop sz="85087" autoAdjust="0"/>
  </p:normalViewPr>
  <p:slideViewPr>
    <p:cSldViewPr>
      <p:cViewPr varScale="1">
        <p:scale>
          <a:sx n="110" d="100"/>
          <a:sy n="110" d="100"/>
        </p:scale>
        <p:origin x="20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8/2/20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8/2/20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626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031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02.08.2020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02.08.2020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02.08.2020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02.08.2020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02.08.2020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02.08.2020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02.08.2020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02.08.2020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02.08.2020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02.08.2020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02.08.2020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02.08.2020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sanitizers/wiki/AddressSanitizerAlgorithm" TargetMode="External"/><Relationship Id="rId2" Type="http://schemas.openxmlformats.org/officeDocument/2006/relationships/hyperlink" Target="https://github.com/google/sanitizers/wiki/AddressSanitiz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phrack.org/issues/49/14.html" TargetMode="External"/><Relationship Id="rId4" Type="http://schemas.openxmlformats.org/officeDocument/2006/relationships/hyperlink" Target="https://meltdownattack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/>
              <a:t>Sisteme de operare</a:t>
            </a:r>
            <a:endParaRPr lang="fr-FR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/>
              <a:t>Securitatea memoriei</a:t>
            </a:r>
          </a:p>
        </p:txBody>
      </p:sp>
      <p:pic>
        <p:nvPicPr>
          <p:cNvPr id="11" name="Picture Placeholder 4">
            <a:extLst>
              <a:ext uri="{FF2B5EF4-FFF2-40B4-BE49-F238E27FC236}">
                <a16:creationId xmlns:a16="http://schemas.microsoft.com/office/drawing/2014/main" id="{AED628B3-2EF3-4141-8AAF-9C1297B95C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  <p:extLst>
      <p:ext uri="{BB962C8B-B14F-4D97-AF65-F5344CB8AC3E}">
        <p14:creationId xmlns:p14="http://schemas.microsoft.com/office/powerpoint/2010/main" val="150517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o-RO" dirty="0"/>
              <a:t>Probleme de memorie</a:t>
            </a:r>
          </a:p>
          <a:p>
            <a:r>
              <a:rPr lang="ro-RO" dirty="0"/>
              <a:t>Exploatarea problemelor </a:t>
            </a:r>
          </a:p>
          <a:p>
            <a:r>
              <a:rPr lang="ro-RO" dirty="0"/>
              <a:t>Utilitare de depanare</a:t>
            </a:r>
          </a:p>
          <a:p>
            <a:pPr lvl="1"/>
            <a:r>
              <a:rPr lang="ro-RO" dirty="0"/>
              <a:t>electric </a:t>
            </a:r>
            <a:r>
              <a:rPr lang="ro-RO" dirty="0" err="1"/>
              <a:t>fence</a:t>
            </a:r>
            <a:endParaRPr lang="ro-RO" dirty="0"/>
          </a:p>
          <a:p>
            <a:pPr lvl="1"/>
            <a:r>
              <a:rPr lang="ro-RO" dirty="0" err="1"/>
              <a:t>address</a:t>
            </a:r>
            <a:r>
              <a:rPr lang="ro-RO" dirty="0"/>
              <a:t> </a:t>
            </a:r>
            <a:r>
              <a:rPr lang="ro-RO" dirty="0" err="1"/>
              <a:t>sanitizer</a:t>
            </a:r>
            <a:endParaRPr lang="ro-RO" dirty="0"/>
          </a:p>
          <a:p>
            <a:pPr lvl="1"/>
            <a:r>
              <a:rPr lang="ro-RO" dirty="0" err="1"/>
              <a:t>valgrind</a:t>
            </a:r>
            <a:endParaRPr lang="ro-RO" dirty="0"/>
          </a:p>
          <a:p>
            <a:endParaRPr lang="ro-RO" dirty="0"/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7418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m-CH" dirty="0"/>
              <a:t>Address Sanitizer</a:t>
            </a:r>
          </a:p>
          <a:p>
            <a:pPr lvl="1"/>
            <a:r>
              <a:rPr lang="rm-CH" dirty="0">
                <a:hlinkClick r:id="rId2"/>
              </a:rPr>
              <a:t>https://github.com/google/sanitizers/wiki/AddressSanitizer</a:t>
            </a:r>
            <a:endParaRPr lang="rm-CH" dirty="0"/>
          </a:p>
          <a:p>
            <a:pPr lvl="1"/>
            <a:r>
              <a:rPr lang="rm-CH" dirty="0">
                <a:hlinkClick r:id="rId3"/>
              </a:rPr>
              <a:t>https://github.com/google/sanitizers/wiki/AddressSanitizerAlgorithm</a:t>
            </a:r>
            <a:endParaRPr lang="rm-CH" dirty="0"/>
          </a:p>
          <a:p>
            <a:r>
              <a:rPr lang="rm-CH" dirty="0"/>
              <a:t>Meltdown spectre</a:t>
            </a:r>
          </a:p>
          <a:p>
            <a:pPr lvl="1"/>
            <a:r>
              <a:rPr lang="rm-CH" dirty="0">
                <a:hlinkClick r:id="rId4"/>
              </a:rPr>
              <a:t>https://meltdownattack.com</a:t>
            </a:r>
            <a:endParaRPr lang="rm-CH" dirty="0"/>
          </a:p>
          <a:p>
            <a:r>
              <a:rPr lang="rm-CH" dirty="0"/>
              <a:t>Aleph One - Smashing the Stack for Fun and Profit</a:t>
            </a:r>
          </a:p>
          <a:p>
            <a:pPr lvl="1"/>
            <a:r>
              <a:rPr lang="rm-CH" dirty="0">
                <a:hlinkClick r:id="rId5"/>
              </a:rPr>
              <a:t>http://phrack.org/issues/49/14.html</a:t>
            </a:r>
            <a:endParaRPr lang="rm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3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622450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9F94E9-1AA7-414C-91B4-E5DE31DCA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Este ilegal!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3425BF-9EA0-9740-9773-A520CDE79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5E201-20FC-2548-BAD4-6AEF0BC2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</a:t>
            </a:fld>
            <a:endParaRPr lang="ro-RO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DA4317-8131-4347-A6B3-5245D49A9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763" y="2182814"/>
            <a:ext cx="31115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0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6179E-C7DC-5A4A-85E6-17951BEC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Probleme de memorie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35FC9-982D-4146-BF04-4B7426A79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 err="1"/>
              <a:t>Use</a:t>
            </a:r>
            <a:r>
              <a:rPr lang="ro-RO" dirty="0"/>
              <a:t> </a:t>
            </a:r>
            <a:r>
              <a:rPr lang="ro-RO" dirty="0" err="1"/>
              <a:t>after</a:t>
            </a:r>
            <a:r>
              <a:rPr lang="ro-RO" dirty="0"/>
              <a:t> </a:t>
            </a:r>
            <a:r>
              <a:rPr lang="ro-RO" dirty="0" err="1"/>
              <a:t>free</a:t>
            </a:r>
            <a:r>
              <a:rPr lang="ro-RO" dirty="0"/>
              <a:t> (</a:t>
            </a:r>
            <a:r>
              <a:rPr lang="ro-RO" dirty="0" err="1"/>
              <a:t>dangling</a:t>
            </a:r>
            <a:r>
              <a:rPr lang="ro-RO" dirty="0"/>
              <a:t> pointer </a:t>
            </a:r>
            <a:r>
              <a:rPr lang="ro-RO" dirty="0" err="1"/>
              <a:t>dereference</a:t>
            </a:r>
            <a:r>
              <a:rPr lang="ro-RO" dirty="0"/>
              <a:t>)</a:t>
            </a:r>
          </a:p>
          <a:p>
            <a:r>
              <a:rPr lang="ro-RO" dirty="0" err="1"/>
              <a:t>Heap</a:t>
            </a:r>
            <a:r>
              <a:rPr lang="ro-RO" dirty="0"/>
              <a:t> buffer </a:t>
            </a:r>
            <a:r>
              <a:rPr lang="ro-RO" dirty="0" err="1"/>
              <a:t>overflow</a:t>
            </a:r>
            <a:endParaRPr lang="ro-RO" dirty="0"/>
          </a:p>
          <a:p>
            <a:r>
              <a:rPr lang="ro-RO" dirty="0" err="1"/>
              <a:t>Stack</a:t>
            </a:r>
            <a:r>
              <a:rPr lang="ro-RO" dirty="0"/>
              <a:t> buffer </a:t>
            </a:r>
            <a:r>
              <a:rPr lang="ro-RO" dirty="0" err="1"/>
              <a:t>overflow</a:t>
            </a:r>
            <a:endParaRPr lang="ro-RO" dirty="0"/>
          </a:p>
          <a:p>
            <a:r>
              <a:rPr lang="ro-RO" dirty="0"/>
              <a:t>Global buffer </a:t>
            </a:r>
            <a:r>
              <a:rPr lang="ro-RO" dirty="0" err="1"/>
              <a:t>overflow</a:t>
            </a:r>
            <a:endParaRPr lang="ro-RO" dirty="0"/>
          </a:p>
          <a:p>
            <a:r>
              <a:rPr lang="ro-RO" dirty="0" err="1"/>
              <a:t>Use</a:t>
            </a:r>
            <a:r>
              <a:rPr lang="ro-RO" dirty="0"/>
              <a:t> </a:t>
            </a:r>
            <a:r>
              <a:rPr lang="ro-RO" dirty="0" err="1"/>
              <a:t>after</a:t>
            </a:r>
            <a:r>
              <a:rPr lang="ro-RO" dirty="0"/>
              <a:t> </a:t>
            </a:r>
            <a:r>
              <a:rPr lang="ro-RO" dirty="0" err="1"/>
              <a:t>return</a:t>
            </a:r>
            <a:endParaRPr lang="ro-RO" dirty="0"/>
          </a:p>
          <a:p>
            <a:r>
              <a:rPr lang="ro-RO" dirty="0" err="1"/>
              <a:t>Use</a:t>
            </a:r>
            <a:r>
              <a:rPr lang="ro-RO" dirty="0"/>
              <a:t> </a:t>
            </a:r>
            <a:r>
              <a:rPr lang="ro-RO" dirty="0" err="1"/>
              <a:t>after</a:t>
            </a:r>
            <a:r>
              <a:rPr lang="ro-RO" dirty="0"/>
              <a:t> </a:t>
            </a:r>
            <a:r>
              <a:rPr lang="ro-RO" dirty="0" err="1"/>
              <a:t>scope</a:t>
            </a:r>
            <a:endParaRPr lang="ro-RO" dirty="0"/>
          </a:p>
          <a:p>
            <a:r>
              <a:rPr lang="ro-RO" dirty="0" err="1"/>
              <a:t>Initialization</a:t>
            </a:r>
            <a:r>
              <a:rPr lang="ro-RO" dirty="0"/>
              <a:t> </a:t>
            </a:r>
            <a:r>
              <a:rPr lang="ro-RO" dirty="0" err="1"/>
              <a:t>order</a:t>
            </a:r>
            <a:r>
              <a:rPr lang="ro-RO" dirty="0"/>
              <a:t> </a:t>
            </a:r>
            <a:r>
              <a:rPr lang="ro-RO" dirty="0" err="1"/>
              <a:t>bugs</a:t>
            </a:r>
            <a:endParaRPr lang="ro-RO" dirty="0"/>
          </a:p>
          <a:p>
            <a:r>
              <a:rPr lang="ro-RO" dirty="0" err="1"/>
              <a:t>Memory</a:t>
            </a:r>
            <a:r>
              <a:rPr lang="ro-RO" dirty="0"/>
              <a:t> </a:t>
            </a:r>
            <a:r>
              <a:rPr lang="ro-RO" dirty="0" err="1"/>
              <a:t>leaks</a:t>
            </a:r>
            <a:endParaRPr lang="ro-RO" dirty="0"/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DF1F4-5432-D640-9842-873DE3AE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82007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1BA0-505F-454F-86F4-18B3A8CFB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after free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3D5CE-811D-9346-BFEE-F8101BC89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argc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**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argv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	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*array=(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*)</a:t>
            </a: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malloc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GB" sz="2200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)*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	free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(array);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AF00DB"/>
                </a:solidFill>
                <a:latin typeface="Menlo" panose="020B0609030804020204" pitchFamily="49" charset="0"/>
              </a:rPr>
              <a:t>	return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001080"/>
                </a:solidFill>
                <a:latin typeface="Menlo" panose="020B0609030804020204" pitchFamily="49" charset="0"/>
              </a:rPr>
              <a:t>array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argc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]; </a:t>
            </a:r>
            <a:r>
              <a:rPr lang="en-GB" sz="2200" dirty="0">
                <a:solidFill>
                  <a:srgbClr val="008000"/>
                </a:solidFill>
                <a:latin typeface="Menlo" panose="020B0609030804020204" pitchFamily="49" charset="0"/>
              </a:rPr>
              <a:t>// BOOM</a:t>
            </a:r>
            <a:endParaRPr lang="en-GB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b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GB" sz="22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C8668-B982-E848-AECD-C2201A1C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6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5C2B-BC08-0C4C-B216-AA8B342B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Heap buffer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3D53A-8D08-A845-B0CB-7CD909F9C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argc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**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argv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	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*array=(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*)</a:t>
            </a: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malloc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GB" sz="2200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)*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1080"/>
                </a:solidFill>
                <a:latin typeface="Menlo" panose="020B0609030804020204" pitchFamily="49" charset="0"/>
              </a:rPr>
              <a:t>	array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]=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	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res=</a:t>
            </a:r>
            <a:r>
              <a:rPr lang="en-GB" sz="2200" dirty="0">
                <a:solidFill>
                  <a:srgbClr val="001080"/>
                </a:solidFill>
                <a:latin typeface="Menlo" panose="020B0609030804020204" pitchFamily="49" charset="0"/>
              </a:rPr>
              <a:t>array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argc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]; </a:t>
            </a:r>
            <a:r>
              <a:rPr lang="en-GB" sz="2200" dirty="0">
                <a:solidFill>
                  <a:srgbClr val="008000"/>
                </a:solidFill>
                <a:latin typeface="Menlo" panose="020B0609030804020204" pitchFamily="49" charset="0"/>
              </a:rPr>
              <a:t>// BOOM</a:t>
            </a:r>
            <a:endParaRPr lang="en-GB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	free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(array);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AF00DB"/>
                </a:solidFill>
                <a:latin typeface="Menlo" panose="020B0609030804020204" pitchFamily="49" charset="0"/>
              </a:rPr>
              <a:t>	return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res;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E59E2-11E4-8345-8C5F-4BB7065D1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8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794A1-4892-B640-A583-AD5995BE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Stack buffer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78174-BBD8-A840-B16A-DAC0DE124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argc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**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argv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	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stack_array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1080"/>
                </a:solidFill>
                <a:latin typeface="Menlo" panose="020B0609030804020204" pitchFamily="49" charset="0"/>
              </a:rPr>
              <a:t>	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stack_array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AF00DB"/>
                </a:solidFill>
                <a:latin typeface="Menlo" panose="020B0609030804020204" pitchFamily="49" charset="0"/>
              </a:rPr>
              <a:t>	return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stack_array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argc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]; </a:t>
            </a:r>
            <a:r>
              <a:rPr lang="en-GB" sz="2200" dirty="0">
                <a:solidFill>
                  <a:srgbClr val="008000"/>
                </a:solidFill>
                <a:latin typeface="Menlo" panose="020B0609030804020204" pitchFamily="49" charset="0"/>
              </a:rPr>
              <a:t>// BOOM</a:t>
            </a:r>
            <a:endParaRPr lang="en-GB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EFD00-2828-6141-8CDB-32B2538AF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2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2684-2D74-5C4C-B81C-214D4169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Global buffer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4CA59-3260-2E42-8DA6-68CBCA7A7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global_array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] = {-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argc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**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argv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AF00DB"/>
                </a:solidFill>
                <a:latin typeface="Menlo" panose="020B0609030804020204" pitchFamily="49" charset="0"/>
              </a:rPr>
              <a:t>	return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global_array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argc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]; </a:t>
            </a:r>
            <a:r>
              <a:rPr lang="en-GB" sz="2200" dirty="0">
                <a:solidFill>
                  <a:srgbClr val="008000"/>
                </a:solidFill>
                <a:latin typeface="Menlo" panose="020B0609030804020204" pitchFamily="49" charset="0"/>
              </a:rPr>
              <a:t>// BOOM</a:t>
            </a:r>
            <a:endParaRPr lang="en-GB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B6DD0-541E-4848-ABFD-46A7A2F4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56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B8207-FCF6-804C-BBD0-D3AB277E2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after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CF703-D064-1A4D-B51F-812FE3311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en-GB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ptr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795E26"/>
                </a:solidFill>
                <a:latin typeface="Menlo" panose="020B0609030804020204" pitchFamily="49" charset="0"/>
              </a:rPr>
              <a:t>FunctionThatEscapesLocalObject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	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001080"/>
                </a:solidFill>
                <a:latin typeface="Menlo" panose="020B0609030804020204" pitchFamily="49" charset="0"/>
              </a:rPr>
              <a:t>local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GB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ptr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-GB" sz="2200" dirty="0">
                <a:solidFill>
                  <a:srgbClr val="001080"/>
                </a:solidFill>
                <a:latin typeface="Menlo" panose="020B0609030804020204" pitchFamily="49" charset="0"/>
              </a:rPr>
              <a:t>local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b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argc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**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argv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	</a:t>
            </a:r>
            <a:r>
              <a:rPr lang="en-GB" sz="2200" dirty="0" err="1">
                <a:solidFill>
                  <a:srgbClr val="795E26"/>
                </a:solidFill>
                <a:latin typeface="Menlo" panose="020B0609030804020204" pitchFamily="49" charset="0"/>
              </a:rPr>
              <a:t>FunctionThatEscapesLocalObject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AF00DB"/>
                </a:solidFill>
                <a:latin typeface="Menlo" panose="020B0609030804020204" pitchFamily="49" charset="0"/>
              </a:rPr>
              <a:t>	return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001080"/>
                </a:solidFill>
                <a:latin typeface="Menlo" panose="020B0609030804020204" pitchFamily="49" charset="0"/>
              </a:rPr>
              <a:t>ptr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argc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8BA12-584A-E342-A995-934BEB93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88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CBECA-9A76-184A-9675-B1190F13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after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1813F-1F05-6141-BC05-ADB653886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*p = 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	{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		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x = 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		p = &amp;x;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	}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	*p = 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AF00DB"/>
                </a:solidFill>
                <a:latin typeface="Menlo" panose="020B0609030804020204" pitchFamily="49" charset="0"/>
              </a:rPr>
              <a:t>	return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E77E4-5A9B-364B-90E0-60B6C5C9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5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E5036-838B-E74E-83B2-0BD23EF4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Initialization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CBD17-79D7-2348-BF74-D9D1D6D86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A31515"/>
                </a:solidFill>
                <a:latin typeface="Menlo" panose="020B0609030804020204" pitchFamily="49" charset="0"/>
              </a:rPr>
              <a:t>&lt;</a:t>
            </a:r>
            <a:r>
              <a:rPr lang="en-GB" sz="2200" dirty="0" err="1">
                <a:solidFill>
                  <a:srgbClr val="A31515"/>
                </a:solidFill>
                <a:latin typeface="Menlo" panose="020B0609030804020204" pitchFamily="49" charset="0"/>
              </a:rPr>
              <a:t>stdio.h</a:t>
            </a:r>
            <a:r>
              <a:rPr lang="en-GB" sz="2200" dirty="0">
                <a:solidFill>
                  <a:srgbClr val="A31515"/>
                </a:solidFill>
                <a:latin typeface="Menlo" panose="020B060903080402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extern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extern_global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795E26"/>
                </a:solidFill>
                <a:latin typeface="Menlo" panose="020B0609030804020204" pitchFamily="49" charset="0"/>
              </a:rPr>
              <a:t>read_extern_global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AF00DB"/>
                </a:solidFill>
                <a:latin typeface="Menlo" panose="020B0609030804020204" pitchFamily="49" charset="0"/>
              </a:rPr>
              <a:t>	return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extern_global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GB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x = </a:t>
            </a:r>
            <a:r>
              <a:rPr lang="en-GB" sz="2200" dirty="0" err="1">
                <a:solidFill>
                  <a:srgbClr val="795E26"/>
                </a:solidFill>
                <a:latin typeface="Menlo" panose="020B0609030804020204" pitchFamily="49" charset="0"/>
              </a:rPr>
              <a:t>read_extern_global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() + 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en-GB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	</a:t>
            </a:r>
            <a:r>
              <a:rPr lang="en-GB" sz="2200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2200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en-GB" sz="2200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en-GB" sz="22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, x);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AF00DB"/>
                </a:solidFill>
                <a:latin typeface="Menlo" panose="020B0609030804020204" pitchFamily="49" charset="0"/>
              </a:rPr>
              <a:t>	return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C1762-89F7-C84C-9AC7-E0F6F743D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01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0C81-638F-4C43-87DA-8C88647B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Memory leaks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740CC-8D86-7A4E-85B0-9969DEDBC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A31515"/>
                </a:solidFill>
                <a:latin typeface="Menlo" panose="020B0609030804020204" pitchFamily="49" charset="0"/>
              </a:rPr>
              <a:t>&lt;</a:t>
            </a:r>
            <a:r>
              <a:rPr lang="en-GB" sz="2200" dirty="0" err="1">
                <a:solidFill>
                  <a:srgbClr val="A31515"/>
                </a:solidFill>
                <a:latin typeface="Menlo" panose="020B0609030804020204" pitchFamily="49" charset="0"/>
              </a:rPr>
              <a:t>stdlib.h</a:t>
            </a:r>
            <a:r>
              <a:rPr lang="en-GB" sz="2200" dirty="0">
                <a:solidFill>
                  <a:srgbClr val="A31515"/>
                </a:solidFill>
                <a:latin typeface="Menlo" panose="020B060903080402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*p;</a:t>
            </a:r>
          </a:p>
          <a:p>
            <a:pPr marL="0" indent="0">
              <a:buNone/>
            </a:pPr>
            <a:b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	p = </a:t>
            </a: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malloc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7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	p = 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NULL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GB" sz="2200" dirty="0">
                <a:solidFill>
                  <a:srgbClr val="008000"/>
                </a:solidFill>
                <a:latin typeface="Menlo" panose="020B0609030804020204" pitchFamily="49" charset="0"/>
              </a:rPr>
              <a:t>// The memory is leaked here.</a:t>
            </a:r>
            <a:endParaRPr lang="en-GB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AF00DB"/>
                </a:solidFill>
                <a:latin typeface="Menlo" panose="020B0609030804020204" pitchFamily="49" charset="0"/>
              </a:rPr>
              <a:t>	return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183B9-EE56-5047-AA41-B994B757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22AC7-0389-7A4A-90E5-E7D3887DC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of gets()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7D9C1-290F-9F46-AE8D-A53E5526E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*s = ...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795E26"/>
                </a:solidFill>
                <a:latin typeface="Menlo" panose="020B0609030804020204" pitchFamily="49" charset="0"/>
              </a:rPr>
              <a:t>gets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7D1F9-5A43-4D4E-8198-90BC11F0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33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C347-69F6-3645-9A13-C94360D6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of </a:t>
            </a:r>
            <a:r>
              <a:rPr lang="en-US" dirty="0" err="1"/>
              <a:t>printf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29FF3-4ADE-EC46-941F-E57B0C52C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1080"/>
                </a:solidFill>
                <a:latin typeface="Menlo" panose="020B0609030804020204" pitchFamily="49" charset="0"/>
              </a:rPr>
              <a:t>s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[MAX_SIZE]; </a:t>
            </a:r>
          </a:p>
          <a:p>
            <a:pPr marL="0" indent="0">
              <a:buNone/>
            </a:pPr>
            <a:r>
              <a:rPr lang="en-GB" sz="2400" dirty="0" err="1">
                <a:solidFill>
                  <a:srgbClr val="795E26"/>
                </a:solidFill>
                <a:latin typeface="Menlo" panose="020B0609030804020204" pitchFamily="49" charset="0"/>
              </a:rPr>
              <a:t>fgets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(s, MAX_SIZE-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, f);</a:t>
            </a:r>
          </a:p>
          <a:p>
            <a:pPr marL="0" indent="0">
              <a:buNone/>
            </a:pPr>
            <a:r>
              <a:rPr lang="en-GB" sz="2400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3EB02-8BC6-C344-B389-B122402A2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47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E8540-04B1-B645-BF53-7E87388B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Exploatarea probelemelor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C4D37-3B43-D645-B3A9-46898F118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Alterarea fluxului de execuție</a:t>
            </a:r>
          </a:p>
          <a:p>
            <a:r>
              <a:rPr lang="ro-RO" dirty="0"/>
              <a:t>Executarea de cod fără drept</a:t>
            </a:r>
          </a:p>
          <a:p>
            <a:endParaRPr lang="ro-RO" dirty="0"/>
          </a:p>
          <a:p>
            <a:r>
              <a:rPr lang="ro-RO" dirty="0"/>
              <a:t>Buffer </a:t>
            </a:r>
            <a:r>
              <a:rPr lang="ro-RO" dirty="0" err="1"/>
              <a:t>overflow</a:t>
            </a:r>
            <a:endParaRPr lang="ro-RO" dirty="0"/>
          </a:p>
          <a:p>
            <a:r>
              <a:rPr lang="ro-RO" dirty="0" err="1"/>
              <a:t>Stack</a:t>
            </a:r>
            <a:r>
              <a:rPr lang="ro-RO" dirty="0"/>
              <a:t> </a:t>
            </a:r>
            <a:r>
              <a:rPr lang="ro-RO" dirty="0" err="1"/>
              <a:t>smashing</a:t>
            </a:r>
            <a:endParaRPr lang="ro-RO" dirty="0"/>
          </a:p>
          <a:p>
            <a:r>
              <a:rPr lang="ro-RO" dirty="0" err="1"/>
              <a:t>Return</a:t>
            </a:r>
            <a:r>
              <a:rPr lang="ro-RO" dirty="0"/>
              <a:t> </a:t>
            </a:r>
            <a:r>
              <a:rPr lang="ro-RO" dirty="0" err="1"/>
              <a:t>oriented</a:t>
            </a:r>
            <a:r>
              <a:rPr lang="ro-RO" dirty="0"/>
              <a:t> </a:t>
            </a:r>
            <a:r>
              <a:rPr lang="ro-RO" dirty="0" err="1"/>
              <a:t>programming</a:t>
            </a:r>
            <a:r>
              <a:rPr lang="ro-RO" dirty="0"/>
              <a:t> (ROP)</a:t>
            </a:r>
          </a:p>
          <a:p>
            <a:pPr lvl="1"/>
            <a:r>
              <a:rPr lang="ro-RO" dirty="0" err="1"/>
              <a:t>return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lib</a:t>
            </a:r>
            <a:r>
              <a:rPr lang="ro-RO" dirty="0"/>
              <a:t>-c (</a:t>
            </a:r>
            <a:r>
              <a:rPr lang="ro-RO" dirty="0" err="1"/>
              <a:t>system</a:t>
            </a:r>
            <a:r>
              <a:rPr lang="ro-RO" dirty="0"/>
              <a:t>)</a:t>
            </a:r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64592-4B23-274F-B367-98F52744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34739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9419-2C2A-1840-A174-61C20F8E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Buffer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B7997-68DE-5C45-B7AC-1D0555333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solidFill>
                  <a:srgbClr val="FF0000"/>
                </a:solidFill>
              </a:rPr>
              <a:t>Aritmetica de pointeri</a:t>
            </a:r>
          </a:p>
          <a:p>
            <a:endParaRPr lang="ro-RO" dirty="0">
              <a:solidFill>
                <a:srgbClr val="92D050"/>
              </a:solidFill>
            </a:endParaRPr>
          </a:p>
          <a:p>
            <a:r>
              <a:rPr lang="ro-RO" dirty="0">
                <a:solidFill>
                  <a:srgbClr val="92D050"/>
                </a:solidFill>
              </a:rPr>
              <a:t>Soluții de verificare și depanare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A2677-BB90-0B4B-9DED-F0C0CD83E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05048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5B73-5BE0-E440-834E-4F76A7B9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Shellcode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5EE8-394B-4440-897A-F56F7030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m-CH"/>
              <a:t>apeluri de sistem</a:t>
            </a:r>
          </a:p>
          <a:p>
            <a:pPr lvl="1"/>
            <a:r>
              <a:rPr lang="rm-CH"/>
              <a:t>pentru că știe cum să le execute</a:t>
            </a:r>
          </a:p>
          <a:p>
            <a:endParaRPr lang="rm-CH"/>
          </a:p>
          <a:p>
            <a:r>
              <a:rPr lang="rm-CH"/>
              <a:t>e dificil să facă apeluri de funcție</a:t>
            </a:r>
          </a:p>
          <a:p>
            <a:endParaRPr lang="rm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7F0A1-397C-9F47-BB46-3CDD2B7BB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18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3982081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DA15-2A8F-124E-BD42-DC8F68610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 de </a:t>
            </a:r>
            <a:r>
              <a:rPr lang="ro-RO" i="1"/>
              <a:t>shellcode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83297-17AF-B844-A7F6-234F8EEE3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shell</a:t>
            </a: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[]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=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	// &lt;_start&gt;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	"</a:t>
            </a:r>
            <a:r>
              <a:rPr lang="en-GB" sz="2400" dirty="0">
                <a:solidFill>
                  <a:srgbClr val="FF0000"/>
                </a:solidFill>
                <a:latin typeface="Menlo" panose="020B0609030804020204" pitchFamily="49" charset="0"/>
              </a:rPr>
              <a:t>\xb0\x0b</a:t>
            </a: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mov $0xb,%al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	"</a:t>
            </a:r>
            <a:r>
              <a:rPr lang="en-GB" sz="2400" dirty="0">
                <a:solidFill>
                  <a:srgbClr val="FF0000"/>
                </a:solidFill>
                <a:latin typeface="Menlo" panose="020B0609030804020204" pitchFamily="49" charset="0"/>
              </a:rPr>
              <a:t>\x99</a:t>
            </a: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-GB" sz="2400" dirty="0" err="1">
                <a:solidFill>
                  <a:srgbClr val="008000"/>
                </a:solidFill>
                <a:latin typeface="Menlo" panose="020B0609030804020204" pitchFamily="49" charset="0"/>
              </a:rPr>
              <a:t>cltd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	"</a:t>
            </a:r>
            <a:r>
              <a:rPr lang="en-GB" sz="2400" dirty="0">
                <a:solidFill>
                  <a:srgbClr val="FF0000"/>
                </a:solidFill>
                <a:latin typeface="Menlo" panose="020B0609030804020204" pitchFamily="49" charset="0"/>
              </a:rPr>
              <a:t>\x52</a:t>
            </a: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push %</a:t>
            </a:r>
            <a:r>
              <a:rPr lang="en-GB" sz="2400" dirty="0" err="1">
                <a:solidFill>
                  <a:srgbClr val="008000"/>
                </a:solidFill>
                <a:latin typeface="Menlo" panose="020B0609030804020204" pitchFamily="49" charset="0"/>
              </a:rPr>
              <a:t>edx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	"</a:t>
            </a:r>
            <a:r>
              <a:rPr lang="en-GB" sz="2400" dirty="0">
                <a:solidFill>
                  <a:srgbClr val="FF0000"/>
                </a:solidFill>
                <a:latin typeface="Menlo" panose="020B0609030804020204" pitchFamily="49" charset="0"/>
              </a:rPr>
              <a:t>\x68\x2f\x2f\x73\x68</a:t>
            </a: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push $0x68732f2f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	"</a:t>
            </a:r>
            <a:r>
              <a:rPr lang="en-GB" sz="2400" dirty="0">
                <a:solidFill>
                  <a:srgbClr val="FF0000"/>
                </a:solidFill>
                <a:latin typeface="Menlo" panose="020B0609030804020204" pitchFamily="49" charset="0"/>
              </a:rPr>
              <a:t>\x68\x2f\x62\x69\x6e</a:t>
            </a: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push $0x6e69622f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	"</a:t>
            </a:r>
            <a:r>
              <a:rPr lang="en-GB" sz="2400" dirty="0">
                <a:solidFill>
                  <a:srgbClr val="FF0000"/>
                </a:solidFill>
                <a:latin typeface="Menlo" panose="020B0609030804020204" pitchFamily="49" charset="0"/>
              </a:rPr>
              <a:t>\x89\xe3</a:t>
            </a: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mov %</a:t>
            </a:r>
            <a:r>
              <a:rPr lang="en-GB" sz="2400" dirty="0" err="1">
                <a:solidFill>
                  <a:srgbClr val="008000"/>
                </a:solidFill>
                <a:latin typeface="Menlo" panose="020B0609030804020204" pitchFamily="49" charset="0"/>
              </a:rPr>
              <a:t>esp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,%</a:t>
            </a:r>
            <a:r>
              <a:rPr lang="en-GB" sz="2400" dirty="0" err="1">
                <a:solidFill>
                  <a:srgbClr val="008000"/>
                </a:solidFill>
                <a:latin typeface="Menlo" panose="020B0609030804020204" pitchFamily="49" charset="0"/>
              </a:rPr>
              <a:t>ebx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	"</a:t>
            </a:r>
            <a:r>
              <a:rPr lang="en-GB" sz="2400" dirty="0">
                <a:solidFill>
                  <a:srgbClr val="FF0000"/>
                </a:solidFill>
                <a:latin typeface="Menlo" panose="020B0609030804020204" pitchFamily="49" charset="0"/>
              </a:rPr>
              <a:t>\x52</a:t>
            </a: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push %</a:t>
            </a:r>
            <a:r>
              <a:rPr lang="en-GB" sz="2400" dirty="0" err="1">
                <a:solidFill>
                  <a:srgbClr val="008000"/>
                </a:solidFill>
                <a:latin typeface="Menlo" panose="020B0609030804020204" pitchFamily="49" charset="0"/>
              </a:rPr>
              <a:t>edx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	"</a:t>
            </a:r>
            <a:r>
              <a:rPr lang="en-GB" sz="2400" dirty="0">
                <a:solidFill>
                  <a:srgbClr val="FF0000"/>
                </a:solidFill>
                <a:latin typeface="Menlo" panose="020B0609030804020204" pitchFamily="49" charset="0"/>
              </a:rPr>
              <a:t>\x53</a:t>
            </a: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push %</a:t>
            </a:r>
            <a:r>
              <a:rPr lang="en-GB" sz="2400" dirty="0" err="1">
                <a:solidFill>
                  <a:srgbClr val="008000"/>
                </a:solidFill>
                <a:latin typeface="Menlo" panose="020B0609030804020204" pitchFamily="49" charset="0"/>
              </a:rPr>
              <a:t>ebx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	"</a:t>
            </a:r>
            <a:r>
              <a:rPr lang="en-GB" sz="2400" dirty="0">
                <a:solidFill>
                  <a:srgbClr val="FF0000"/>
                </a:solidFill>
                <a:latin typeface="Menlo" panose="020B0609030804020204" pitchFamily="49" charset="0"/>
              </a:rPr>
              <a:t>\x89\xe1</a:t>
            </a: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mov %</a:t>
            </a:r>
            <a:r>
              <a:rPr lang="en-GB" sz="2400" dirty="0" err="1">
                <a:solidFill>
                  <a:srgbClr val="008000"/>
                </a:solidFill>
                <a:latin typeface="Menlo" panose="020B0609030804020204" pitchFamily="49" charset="0"/>
              </a:rPr>
              <a:t>esp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,%</a:t>
            </a:r>
            <a:r>
              <a:rPr lang="en-GB" sz="2400" dirty="0" err="1">
                <a:solidFill>
                  <a:srgbClr val="008000"/>
                </a:solidFill>
                <a:latin typeface="Menlo" panose="020B0609030804020204" pitchFamily="49" charset="0"/>
              </a:rPr>
              <a:t>ecx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	"</a:t>
            </a:r>
            <a:r>
              <a:rPr lang="en-GB" sz="2400" dirty="0">
                <a:solidFill>
                  <a:srgbClr val="FF0000"/>
                </a:solidFill>
                <a:latin typeface="Menlo" panose="020B0609030804020204" pitchFamily="49" charset="0"/>
              </a:rPr>
              <a:t>\</a:t>
            </a:r>
            <a:r>
              <a:rPr lang="en-GB" sz="2400" dirty="0" err="1">
                <a:solidFill>
                  <a:srgbClr val="FF0000"/>
                </a:solidFill>
                <a:latin typeface="Menlo" panose="020B0609030804020204" pitchFamily="49" charset="0"/>
              </a:rPr>
              <a:t>xcd</a:t>
            </a:r>
            <a:r>
              <a:rPr lang="en-GB" sz="2400" dirty="0">
                <a:solidFill>
                  <a:srgbClr val="FF0000"/>
                </a:solidFill>
                <a:latin typeface="Menlo" panose="020B0609030804020204" pitchFamily="49" charset="0"/>
              </a:rPr>
              <a:t>\x80</a:t>
            </a:r>
            <a:r>
              <a:rPr lang="en-GB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int $0x80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pPr marL="0" indent="0">
              <a:buNone/>
            </a:pPr>
            <a:endParaRPr lang="ro-RO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58CC1-3146-D04A-8726-9185397A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03064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9834C-AF59-7B4F-9658-8573228A8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Return 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AD2D9-F5AB-FB4F-9595-0B0ABB575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err="1"/>
              <a:t>Return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lib</a:t>
            </a:r>
            <a:r>
              <a:rPr lang="ro-RO" dirty="0"/>
              <a:t>-c</a:t>
            </a:r>
          </a:p>
          <a:p>
            <a:r>
              <a:rPr lang="ro-RO" dirty="0"/>
              <a:t>Salturi în .text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AA12F-6D15-4446-BA9D-E12E1961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0034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A32D-06F2-774C-AB40-59A57AB0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Exemple de ROP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D228E9-E7C9-5944-A0C7-CC537DCFC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3" y="1600200"/>
            <a:ext cx="8051713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28354-E980-E042-9EDD-78574ABF8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3668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ro-RO"/>
              <a:t>Stack Pointer și Frame (Base) Pointer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o-RO"/>
              <a:t>Stack Pointer (sp)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o-RO"/>
              <a:t>Poziția pe care va fi pusă următoarea valoare</a:t>
            </a:r>
          </a:p>
          <a:p>
            <a:endParaRPr lang="ro-RO"/>
          </a:p>
          <a:p>
            <a:r>
              <a:rPr lang="ro-RO"/>
              <a:t>push</a:t>
            </a:r>
          </a:p>
          <a:p>
            <a:pPr lvl="1"/>
            <a:r>
              <a:rPr lang="ro-RO"/>
              <a:t>sp = sp – dimensiune_cuvânt</a:t>
            </a:r>
          </a:p>
          <a:p>
            <a:endParaRPr lang="ro-RO"/>
          </a:p>
          <a:p>
            <a:r>
              <a:rPr lang="ro-RO"/>
              <a:t>pop</a:t>
            </a:r>
          </a:p>
          <a:p>
            <a:pPr lvl="1"/>
            <a:r>
              <a:rPr lang="ro-RO"/>
              <a:t>sp = sp + dimensiune_cunvânt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/>
          </a:bodyPr>
          <a:lstStyle/>
          <a:p>
            <a:r>
              <a:rPr lang="ro-RO" dirty="0" err="1"/>
              <a:t>Frame</a:t>
            </a:r>
            <a:r>
              <a:rPr lang="ro-RO" dirty="0"/>
              <a:t> sau </a:t>
            </a:r>
            <a:r>
              <a:rPr lang="ro-RO" dirty="0" err="1"/>
              <a:t>Base</a:t>
            </a:r>
            <a:r>
              <a:rPr lang="ro-RO" dirty="0"/>
              <a:t> Pointer (</a:t>
            </a:r>
            <a:r>
              <a:rPr lang="ro-RO" dirty="0" err="1"/>
              <a:t>bp</a:t>
            </a:r>
            <a:r>
              <a:rPr lang="ro-RO" dirty="0"/>
              <a:t>/fp)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o-RO"/>
              <a:t>Valoarea sp la momentul intrării în funcție</a:t>
            </a:r>
          </a:p>
          <a:p>
            <a:endParaRPr lang="ro-RO"/>
          </a:p>
          <a:p>
            <a:r>
              <a:rPr lang="ro-RO"/>
              <a:t>La intrarea în funcție</a:t>
            </a:r>
          </a:p>
          <a:p>
            <a:pPr lvl="1"/>
            <a:r>
              <a:rPr lang="ro-RO"/>
              <a:t>fp = sp</a:t>
            </a:r>
          </a:p>
          <a:p>
            <a:endParaRPr lang="ro-RO"/>
          </a:p>
          <a:p>
            <a:r>
              <a:rPr lang="ro-RO"/>
              <a:t>Utilizat pentru parametrii și variabile locale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43140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037B-0876-3643-BBF2-712FE1889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Stack frame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346E4-DE16-1947-BFE8-343E5D95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Content Placeholder 10" descr="call_stack.png">
            <a:extLst>
              <a:ext uri="{FF2B5EF4-FFF2-40B4-BE49-F238E27FC236}">
                <a16:creationId xmlns:a16="http://schemas.microsoft.com/office/drawing/2014/main" id="{8FD8662B-4808-4343-85F0-218E1C3AB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261" b="-29261"/>
          <a:stretch>
            <a:fillRect/>
          </a:stretch>
        </p:blipFill>
        <p:spPr>
          <a:xfrm>
            <a:off x="2057399" y="876659"/>
            <a:ext cx="5029202" cy="5973046"/>
          </a:xfrm>
        </p:spPr>
      </p:pic>
    </p:spTree>
    <p:extLst>
      <p:ext uri="{BB962C8B-B14F-4D97-AF65-F5344CB8AC3E}">
        <p14:creationId xmlns:p14="http://schemas.microsoft.com/office/powerpoint/2010/main" val="2465604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4CCD-2B3A-3143-ADD9-216D87692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Stack Smashing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9138043-5BC7-554B-8D91-DE7A03ABF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135390"/>
            <a:ext cx="5943600" cy="345558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70B62-7D9A-CD44-A913-31BE6068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47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E0C2-5E19-7E4A-96D0-3B26DBF8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Soluții</a:t>
            </a:r>
            <a:r>
              <a:rPr lang="en-US" dirty="0"/>
              <a:t> Stack Smashing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A6087-30AB-3C4E-BE0A-5AF26A3E2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Canary value</a:t>
            </a:r>
          </a:p>
          <a:p>
            <a:pPr lvl="1"/>
            <a:r>
              <a:rPr lang="en-US" dirty="0"/>
              <a:t>compilator</a:t>
            </a:r>
          </a:p>
          <a:p>
            <a:r>
              <a:rPr lang="en-US" dirty="0"/>
              <a:t>Data Execution Prevention (DEP)</a:t>
            </a:r>
          </a:p>
          <a:p>
            <a:pPr lvl="1"/>
            <a:r>
              <a:rPr lang="en-US" dirty="0"/>
              <a:t>SO </a:t>
            </a:r>
            <a:r>
              <a:rPr lang="en-US" dirty="0" err="1"/>
              <a:t>și</a:t>
            </a:r>
            <a:r>
              <a:rPr lang="en-US" dirty="0"/>
              <a:t> MMU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47139-B22A-614E-9186-57C2C0F0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68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D372B-C3E1-0642-BD45-5E9F3B66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Canary Value (SSP)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619E1D-191B-DB4E-8256-6A2AC13BB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688" y="1600200"/>
            <a:ext cx="5466623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AF052-D707-3B48-A981-78187FFA4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77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694B5-4DF5-294D-A2D0-975E0401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 err="1"/>
              <a:t>Canary</a:t>
            </a:r>
            <a:r>
              <a:rPr lang="ro-RO" dirty="0"/>
              <a:t> </a:t>
            </a:r>
            <a:r>
              <a:rPr lang="ro-RO" dirty="0" err="1"/>
              <a:t>Value</a:t>
            </a:r>
            <a:r>
              <a:rPr lang="ro-RO" dirty="0"/>
              <a:t> (SSP) Bypass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558B0-FDB9-8B4D-A111-4E371D45F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folosind </a:t>
            </a:r>
            <a:r>
              <a:rPr lang="ro-RO" dirty="0" err="1"/>
              <a:t>fork</a:t>
            </a:r>
            <a:r>
              <a:rPr lang="ro-RO" dirty="0"/>
              <a:t> () – </a:t>
            </a:r>
            <a:r>
              <a:rPr lang="ro-RO" dirty="0" err="1"/>
              <a:t>canary</a:t>
            </a:r>
            <a:r>
              <a:rPr lang="ro-RO" dirty="0"/>
              <a:t> </a:t>
            </a:r>
            <a:r>
              <a:rPr lang="ro-RO" dirty="0" err="1"/>
              <a:t>value</a:t>
            </a:r>
            <a:r>
              <a:rPr lang="ro-RO" dirty="0"/>
              <a:t> este păstrată</a:t>
            </a:r>
          </a:p>
          <a:p>
            <a:r>
              <a:rPr lang="ro-RO" dirty="0"/>
              <a:t>server</a:t>
            </a:r>
          </a:p>
          <a:p>
            <a:pPr lvl="1"/>
            <a:r>
              <a:rPr lang="ro-RO" dirty="0" err="1"/>
              <a:t>fork</a:t>
            </a:r>
            <a:r>
              <a:rPr lang="ro-RO" dirty="0"/>
              <a:t> pentru fiecare conexiune</a:t>
            </a:r>
          </a:p>
          <a:p>
            <a:pPr lvl="1"/>
            <a:r>
              <a:rPr lang="ro-RO" dirty="0"/>
              <a:t>încercăm pe rând sa suprascriem câte un byte din </a:t>
            </a:r>
            <a:r>
              <a:rPr lang="ro-RO" dirty="0" err="1"/>
              <a:t>canary</a:t>
            </a:r>
            <a:r>
              <a:rPr lang="ro-RO" dirty="0"/>
              <a:t> </a:t>
            </a:r>
            <a:r>
              <a:rPr lang="ro-RO" dirty="0" err="1"/>
              <a:t>value</a:t>
            </a:r>
            <a:endParaRPr lang="ro-RO" dirty="0"/>
          </a:p>
          <a:p>
            <a:pPr lvl="1"/>
            <a:r>
              <a:rPr lang="ro-RO" dirty="0"/>
              <a:t>daca merge</a:t>
            </a:r>
          </a:p>
          <a:p>
            <a:pPr lvl="2"/>
            <a:r>
              <a:rPr lang="ro-RO" dirty="0"/>
              <a:t>primim răspuns de la server</a:t>
            </a:r>
          </a:p>
          <a:p>
            <a:pPr lvl="1"/>
            <a:r>
              <a:rPr lang="ro-RO" dirty="0"/>
              <a:t>dacă nu</a:t>
            </a:r>
          </a:p>
          <a:p>
            <a:pPr lvl="2"/>
            <a:r>
              <a:rPr lang="ro-RO" dirty="0" err="1"/>
              <a:t>segfault</a:t>
            </a:r>
            <a:r>
              <a:rPr lang="ro-RO" dirty="0"/>
              <a:t> (doar procesul pentru acea conexiune)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2B964-858B-F14E-9CE6-71BCDDD4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3359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3800-98C4-504C-AFF1-31C7511D1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Safe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51D3F-3310-944E-B887-D0BE4B537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Stivă separate pentru pointeri de întoarcere</a:t>
            </a:r>
          </a:p>
          <a:p>
            <a:r>
              <a:rPr lang="ro-RO"/>
              <a:t>WebAssembly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B5B02-2070-AD45-B8EE-5527BE27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8926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0776-21DB-5A41-879A-455AA75C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Data Execution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CBE51-7026-2F4F-9E12-A622C15A5D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 dirty="0"/>
              <a:t>Memoria are un bit pentru drepturi de execuție</a:t>
            </a:r>
          </a:p>
          <a:p>
            <a:r>
              <a:rPr lang="ro-RO" dirty="0"/>
              <a:t>MMU generează o excepție dacă se </a:t>
            </a:r>
            <a:r>
              <a:rPr lang="ro-RO" dirty="0" err="1"/>
              <a:t>înceracă</a:t>
            </a:r>
            <a:r>
              <a:rPr lang="ro-RO" dirty="0"/>
              <a:t> executarea de cod din zone fără drept de execuție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94EDD-4497-DC49-B346-39642B316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29</a:t>
            </a:fld>
            <a:endParaRPr lang="ro-RO"/>
          </a:p>
        </p:txBody>
      </p:sp>
      <p:pic>
        <p:nvPicPr>
          <p:cNvPr id="7" name="Content Placeholder 8" descr="program_in_memory2.png">
            <a:extLst>
              <a:ext uri="{FF2B5EF4-FFF2-40B4-BE49-F238E27FC236}">
                <a16:creationId xmlns:a16="http://schemas.microsoft.com/office/drawing/2014/main" id="{EA62E5F7-F020-DF46-9628-607BA70557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73" b="-1473"/>
          <a:stretch>
            <a:fillRect/>
          </a:stretch>
        </p:blipFill>
        <p:spPr>
          <a:xfrm>
            <a:off x="4648200" y="1888332"/>
            <a:ext cx="4038600" cy="3949698"/>
          </a:xfrm>
        </p:spPr>
      </p:pic>
    </p:spTree>
    <p:extLst>
      <p:ext uri="{BB962C8B-B14F-4D97-AF65-F5344CB8AC3E}">
        <p14:creationId xmlns:p14="http://schemas.microsoft.com/office/powerpoint/2010/main" val="18466468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A6056-4728-6448-B0B0-E8F68D10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ASLR / KASLR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5E095-B3CD-394F-BE16-249940019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dirty="0" err="1"/>
              <a:t>Address</a:t>
            </a:r>
            <a:r>
              <a:rPr lang="ro-RO" dirty="0"/>
              <a:t> </a:t>
            </a:r>
            <a:r>
              <a:rPr lang="ro-RO" dirty="0" err="1"/>
              <a:t>Space</a:t>
            </a:r>
            <a:r>
              <a:rPr lang="ro-RO" dirty="0"/>
              <a:t> Layout </a:t>
            </a:r>
            <a:r>
              <a:rPr lang="ro-RO" dirty="0" err="1"/>
              <a:t>Randomization</a:t>
            </a:r>
            <a:endParaRPr lang="ro-RO" dirty="0"/>
          </a:p>
          <a:p>
            <a:pPr lvl="1"/>
            <a:r>
              <a:rPr lang="ro-RO" dirty="0"/>
              <a:t>bibliotecile sunt încărcate la adrese diferite la fiecare rulare</a:t>
            </a:r>
          </a:p>
          <a:p>
            <a:pPr lvl="1"/>
            <a:r>
              <a:rPr lang="ro-RO" dirty="0"/>
              <a:t>zonele de memorie sunt încărcate la adrese diferite la fiecare rulare</a:t>
            </a:r>
          </a:p>
          <a:p>
            <a:pPr lvl="2"/>
            <a:r>
              <a:rPr lang="ro-RO" dirty="0"/>
              <a:t>pentru executabile cu PIE</a:t>
            </a:r>
          </a:p>
          <a:p>
            <a:endParaRPr lang="ro-RO" dirty="0"/>
          </a:p>
          <a:p>
            <a:r>
              <a:rPr lang="ro-RO" dirty="0" err="1"/>
              <a:t>Kernel</a:t>
            </a:r>
            <a:r>
              <a:rPr lang="ro-RO" dirty="0"/>
              <a:t> </a:t>
            </a:r>
            <a:r>
              <a:rPr lang="ro-RO" dirty="0" err="1"/>
              <a:t>Address</a:t>
            </a:r>
            <a:r>
              <a:rPr lang="ro-RO" dirty="0"/>
              <a:t> </a:t>
            </a:r>
            <a:r>
              <a:rPr lang="ro-RO" dirty="0" err="1"/>
              <a:t>Space</a:t>
            </a:r>
            <a:r>
              <a:rPr lang="ro-RO" dirty="0"/>
              <a:t> Layout </a:t>
            </a:r>
            <a:r>
              <a:rPr lang="ro-RO" dirty="0" err="1"/>
              <a:t>Randomization</a:t>
            </a:r>
            <a:endParaRPr lang="ro-RO" dirty="0"/>
          </a:p>
          <a:p>
            <a:pPr lvl="1"/>
            <a:r>
              <a:rPr lang="ro-RO" dirty="0"/>
              <a:t>driverele sunt </a:t>
            </a:r>
            <a:r>
              <a:rPr lang="ro-RO" dirty="0" err="1"/>
              <a:t>incărcate</a:t>
            </a:r>
            <a:r>
              <a:rPr lang="ro-RO" dirty="0"/>
              <a:t> la adrese </a:t>
            </a:r>
            <a:r>
              <a:rPr lang="ro-RO" dirty="0" err="1"/>
              <a:t>difierite</a:t>
            </a:r>
            <a:r>
              <a:rPr lang="ro-RO" dirty="0"/>
              <a:t> la fiecare rulare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F40E7-33C4-F64D-8ACC-8D46C11B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796325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5312-F79B-6F4A-995D-CB4A4E5D2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ASLR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3870B5-AD22-A343-B25C-7A0AC8D5C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700" y="2434431"/>
            <a:ext cx="4292600" cy="28575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171EE-44B3-C045-95B5-6C32D33EA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28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CA02-5984-3C4C-9378-C545DC8C7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Meltdown și spectre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30F31-4CEA-F146-95D6-784EBEDCC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ASLR și KASLR nu sunt foarte utile</a:t>
            </a:r>
          </a:p>
          <a:p>
            <a:r>
              <a:rPr lang="ro-RO"/>
              <a:t>Se putea folosi inclusv din JavaScript</a:t>
            </a:r>
          </a:p>
          <a:p>
            <a:r>
              <a:rPr lang="ro-RO"/>
              <a:t>Se bazează pe execuția speculativă a procesorului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8C945-8F28-1344-AF97-EF870913E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74704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2D0B9-8FC6-1A4B-ABAD-F0CE3D67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Meltdown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spectre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31630-AD3A-524D-A4A4-5F08C59AA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 *kernel = ... </a:t>
            </a:r>
            <a:r>
              <a:rPr lang="en-GB" sz="1400" dirty="0">
                <a:solidFill>
                  <a:srgbClr val="008000"/>
                </a:solidFill>
                <a:latin typeface="Menlo" panose="020B0609030804020204" pitchFamily="49" charset="0"/>
              </a:rPr>
              <a:t>// start of a kernel page</a:t>
            </a:r>
            <a:endParaRPr lang="en-GB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1400" dirty="0">
                <a:solidFill>
                  <a:srgbClr val="001080"/>
                </a:solidFill>
                <a:latin typeface="Menlo" panose="020B0609030804020204" pitchFamily="49" charset="0"/>
              </a:rPr>
              <a:t>array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1400" dirty="0">
                <a:solidFill>
                  <a:srgbClr val="098658"/>
                </a:solidFill>
                <a:latin typeface="Menlo" panose="020B0609030804020204" pitchFamily="49" charset="0"/>
              </a:rPr>
              <a:t>1024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*</a:t>
            </a:r>
            <a:r>
              <a:rPr lang="en-GB" sz="1400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en-GB" sz="1400" dirty="0">
                <a:solidFill>
                  <a:srgbClr val="001080"/>
                </a:solidFill>
                <a:latin typeface="Menlo" panose="020B0609030804020204" pitchFamily="49" charset="0"/>
              </a:rPr>
              <a:t>flush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1400" dirty="0">
                <a:solidFill>
                  <a:srgbClr val="098658"/>
                </a:solidFill>
                <a:latin typeface="Menlo" panose="020B0609030804020204" pitchFamily="49" charset="0"/>
              </a:rPr>
              <a:t>1024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*</a:t>
            </a:r>
            <a:r>
              <a:rPr lang="en-GB" sz="1400" dirty="0">
                <a:solidFill>
                  <a:srgbClr val="098658"/>
                </a:solidFill>
                <a:latin typeface="Menlo" panose="020B0609030804020204" pitchFamily="49" charset="0"/>
              </a:rPr>
              <a:t>4096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, n, p, s, t, 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t_max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GB" sz="14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 (p = </a:t>
            </a:r>
            <a:r>
              <a:rPr lang="en-GB" sz="1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; p &lt; </a:t>
            </a:r>
            <a:r>
              <a:rPr lang="en-GB" sz="1400" dirty="0">
                <a:solidFill>
                  <a:srgbClr val="098658"/>
                </a:solidFill>
                <a:latin typeface="Menlo" panose="020B0609030804020204" pitchFamily="49" charset="0"/>
              </a:rPr>
              <a:t>4096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; p++) {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AF00DB"/>
                </a:solidFill>
                <a:latin typeface="Menlo" panose="020B0609030804020204" pitchFamily="49" charset="0"/>
              </a:rPr>
              <a:t>	for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GB" sz="1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-GB" sz="1400" dirty="0">
                <a:solidFill>
                  <a:srgbClr val="098658"/>
                </a:solidFill>
                <a:latin typeface="Menlo" panose="020B0609030804020204" pitchFamily="49" charset="0"/>
              </a:rPr>
              <a:t>1024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*</a:t>
            </a:r>
            <a:r>
              <a:rPr lang="en-GB" sz="1400" dirty="0">
                <a:solidFill>
                  <a:srgbClr val="098658"/>
                </a:solidFill>
                <a:latin typeface="Menlo" panose="020B0609030804020204" pitchFamily="49" charset="0"/>
              </a:rPr>
              <a:t>4096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++) </a:t>
            </a:r>
            <a:r>
              <a:rPr lang="en-GB" sz="1400" dirty="0">
                <a:solidFill>
                  <a:srgbClr val="008000"/>
                </a:solidFill>
                <a:latin typeface="Menlo" panose="020B0609030804020204" pitchFamily="49" charset="0"/>
              </a:rPr>
              <a:t>// make sure to delete array from cache</a:t>
            </a:r>
            <a:endParaRPr lang="en-GB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001080"/>
                </a:solidFill>
                <a:latin typeface="Menlo" panose="020B0609030804020204" pitchFamily="49" charset="0"/>
              </a:rPr>
              <a:t>		flush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en-GB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GB" sz="1400" dirty="0">
                <a:solidFill>
                  <a:srgbClr val="008000"/>
                </a:solidFill>
                <a:latin typeface="Menlo" panose="020B0609030804020204" pitchFamily="49" charset="0"/>
              </a:rPr>
              <a:t>// stores in cache</a:t>
            </a:r>
            <a:b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GB" sz="1400" i="1" dirty="0">
                <a:solidFill>
                  <a:srgbClr val="000000"/>
                </a:solidFill>
                <a:latin typeface="Menlo" panose="020B0609030804020204" pitchFamily="49" charset="0"/>
              </a:rPr>
              <a:t>n = </a:t>
            </a:r>
            <a:r>
              <a:rPr lang="en-GB" sz="1400" i="1" dirty="0" err="1">
                <a:solidFill>
                  <a:srgbClr val="795E26"/>
                </a:solidFill>
                <a:latin typeface="Menlo" panose="020B0609030804020204" pitchFamily="49" charset="0"/>
              </a:rPr>
              <a:t>tse</a:t>
            </a:r>
            <a:r>
              <a:rPr lang="en-GB" sz="1400" i="1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1400" i="1" dirty="0">
                <a:solidFill>
                  <a:srgbClr val="001080"/>
                </a:solidFill>
                <a:latin typeface="Menlo" panose="020B0609030804020204" pitchFamily="49" charset="0"/>
              </a:rPr>
              <a:t>array</a:t>
            </a:r>
            <a:r>
              <a:rPr lang="en-GB" sz="1400" i="1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1400" i="1" dirty="0">
                <a:solidFill>
                  <a:srgbClr val="098658"/>
                </a:solidFill>
                <a:latin typeface="Menlo" panose="020B0609030804020204" pitchFamily="49" charset="0"/>
              </a:rPr>
              <a:t>1024 </a:t>
            </a:r>
            <a:r>
              <a:rPr lang="en-GB" sz="1400" i="1" dirty="0">
                <a:solidFill>
                  <a:srgbClr val="000000"/>
                </a:solidFill>
                <a:latin typeface="Menlo" panose="020B0609030804020204" pitchFamily="49" charset="0"/>
              </a:rPr>
              <a:t>* </a:t>
            </a:r>
            <a:r>
              <a:rPr lang="en-GB" sz="1400" i="1" dirty="0">
                <a:solidFill>
                  <a:srgbClr val="001080"/>
                </a:solidFill>
                <a:latin typeface="Menlo" panose="020B0609030804020204" pitchFamily="49" charset="0"/>
              </a:rPr>
              <a:t>kernel</a:t>
            </a:r>
            <a:r>
              <a:rPr lang="en-GB" sz="1400" i="1" dirty="0">
                <a:solidFill>
                  <a:srgbClr val="000000"/>
                </a:solidFill>
                <a:latin typeface="Menlo" panose="020B0609030804020204" pitchFamily="49" charset="0"/>
              </a:rPr>
              <a:t>[p]], </a:t>
            </a:r>
            <a:r>
              <a:rPr lang="en-GB" sz="1400" i="1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1400" i="1" dirty="0">
                <a:solidFill>
                  <a:srgbClr val="000000"/>
                </a:solidFill>
                <a:latin typeface="Menlo" panose="020B0609030804020204" pitchFamily="49" charset="0"/>
              </a:rPr>
              <a:t>); </a:t>
            </a:r>
            <a:r>
              <a:rPr lang="en-GB" sz="1400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-GB" sz="1400" dirty="0" err="1">
                <a:solidFill>
                  <a:srgbClr val="008000"/>
                </a:solidFill>
                <a:latin typeface="Menlo" panose="020B0609030804020204" pitchFamily="49" charset="0"/>
              </a:rPr>
              <a:t>tse</a:t>
            </a:r>
            <a:r>
              <a:rPr lang="en-GB" sz="1400" dirty="0">
                <a:solidFill>
                  <a:srgbClr val="008000"/>
                </a:solidFill>
                <a:latin typeface="Menlo" panose="020B0609030804020204" pitchFamily="49" charset="0"/>
              </a:rPr>
              <a:t> or </a:t>
            </a:r>
            <a:r>
              <a:rPr lang="en-GB" sz="1400" dirty="0" err="1">
                <a:solidFill>
                  <a:srgbClr val="008000"/>
                </a:solidFill>
                <a:latin typeface="Menlo" panose="020B0609030804020204" pitchFamily="49" charset="0"/>
              </a:rPr>
              <a:t>segfault</a:t>
            </a:r>
            <a:endParaRPr lang="en-GB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t_max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 = MAX_INT;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AF00DB"/>
                </a:solidFill>
                <a:latin typeface="Menlo" panose="020B0609030804020204" pitchFamily="49" charset="0"/>
              </a:rPr>
              <a:t>	for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GB" sz="1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-GB" sz="1400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++) {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		t = </a:t>
            </a:r>
            <a:r>
              <a:rPr lang="en-GB" sz="1400" dirty="0">
                <a:solidFill>
                  <a:srgbClr val="795E26"/>
                </a:solidFill>
                <a:latin typeface="Menlo" panose="020B0609030804020204" pitchFamily="49" charset="0"/>
              </a:rPr>
              <a:t>timing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GB" sz="1400" dirty="0">
                <a:solidFill>
                  <a:srgbClr val="001080"/>
                </a:solidFill>
                <a:latin typeface="Menlo" panose="020B0609030804020204" pitchFamily="49" charset="0"/>
              </a:rPr>
              <a:t>array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1400" dirty="0">
                <a:solidFill>
                  <a:srgbClr val="098658"/>
                </a:solidFill>
                <a:latin typeface="Menlo" panose="020B0609030804020204" pitchFamily="49" charset="0"/>
              </a:rPr>
              <a:t>1024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*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]);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		</a:t>
            </a:r>
            <a:r>
              <a:rPr lang="en-GB" sz="14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 (t &lt; 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t_max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			s = i; </a:t>
            </a:r>
            <a:r>
              <a:rPr lang="en-GB" sz="1400" dirty="0">
                <a:solidFill>
                  <a:srgbClr val="008000"/>
                </a:solidFill>
                <a:latin typeface="Menlo" panose="020B0609030804020204" pitchFamily="49" charset="0"/>
              </a:rPr>
              <a:t>// s is from the kernel</a:t>
            </a:r>
            <a:endParaRPr lang="en-GB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			</a:t>
            </a:r>
            <a:r>
              <a:rPr lang="en-GB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t_max</a:t>
            </a: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 = t;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		}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	}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A0FDD-6246-3341-92A9-752E2769F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C066C68-85FB-6740-B74E-2144AD18A626}"/>
              </a:ext>
            </a:extLst>
          </p:cNvPr>
          <p:cNvSpPr/>
          <p:nvPr/>
        </p:nvSpPr>
        <p:spPr>
          <a:xfrm>
            <a:off x="3657600" y="3863340"/>
            <a:ext cx="990600" cy="251460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B7DDB51-C92D-E744-99F5-5DA4BA4F0D20}"/>
              </a:ext>
            </a:extLst>
          </p:cNvPr>
          <p:cNvSpPr/>
          <p:nvPr/>
        </p:nvSpPr>
        <p:spPr>
          <a:xfrm>
            <a:off x="4800600" y="4800600"/>
            <a:ext cx="152400" cy="304800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1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633DF-03F7-724A-B329-894BC6A62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Moduri de depanare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157C-C8E0-5945-981B-04FA719DF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analiză static (compilator sau antivirus)</a:t>
            </a:r>
          </a:p>
          <a:p>
            <a:endParaRPr lang="ro-RO" dirty="0"/>
          </a:p>
          <a:p>
            <a:r>
              <a:rPr lang="ro-RO" dirty="0"/>
              <a:t>analiză dinamică (antivirus)</a:t>
            </a:r>
          </a:p>
          <a:p>
            <a:endParaRPr lang="ro-RO" dirty="0"/>
          </a:p>
          <a:p>
            <a:pPr lvl="1"/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7F8DB-91F4-5E43-B9DC-D0D85ABA8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745285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EC20-EF0F-7F42-A503-3B3285C04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Utilitare pentru depanare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A19F-6D50-3648-AEA6-1A0A231A2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err="1"/>
              <a:t>Valgrind</a:t>
            </a:r>
            <a:endParaRPr lang="ro-RO" dirty="0"/>
          </a:p>
          <a:p>
            <a:r>
              <a:rPr lang="ro-RO" dirty="0"/>
              <a:t>Electric </a:t>
            </a:r>
            <a:r>
              <a:rPr lang="ro-RO" dirty="0" err="1"/>
              <a:t>Fence</a:t>
            </a:r>
            <a:endParaRPr lang="ro-RO" dirty="0"/>
          </a:p>
          <a:p>
            <a:r>
              <a:rPr lang="ro-RO" dirty="0" err="1"/>
              <a:t>Address</a:t>
            </a:r>
            <a:r>
              <a:rPr lang="ro-RO" dirty="0"/>
              <a:t> </a:t>
            </a:r>
            <a:r>
              <a:rPr lang="ro-RO" dirty="0" err="1"/>
              <a:t>Sanitizer</a:t>
            </a:r>
            <a:endParaRPr lang="ro-RO" dirty="0"/>
          </a:p>
          <a:p>
            <a:endParaRPr lang="ro-RO" dirty="0"/>
          </a:p>
          <a:p>
            <a:r>
              <a:rPr lang="en-US" dirty="0" err="1"/>
              <a:t>Înlocuiesc</a:t>
            </a:r>
            <a:r>
              <a:rPr lang="en-US" dirty="0"/>
              <a:t> </a:t>
            </a:r>
            <a:r>
              <a:rPr lang="en-US" i="1" dirty="0"/>
              <a:t>malloc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i="1" dirty="0"/>
              <a:t>free</a:t>
            </a:r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C4431-FB2B-E84B-A75C-37F2D77C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275021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23ED5-04BD-1946-B1F2-C2C16BA6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Valgrind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3F8E9-2552-214D-A40E-93F779137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Analiză dinamică</a:t>
            </a:r>
          </a:p>
          <a:p>
            <a:endParaRPr lang="ro-RO" dirty="0"/>
          </a:p>
          <a:p>
            <a:r>
              <a:rPr lang="ro-RO" dirty="0"/>
              <a:t>Numără </a:t>
            </a:r>
            <a:r>
              <a:rPr lang="ro-RO" i="1" dirty="0" err="1"/>
              <a:t>malloc</a:t>
            </a:r>
            <a:r>
              <a:rPr lang="ro-RO" dirty="0"/>
              <a:t>-uri și </a:t>
            </a:r>
            <a:r>
              <a:rPr lang="ro-RO" i="1" dirty="0" err="1"/>
              <a:t>free</a:t>
            </a:r>
            <a:r>
              <a:rPr lang="ro-RO" dirty="0"/>
              <a:t>-uri</a:t>
            </a:r>
          </a:p>
          <a:p>
            <a:endParaRPr lang="ro-RO" dirty="0"/>
          </a:p>
          <a:p>
            <a:r>
              <a:rPr lang="ro-RO" dirty="0"/>
              <a:t>Verifică să fie un </a:t>
            </a:r>
            <a:r>
              <a:rPr lang="ro-RO" i="1" dirty="0" err="1"/>
              <a:t>free</a:t>
            </a:r>
            <a:r>
              <a:rPr lang="ro-RO" dirty="0"/>
              <a:t> pentru fiecare </a:t>
            </a:r>
            <a:r>
              <a:rPr lang="ro-RO" i="1" dirty="0" err="1"/>
              <a:t>malloc</a:t>
            </a:r>
            <a:endParaRPr lang="ro-RO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E4F6-A340-9B4B-88A4-067D1FC7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200901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B2EF-086F-0E4B-A33C-78A1F656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Electric Fence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7086-312A-4B47-968F-053A1CD2E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analiză dinamică</a:t>
            </a:r>
          </a:p>
          <a:p>
            <a:endParaRPr lang="ro-RO"/>
          </a:p>
          <a:p>
            <a:r>
              <a:rPr lang="ro-RO"/>
              <a:t>mapează memoria alocată la limita de pagină</a:t>
            </a:r>
          </a:p>
          <a:p>
            <a:pPr lvl="1"/>
            <a:r>
              <a:rPr lang="ro-RO"/>
              <a:t>o scriere în afară sau înainte va genera page fault</a:t>
            </a:r>
          </a:p>
          <a:p>
            <a:endParaRPr lang="ro-RO">
              <a:solidFill>
                <a:srgbClr val="FF0000"/>
              </a:solidFill>
            </a:endParaRPr>
          </a:p>
          <a:p>
            <a:r>
              <a:rPr lang="ro-RO">
                <a:solidFill>
                  <a:srgbClr val="FF0000"/>
                </a:solidFill>
              </a:rPr>
              <a:t>memorie multă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A8E5E-D03B-CC4C-B5B6-D579A054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529124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9FCFF-2C82-FA45-BDA1-6F83FE331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Address Sanitizer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5BB51-14A8-E247-A6B6-30ACC84C0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Analiză statică și analiză dinamică</a:t>
            </a:r>
          </a:p>
          <a:p>
            <a:endParaRPr lang="ro-RO" i="1"/>
          </a:p>
          <a:p>
            <a:r>
              <a:rPr lang="ro-RO" i="1"/>
              <a:t>Optimizare</a:t>
            </a:r>
            <a:r>
              <a:rPr lang="ro-RO"/>
              <a:t> în compilator</a:t>
            </a:r>
          </a:p>
          <a:p>
            <a:endParaRPr lang="ro-RO" i="1"/>
          </a:p>
          <a:p>
            <a:r>
              <a:rPr lang="ro-RO" i="1"/>
              <a:t>Runtime</a:t>
            </a:r>
            <a:endParaRPr lang="ro-RO"/>
          </a:p>
          <a:p>
            <a:endParaRPr lang="ro-RO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3BCAC-31EA-5348-BFDE-9018AAA3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78137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3148-B153-034F-A701-1A04A9E15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Address Sanitizer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89498A-283E-0E4C-9168-15A6BBC3F5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/>
              <a:t>Pentru fiecare obiect alocat, pune două zone roșii, </a:t>
            </a:r>
          </a:p>
          <a:p>
            <a:pPr lvl="1"/>
            <a:r>
              <a:rPr lang="ro-RO"/>
              <a:t>una înainte</a:t>
            </a:r>
          </a:p>
          <a:p>
            <a:pPr lvl="1"/>
            <a:r>
              <a:rPr lang="ro-RO"/>
              <a:t>una după</a:t>
            </a:r>
          </a:p>
          <a:p>
            <a:r>
              <a:rPr lang="ro-RO"/>
              <a:t>Accesul în zona roșie generează segmentation fault</a:t>
            </a:r>
          </a:p>
          <a:p>
            <a:endParaRPr lang="ro-RO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596FB-D1EC-7744-A310-51186A36C7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652A4-5FC5-034E-837D-D91E30CC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39</a:t>
            </a:fld>
            <a:endParaRPr lang="ro-R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BA0415-D739-2B4E-87DA-176C6F1E4BB8}"/>
              </a:ext>
            </a:extLst>
          </p:cNvPr>
          <p:cNvSpPr/>
          <p:nvPr/>
        </p:nvSpPr>
        <p:spPr>
          <a:xfrm>
            <a:off x="5562600" y="2667000"/>
            <a:ext cx="22098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/>
              <a:t>Memorie Alocată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58B6E0-1AD7-5F47-BC0F-70B729FEBA9D}"/>
              </a:ext>
            </a:extLst>
          </p:cNvPr>
          <p:cNvSpPr/>
          <p:nvPr/>
        </p:nvSpPr>
        <p:spPr>
          <a:xfrm>
            <a:off x="5562600" y="2286000"/>
            <a:ext cx="2209800" cy="3761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/>
              <a:t>Zonă roșie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6E8203-7BDB-BA44-9570-1E811627EF70}"/>
              </a:ext>
            </a:extLst>
          </p:cNvPr>
          <p:cNvSpPr/>
          <p:nvPr/>
        </p:nvSpPr>
        <p:spPr>
          <a:xfrm>
            <a:off x="5562600" y="3433824"/>
            <a:ext cx="2209800" cy="3761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/>
              <a:t>Zonă roșie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2E3494-8F45-3547-928E-4D5663D7B39A}"/>
              </a:ext>
            </a:extLst>
          </p:cNvPr>
          <p:cNvSpPr/>
          <p:nvPr/>
        </p:nvSpPr>
        <p:spPr>
          <a:xfrm>
            <a:off x="5562600" y="4881623"/>
            <a:ext cx="2209800" cy="6047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/>
              <a:t>Shaddow 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F28215-088D-F443-9C31-77D0DA94C67A}"/>
              </a:ext>
            </a:extLst>
          </p:cNvPr>
          <p:cNvSpPr/>
          <p:nvPr/>
        </p:nvSpPr>
        <p:spPr>
          <a:xfrm>
            <a:off x="5562600" y="3814825"/>
            <a:ext cx="2209800" cy="10667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/>
              <a:t>Spațiu liber</a:t>
            </a:r>
          </a:p>
        </p:txBody>
      </p:sp>
    </p:spTree>
    <p:extLst>
      <p:ext uri="{BB962C8B-B14F-4D97-AF65-F5344CB8AC3E}">
        <p14:creationId xmlns:p14="http://schemas.microsoft.com/office/powerpoint/2010/main" val="15512003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FD4DF-90A7-F849-9047-9E0DC6AD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Address Sanitizer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93E7-C6D6-264B-AF5E-91EF9A8B1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Shadow Memory</a:t>
            </a:r>
          </a:p>
          <a:p>
            <a:pPr lvl="1"/>
            <a:r>
              <a:rPr lang="ro-RO"/>
              <a:t>8 bytes -&gt; 1 byte</a:t>
            </a:r>
          </a:p>
          <a:p>
            <a:pPr lvl="1"/>
            <a:endParaRPr lang="ro-RO"/>
          </a:p>
          <a:p>
            <a:r>
              <a:rPr lang="ro-RO"/>
              <a:t>Reguli</a:t>
            </a:r>
          </a:p>
          <a:p>
            <a:pPr lvl="1"/>
            <a:r>
              <a:rPr lang="ro-RO"/>
              <a:t>0 – memorie accesibilă</a:t>
            </a:r>
          </a:p>
          <a:p>
            <a:pPr lvl="1"/>
            <a:r>
              <a:rPr lang="ro-RO"/>
              <a:t>&lt; 0 – memorie inaccesibilă (8 bytes)</a:t>
            </a:r>
          </a:p>
          <a:p>
            <a:pPr lvl="1"/>
            <a:r>
              <a:rPr lang="ro-RO"/>
              <a:t>k -&gt; primii k bytes sunt inaccesibili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E36B1-A8C5-7641-87FF-F9374065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844869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BC690-B3B1-0A40-BA56-84DEF1AB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Accesul în memorie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47500E-B59D-6246-B8BD-0C6C6139C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*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address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= ...; </a:t>
            </a:r>
            <a:r>
              <a:rPr lang="ro-RO" sz="2200" dirty="0">
                <a:solidFill>
                  <a:srgbClr val="008000"/>
                </a:solidFill>
                <a:latin typeface="Menlo" panose="020B0609030804020204" pitchFamily="49" charset="0"/>
              </a:rPr>
              <a:t>// or: ... = *</a:t>
            </a:r>
            <a:r>
              <a:rPr lang="ro-RO" sz="2200" dirty="0" err="1">
                <a:solidFill>
                  <a:srgbClr val="008000"/>
                </a:solidFill>
                <a:latin typeface="Menlo" panose="020B0609030804020204" pitchFamily="49" charset="0"/>
              </a:rPr>
              <a:t>address</a:t>
            </a:r>
            <a:r>
              <a:rPr lang="ro-RO" sz="2200" dirty="0">
                <a:solidFill>
                  <a:srgbClr val="008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ro-RO" sz="2400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200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200" dirty="0" err="1">
                <a:solidFill>
                  <a:srgbClr val="795E26"/>
                </a:solidFill>
                <a:latin typeface="Menlo" panose="020B0609030804020204" pitchFamily="49" charset="0"/>
              </a:rPr>
              <a:t>IsPoisoned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address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)) {</a:t>
            </a:r>
          </a:p>
          <a:p>
            <a:pPr marL="0" indent="0">
              <a:buNone/>
            </a:pPr>
            <a:r>
              <a:rPr lang="ro-RO" sz="2200" dirty="0">
                <a:solidFill>
                  <a:srgbClr val="795E26"/>
                </a:solidFill>
                <a:latin typeface="Menlo" panose="020B0609030804020204" pitchFamily="49" charset="0"/>
              </a:rPr>
              <a:t>	</a:t>
            </a:r>
            <a:r>
              <a:rPr lang="ro-RO" sz="2200" dirty="0" err="1">
                <a:solidFill>
                  <a:srgbClr val="795E26"/>
                </a:solidFill>
                <a:latin typeface="Menlo" panose="020B0609030804020204" pitchFamily="49" charset="0"/>
              </a:rPr>
              <a:t>ReportError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address,kAccessSize,kIsWrite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*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address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= ...; </a:t>
            </a:r>
            <a:r>
              <a:rPr lang="ro-RO" sz="2200" dirty="0">
                <a:solidFill>
                  <a:srgbClr val="008000"/>
                </a:solidFill>
                <a:latin typeface="Menlo" panose="020B0609030804020204" pitchFamily="49" charset="0"/>
              </a:rPr>
              <a:t>// or: ... = *</a:t>
            </a:r>
            <a:r>
              <a:rPr lang="ro-RO" sz="2200" dirty="0" err="1">
                <a:solidFill>
                  <a:srgbClr val="008000"/>
                </a:solidFill>
                <a:latin typeface="Menlo" panose="020B0609030804020204" pitchFamily="49" charset="0"/>
              </a:rPr>
              <a:t>address</a:t>
            </a:r>
            <a:r>
              <a:rPr lang="ro-RO" sz="2200" dirty="0">
                <a:solidFill>
                  <a:srgbClr val="008000"/>
                </a:solidFill>
                <a:latin typeface="Menlo" panose="020B0609030804020204" pitchFamily="49" charset="0"/>
              </a:rPr>
              <a:t>;</a:t>
            </a:r>
            <a:endParaRPr lang="ro-RO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5007E-4789-DA44-BEA6-220EAB09B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72232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29DD-8C08-9F44-A45D-0E6568532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Accesul în stiva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8688D-6E0A-9243-BAF2-60A424A54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Menlo" panose="020B0609030804020204" pitchFamily="49" charset="0"/>
              </a:rPr>
              <a:t>	char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200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200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	...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AF00DB"/>
                </a:solidFill>
                <a:latin typeface="Menlo" panose="020B0609030804020204" pitchFamily="49" charset="0"/>
              </a:rPr>
              <a:t>	return</a:t>
            </a: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2200" dirty="0"/>
          </a:p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	char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1080"/>
                </a:solidFill>
                <a:latin typeface="Menlo" panose="020B0609030804020204" pitchFamily="49" charset="0"/>
              </a:rPr>
              <a:t>redzone1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32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];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32-byte aligned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	char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];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32-byte aligned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	char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1080"/>
                </a:solidFill>
                <a:latin typeface="Menlo" panose="020B0609030804020204" pitchFamily="49" charset="0"/>
              </a:rPr>
              <a:t>redzone2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24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	char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>
                <a:solidFill>
                  <a:srgbClr val="001080"/>
                </a:solidFill>
                <a:latin typeface="Menlo" panose="020B0609030804020204" pitchFamily="49" charset="0"/>
              </a:rPr>
              <a:t>redzone3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32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];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32-byte aligned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	int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en-GB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shadow_base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GB" sz="2400" dirty="0" err="1">
                <a:solidFill>
                  <a:srgbClr val="795E26"/>
                </a:solidFill>
                <a:latin typeface="Menlo" panose="020B0609030804020204" pitchFamily="49" charset="0"/>
              </a:rPr>
              <a:t>MemToShadow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(redzone1);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1080"/>
                </a:solidFill>
                <a:latin typeface="Menlo" panose="020B0609030804020204" pitchFamily="49" charset="0"/>
              </a:rPr>
              <a:t>	</a:t>
            </a:r>
            <a:r>
              <a:rPr lang="en-GB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shadow_base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0xffffffff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poison redzone1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1080"/>
                </a:solidFill>
                <a:latin typeface="Menlo" panose="020B0609030804020204" pitchFamily="49" charset="0"/>
              </a:rPr>
              <a:t>	</a:t>
            </a:r>
            <a:r>
              <a:rPr lang="en-GB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shadow_base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0xffffff00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poison redzone2, </a:t>
            </a:r>
            <a:r>
              <a:rPr lang="en-GB" sz="2400" dirty="0" err="1">
                <a:solidFill>
                  <a:srgbClr val="008000"/>
                </a:solidFill>
                <a:latin typeface="Menlo" panose="020B0609030804020204" pitchFamily="49" charset="0"/>
              </a:rPr>
              <a:t>unpoison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 'a’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1080"/>
                </a:solidFill>
                <a:latin typeface="Menlo" panose="020B0609030804020204" pitchFamily="49" charset="0"/>
              </a:rPr>
              <a:t>	</a:t>
            </a:r>
            <a:r>
              <a:rPr lang="en-GB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shadow_base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0xffffffff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poison redzone3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	...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1080"/>
                </a:solidFill>
                <a:latin typeface="Menlo" panose="020B0609030804020204" pitchFamily="49" charset="0"/>
              </a:rPr>
              <a:t>	</a:t>
            </a:r>
            <a:r>
              <a:rPr lang="en-GB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shadow_base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-GB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shadow_base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-GB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shadow_base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-GB" sz="2400" dirty="0" err="1">
                <a:solidFill>
                  <a:srgbClr val="008000"/>
                </a:solidFill>
                <a:latin typeface="Menlo" panose="020B0609030804020204" pitchFamily="49" charset="0"/>
              </a:rPr>
              <a:t>unpoison</a:t>
            </a:r>
            <a:r>
              <a:rPr lang="en-GB" sz="2400" dirty="0">
                <a:solidFill>
                  <a:srgbClr val="008000"/>
                </a:solidFill>
                <a:latin typeface="Menlo" panose="020B0609030804020204" pitchFamily="49" charset="0"/>
              </a:rPr>
              <a:t> all</a:t>
            </a:r>
            <a:endParaRPr lang="en-GB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AF00DB"/>
                </a:solidFill>
                <a:latin typeface="Menlo" panose="020B0609030804020204" pitchFamily="49" charset="0"/>
              </a:rPr>
              <a:t>	return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BD8CC-4098-1F44-A432-6F24AB955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480048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E074-F123-2F47-9BA7-3B277BAB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Address Sanitizer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7E0A1-5BE0-3943-BCCF-90C5875FD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solidFill>
                  <a:srgbClr val="FF0000"/>
                </a:solidFill>
              </a:rPr>
              <a:t>e lent</a:t>
            </a:r>
          </a:p>
          <a:p>
            <a:pPr lvl="1"/>
            <a:r>
              <a:rPr lang="ro-RO" dirty="0"/>
              <a:t>mai rapid decât </a:t>
            </a:r>
            <a:r>
              <a:rPr lang="ro-RO" dirty="0" err="1"/>
              <a:t>valgrind</a:t>
            </a:r>
            <a:endParaRPr lang="ro-RO" dirty="0"/>
          </a:p>
          <a:p>
            <a:endParaRPr lang="ro-RO" dirty="0">
              <a:solidFill>
                <a:srgbClr val="FF0000"/>
              </a:solidFill>
            </a:endParaRPr>
          </a:p>
          <a:p>
            <a:r>
              <a:rPr lang="ro-RO" dirty="0">
                <a:solidFill>
                  <a:srgbClr val="FF0000"/>
                </a:solidFill>
              </a:rPr>
              <a:t>e </a:t>
            </a:r>
            <a:r>
              <a:rPr lang="ro-RO" dirty="0" err="1">
                <a:solidFill>
                  <a:srgbClr val="FF0000"/>
                </a:solidFill>
              </a:rPr>
              <a:t>inefficient</a:t>
            </a:r>
            <a:endParaRPr lang="ro-RO" dirty="0">
              <a:solidFill>
                <a:srgbClr val="FF0000"/>
              </a:solidFill>
            </a:endParaRPr>
          </a:p>
          <a:p>
            <a:pPr lvl="1"/>
            <a:r>
              <a:rPr lang="ro-RO" dirty="0"/>
              <a:t>mai eficient decât electric </a:t>
            </a:r>
            <a:r>
              <a:rPr lang="ro-RO" dirty="0" err="1"/>
              <a:t>fence</a:t>
            </a:r>
            <a:endParaRPr lang="ro-RO" dirty="0"/>
          </a:p>
          <a:p>
            <a:endParaRPr lang="ro-RO" dirty="0">
              <a:solidFill>
                <a:srgbClr val="92D050"/>
              </a:solidFill>
            </a:endParaRPr>
          </a:p>
          <a:p>
            <a:r>
              <a:rPr lang="ro-RO" dirty="0">
                <a:solidFill>
                  <a:srgbClr val="92D050"/>
                </a:solidFill>
              </a:rPr>
              <a:t>folosit la depanare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8081F-DC48-CD4C-AB99-EA175BCD7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02754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5F41-FAED-C04E-8FB3-EDE0B80C1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Soluții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578FD-9D42-3D4A-81B4-6B2E08082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Folosirea limbajelor care au management de memorie automat</a:t>
            </a:r>
          </a:p>
          <a:p>
            <a:pPr lvl="1"/>
            <a:r>
              <a:rPr lang="ro-RO" dirty="0" err="1"/>
              <a:t>Objective</a:t>
            </a:r>
            <a:r>
              <a:rPr lang="ro-RO" dirty="0"/>
              <a:t>-C, Swift, </a:t>
            </a:r>
            <a:r>
              <a:rPr lang="ro-RO" dirty="0" err="1"/>
              <a:t>Rust</a:t>
            </a:r>
            <a:endParaRPr lang="ro-RO" dirty="0"/>
          </a:p>
          <a:p>
            <a:r>
              <a:rPr lang="ro-RO" dirty="0"/>
              <a:t>Folosirea limbajelor de nivel înalt</a:t>
            </a:r>
          </a:p>
          <a:p>
            <a:pPr lvl="1"/>
            <a:r>
              <a:rPr lang="ro-RO" dirty="0" err="1"/>
              <a:t>NodeJS</a:t>
            </a:r>
            <a:r>
              <a:rPr lang="ro-RO" dirty="0"/>
              <a:t>, </a:t>
            </a:r>
            <a:r>
              <a:rPr lang="ro-RO" dirty="0" err="1"/>
              <a:t>Python</a:t>
            </a:r>
            <a:r>
              <a:rPr lang="ro-RO" dirty="0"/>
              <a:t>, </a:t>
            </a:r>
            <a:r>
              <a:rPr lang="ro-RO" dirty="0" err="1"/>
              <a:t>Go</a:t>
            </a:r>
            <a:r>
              <a:rPr lang="ro-RO" dirty="0"/>
              <a:t>, C#, </a:t>
            </a:r>
            <a:r>
              <a:rPr lang="ro-RO" dirty="0" err="1"/>
              <a:t>Kotlin</a:t>
            </a:r>
            <a:r>
              <a:rPr lang="ro-RO" dirty="0"/>
              <a:t>, Java</a:t>
            </a:r>
          </a:p>
          <a:p>
            <a:pPr lvl="1"/>
            <a:r>
              <a:rPr lang="ro-RO" dirty="0" err="1"/>
              <a:t>garbage</a:t>
            </a:r>
            <a:r>
              <a:rPr lang="ro-RO" dirty="0"/>
              <a:t> </a:t>
            </a:r>
            <a:r>
              <a:rPr lang="ro-RO" dirty="0" err="1"/>
              <a:t>collection</a:t>
            </a: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63F39-BD16-4D4D-AAB6-377AD437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240769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B73-C1D8-6E4E-960E-A5F8AEE1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Cuvinte cheie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A09-3FE2-C24B-BBE4-875AD97C2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o-RO"/>
              <a:t>Use after free </a:t>
            </a:r>
          </a:p>
          <a:p>
            <a:r>
              <a:rPr lang="ro-RO"/>
              <a:t>buffer overflow</a:t>
            </a:r>
          </a:p>
          <a:p>
            <a:r>
              <a:rPr lang="ro-RO"/>
              <a:t>use after return</a:t>
            </a:r>
          </a:p>
          <a:p>
            <a:r>
              <a:rPr lang="ro-RO"/>
              <a:t>use after scope</a:t>
            </a:r>
          </a:p>
          <a:p>
            <a:r>
              <a:rPr lang="ro-RO"/>
              <a:t>initialization order bugs</a:t>
            </a:r>
          </a:p>
          <a:p>
            <a:r>
              <a:rPr lang="ro-RO"/>
              <a:t>memory leaks</a:t>
            </a:r>
          </a:p>
          <a:p>
            <a:r>
              <a:rPr lang="ro-RO"/>
              <a:t>canary value</a:t>
            </a:r>
          </a:p>
          <a:p>
            <a:r>
              <a:rPr lang="ro-RO"/>
              <a:t>stack smashing</a:t>
            </a:r>
          </a:p>
          <a:p>
            <a:pPr marL="0" indent="0">
              <a:buNone/>
            </a:pPr>
            <a:endParaRPr lang="ro-RO"/>
          </a:p>
          <a:p>
            <a:endParaRPr lang="ro-RO"/>
          </a:p>
          <a:p>
            <a:endParaRPr lang="ro-RO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EF27B-A32E-9D4E-80A0-865F8996C9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o-RO"/>
              <a:t>ASLR</a:t>
            </a:r>
          </a:p>
          <a:p>
            <a:r>
              <a:rPr lang="ro-RO"/>
              <a:t>KASLR </a:t>
            </a:r>
          </a:p>
          <a:p>
            <a:r>
              <a:rPr lang="ro-RO"/>
              <a:t>safe stack</a:t>
            </a:r>
          </a:p>
          <a:p>
            <a:r>
              <a:rPr lang="ro-RO"/>
              <a:t>valgrind</a:t>
            </a:r>
          </a:p>
          <a:p>
            <a:r>
              <a:rPr lang="ro-RO"/>
              <a:t>electric fence</a:t>
            </a:r>
          </a:p>
          <a:p>
            <a:r>
              <a:rPr lang="ro-RO"/>
              <a:t>address sanitizer</a:t>
            </a:r>
          </a:p>
          <a:p>
            <a:r>
              <a:rPr lang="ro-RO"/>
              <a:t>shadow memory</a:t>
            </a:r>
          </a:p>
          <a:p>
            <a:r>
              <a:rPr lang="ro-RO"/>
              <a:t>runtime</a:t>
            </a:r>
          </a:p>
          <a:p>
            <a:endParaRPr lang="ro-RO"/>
          </a:p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111B-0DD8-2549-A040-29FA546D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125371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Întrebări</a:t>
            </a:r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94071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15020</TotalTime>
  <Words>1593</Words>
  <Application>Microsoft Macintosh PowerPoint</Application>
  <PresentationFormat>On-screen Show (4:3)</PresentationFormat>
  <Paragraphs>361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Menlo</vt:lpstr>
      <vt:lpstr>Office Theme</vt:lpstr>
      <vt:lpstr>Sisteme de operare</vt:lpstr>
      <vt:lpstr>Cuprins</vt:lpstr>
      <vt:lpstr>Bibliografie</vt:lpstr>
      <vt:lpstr>Este ilegal!</vt:lpstr>
      <vt:lpstr>Probleme de memorie</vt:lpstr>
      <vt:lpstr>Use after free</vt:lpstr>
      <vt:lpstr>Heap buffer overflow</vt:lpstr>
      <vt:lpstr>Stack buffer overflow</vt:lpstr>
      <vt:lpstr>Global buffer overflow</vt:lpstr>
      <vt:lpstr>Use after return</vt:lpstr>
      <vt:lpstr>Use after scope</vt:lpstr>
      <vt:lpstr>Initialization order</vt:lpstr>
      <vt:lpstr>Memory leaks</vt:lpstr>
      <vt:lpstr>Use of gets()</vt:lpstr>
      <vt:lpstr>Use of printf</vt:lpstr>
      <vt:lpstr>Exploatarea probelemelor</vt:lpstr>
      <vt:lpstr>Buffer overflow</vt:lpstr>
      <vt:lpstr>Shellcode</vt:lpstr>
      <vt:lpstr>Exemplu de shellcode</vt:lpstr>
      <vt:lpstr>Return Oriented Programming</vt:lpstr>
      <vt:lpstr>Exemple de ROP</vt:lpstr>
      <vt:lpstr>Stack Pointer și Frame (Base) Pointer</vt:lpstr>
      <vt:lpstr>Stack frame</vt:lpstr>
      <vt:lpstr>Stack Smashing</vt:lpstr>
      <vt:lpstr>Soluții Stack Smashing</vt:lpstr>
      <vt:lpstr>Canary Value (SSP)</vt:lpstr>
      <vt:lpstr>Canary Value (SSP) Bypass</vt:lpstr>
      <vt:lpstr>Safe Stack</vt:lpstr>
      <vt:lpstr>Data Execution Prevention</vt:lpstr>
      <vt:lpstr>ASLR / KASLR</vt:lpstr>
      <vt:lpstr>ASLR</vt:lpstr>
      <vt:lpstr>Meltdown și spectre</vt:lpstr>
      <vt:lpstr>Meltdown și spectre</vt:lpstr>
      <vt:lpstr>Moduri de depanare</vt:lpstr>
      <vt:lpstr>Utilitare pentru depanare</vt:lpstr>
      <vt:lpstr>Valgrind</vt:lpstr>
      <vt:lpstr>Electric Fence</vt:lpstr>
      <vt:lpstr>Address Sanitizer</vt:lpstr>
      <vt:lpstr>Address Sanitizer</vt:lpstr>
      <vt:lpstr>Address Sanitizer</vt:lpstr>
      <vt:lpstr>Accesul în memorie</vt:lpstr>
      <vt:lpstr>Accesul în stiva</vt:lpstr>
      <vt:lpstr>Address Sanitizer</vt:lpstr>
      <vt:lpstr>Soluții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1283</cp:revision>
  <dcterms:created xsi:type="dcterms:W3CDTF">2010-02-23T11:53:40Z</dcterms:created>
  <dcterms:modified xsi:type="dcterms:W3CDTF">2020-08-02T10:08:16Z</dcterms:modified>
</cp:coreProperties>
</file>