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7" r:id="rId2"/>
    <p:sldId id="403" r:id="rId3"/>
    <p:sldId id="466" r:id="rId4"/>
    <p:sldId id="569" r:id="rId5"/>
    <p:sldId id="570" r:id="rId6"/>
    <p:sldId id="572" r:id="rId7"/>
    <p:sldId id="573" r:id="rId8"/>
    <p:sldId id="574" r:id="rId9"/>
    <p:sldId id="575" r:id="rId10"/>
    <p:sldId id="576" r:id="rId11"/>
    <p:sldId id="577" r:id="rId12"/>
    <p:sldId id="578" r:id="rId13"/>
    <p:sldId id="579" r:id="rId14"/>
    <p:sldId id="581" r:id="rId15"/>
    <p:sldId id="582" r:id="rId16"/>
    <p:sldId id="583" r:id="rId17"/>
    <p:sldId id="584" r:id="rId18"/>
    <p:sldId id="605" r:id="rId19"/>
    <p:sldId id="640" r:id="rId20"/>
    <p:sldId id="606" r:id="rId21"/>
    <p:sldId id="607" r:id="rId22"/>
    <p:sldId id="608" r:id="rId23"/>
    <p:sldId id="609" r:id="rId24"/>
    <p:sldId id="610" r:id="rId25"/>
    <p:sldId id="611" r:id="rId26"/>
    <p:sldId id="612" r:id="rId27"/>
    <p:sldId id="614" r:id="rId28"/>
    <p:sldId id="615" r:id="rId29"/>
    <p:sldId id="616" r:id="rId30"/>
    <p:sldId id="617" r:id="rId31"/>
    <p:sldId id="630" r:id="rId32"/>
    <p:sldId id="618" r:id="rId33"/>
    <p:sldId id="619" r:id="rId34"/>
    <p:sldId id="620" r:id="rId35"/>
    <p:sldId id="621" r:id="rId36"/>
    <p:sldId id="622" r:id="rId37"/>
    <p:sldId id="623" r:id="rId38"/>
    <p:sldId id="624" r:id="rId39"/>
    <p:sldId id="625" r:id="rId40"/>
    <p:sldId id="627" r:id="rId41"/>
    <p:sldId id="626" r:id="rId42"/>
    <p:sldId id="613" r:id="rId43"/>
    <p:sldId id="628" r:id="rId44"/>
    <p:sldId id="629" r:id="rId45"/>
    <p:sldId id="631" r:id="rId46"/>
    <p:sldId id="518" r:id="rId47"/>
    <p:sldId id="632" r:id="rId48"/>
    <p:sldId id="633" r:id="rId49"/>
    <p:sldId id="634" r:id="rId50"/>
    <p:sldId id="635" r:id="rId51"/>
    <p:sldId id="637" r:id="rId52"/>
    <p:sldId id="636" r:id="rId53"/>
    <p:sldId id="638" r:id="rId54"/>
    <p:sldId id="639" r:id="rId55"/>
    <p:sldId id="483" r:id="rId56"/>
    <p:sldId id="26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3/23/20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3/23/20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88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23.03.2020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23.03.2020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23.03.2020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23.03.2020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23.03.2020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23.03.2020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Memoria virtuală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paginare</a:t>
            </a:r>
          </a:p>
          <a:p>
            <a:r>
              <a:rPr lang="ro-RO"/>
              <a:t>page fault</a:t>
            </a:r>
          </a:p>
          <a:p>
            <a:r>
              <a:rPr lang="ro-RO"/>
              <a:t>on demand paging</a:t>
            </a:r>
          </a:p>
          <a:p>
            <a:r>
              <a:rPr lang="ro-RO"/>
              <a:t>copy-on-write</a:t>
            </a:r>
          </a:p>
          <a:p>
            <a:r>
              <a:rPr lang="ro-RO"/>
              <a:t>swap</a:t>
            </a:r>
          </a:p>
          <a:p>
            <a:r>
              <a:rPr lang="ro-RO"/>
              <a:t>maparea fișierelor</a:t>
            </a:r>
          </a:p>
          <a:p>
            <a:endParaRPr lang="ro-RO"/>
          </a:p>
          <a:p>
            <a:endParaRPr lang="ro-RO"/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374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4</a:t>
            </a:r>
          </a:p>
          <a:p>
            <a:pPr lvl="2"/>
            <a:r>
              <a:rPr lang="ro-RO"/>
              <a:t>4.4</a:t>
            </a:r>
          </a:p>
          <a:p>
            <a:pPr lvl="2"/>
            <a:r>
              <a:rPr lang="ro-RO"/>
              <a:t>4.5</a:t>
            </a:r>
          </a:p>
          <a:p>
            <a:pPr lvl="2"/>
            <a:r>
              <a:rPr lang="ro-RO"/>
              <a:t>4.6</a:t>
            </a:r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9</a:t>
            </a:r>
          </a:p>
          <a:p>
            <a:pPr lvl="2"/>
            <a:r>
              <a:rPr lang="ro-RO"/>
              <a:t>9.1 – 9.4</a:t>
            </a:r>
          </a:p>
          <a:p>
            <a:pPr lvl="2"/>
            <a:r>
              <a:rPr lang="ro-RO"/>
              <a:t>9.6</a:t>
            </a:r>
          </a:p>
          <a:p>
            <a:pPr lvl="2"/>
            <a:r>
              <a:rPr lang="ro-RO"/>
              <a:t>9.7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85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BACA8C-94BB-254A-B031-B6F3928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6FFB70-C609-5D4C-B192-928ABDA1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724-8C8E-C144-AC92-D515836D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3290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/>
              <a:t>Memoria este împărțită în pagini</a:t>
            </a:r>
          </a:p>
          <a:p>
            <a:pPr lvl="1"/>
            <a:r>
              <a:rPr lang="ro-RO"/>
              <a:t>în general 4 KB</a:t>
            </a:r>
          </a:p>
          <a:p>
            <a:endParaRPr lang="ro-RO"/>
          </a:p>
          <a:p>
            <a:r>
              <a:rPr lang="ro-RO"/>
              <a:t>Pagini</a:t>
            </a:r>
          </a:p>
          <a:p>
            <a:pPr lvl="1"/>
            <a:r>
              <a:rPr lang="ro-RO"/>
              <a:t>Virtuale (pages)</a:t>
            </a:r>
          </a:p>
          <a:p>
            <a:pPr lvl="1"/>
            <a:r>
              <a:rPr lang="ro-RO"/>
              <a:t>Fizice (cadre - frames)</a:t>
            </a:r>
          </a:p>
          <a:p>
            <a:endParaRPr lang="ro-RO"/>
          </a:p>
          <a:p>
            <a:r>
              <a:rPr lang="ro-RO"/>
              <a:t>Tabelul de pagini</a:t>
            </a:r>
          </a:p>
          <a:p>
            <a:pPr lvl="1"/>
            <a:r>
              <a:rPr lang="ro-RO"/>
              <a:t>fiecare proces are un tabel de pagini</a:t>
            </a:r>
          </a:p>
          <a:p>
            <a:endParaRPr lang="ro-RO"/>
          </a:p>
          <a:p>
            <a:r>
              <a:rPr lang="ro-RO"/>
              <a:t>Adresă</a:t>
            </a:r>
          </a:p>
          <a:p>
            <a:pPr lvl="1"/>
            <a:r>
              <a:rPr lang="ro-RO"/>
              <a:t>adresă fizică = frame_index (page_index) + offset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121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0E21-2451-4543-86D8-F61532FB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Tabelul de pagini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C5FC90-3087-5A4A-917C-6778BEDAF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97" y="1600200"/>
            <a:ext cx="491980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8B98-4FEA-E34E-851D-330F80C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832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FCD3-48C1-0E4D-9B0E-5F6098EA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Transformarea adreselor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857631-491A-8145-A708-166BE3071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05" y="1600200"/>
            <a:ext cx="758679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5554-369F-A14E-B4D2-3BD1D3D8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6568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0237-DA30-DA4B-A207-87D8078A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CD4F-02E5-2443-A2E6-B864EB7B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Pentru a accesa o adresă</a:t>
            </a:r>
          </a:p>
          <a:p>
            <a:pPr lvl="1"/>
            <a:r>
              <a:rPr lang="ro-RO"/>
              <a:t>acces în tabel (în memorie)</a:t>
            </a:r>
          </a:p>
          <a:p>
            <a:pPr lvl="1"/>
            <a:r>
              <a:rPr lang="ro-RO"/>
              <a:t>acces efectiv la memorie</a:t>
            </a:r>
          </a:p>
          <a:p>
            <a:endParaRPr lang="ro-RO"/>
          </a:p>
          <a:p>
            <a:r>
              <a:rPr lang="ro-RO"/>
              <a:t>Acces dublu</a:t>
            </a:r>
          </a:p>
          <a:p>
            <a:pPr lvl="1"/>
            <a:r>
              <a:rPr lang="ro-RO"/>
              <a:t>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D0E5-EB62-804F-AD2F-06506551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8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9183A41-9C1F-4247-A5DB-B8E41B2A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91" y="3276600"/>
            <a:ext cx="4164618" cy="24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3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BFDE-2E6D-354D-9B20-6308EECF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Translation Lookaside Buffer (TLB)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46BD4-5568-7B4B-8500-FB5B7D6A1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Memorie cache specială</a:t>
            </a:r>
          </a:p>
          <a:p>
            <a:pPr lvl="1"/>
            <a:r>
              <a:rPr lang="ro-RO" dirty="0"/>
              <a:t>256 de intrări</a:t>
            </a:r>
          </a:p>
          <a:p>
            <a:endParaRPr lang="ro-RO" dirty="0"/>
          </a:p>
          <a:p>
            <a:r>
              <a:rPr lang="ro-RO" dirty="0"/>
              <a:t>Folosită per proces</a:t>
            </a:r>
          </a:p>
          <a:p>
            <a:endParaRPr lang="ro-RO" dirty="0"/>
          </a:p>
          <a:p>
            <a:r>
              <a:rPr lang="ro-RO" dirty="0"/>
              <a:t>Schimbarea de context</a:t>
            </a:r>
          </a:p>
          <a:p>
            <a:pPr lvl="1"/>
            <a:r>
              <a:rPr lang="ro-RO" dirty="0"/>
              <a:t>Se schimbă tabelul de pagini</a:t>
            </a:r>
          </a:p>
          <a:p>
            <a:pPr lvl="1"/>
            <a:r>
              <a:rPr lang="ro-RO" dirty="0"/>
              <a:t>TLB </a:t>
            </a:r>
            <a:r>
              <a:rPr lang="ro-RO" dirty="0" err="1"/>
              <a:t>flush</a:t>
            </a:r>
            <a:r>
              <a:rPr lang="ro-RO" dirty="0"/>
              <a:t> (mai puțin partea pentru </a:t>
            </a:r>
            <a:r>
              <a:rPr lang="ro-RO" dirty="0" err="1"/>
              <a:t>kernel</a:t>
            </a:r>
            <a:r>
              <a:rPr lang="ro-RO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3EB5-79D1-A74D-AE40-2CBF22C2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5251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0304-5060-0B4E-8638-D769FD00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ro-RO"/>
              <a:t>Transformarea adresei folosind TLB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66DC93-A101-3448-A4EE-A4A78E107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692" y="1600200"/>
            <a:ext cx="600461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019D-1EF5-494B-87A5-6E589DA2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0204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B690-8E64-6749-B3EC-FCB2935F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Protecția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21B1A9-AF45-9B42-99CA-63245AB47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20" y="1600200"/>
            <a:ext cx="518895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B656A-619C-0F4C-9550-40B5C6E6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758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1E63-FC7C-C440-AE7F-E6156580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Intrare în tabelul de pagini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71837-A79B-3343-ABC4-ED9C2B238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Numărul cadrului</a:t>
            </a:r>
          </a:p>
          <a:p>
            <a:endParaRPr lang="ro-RO" dirty="0"/>
          </a:p>
          <a:p>
            <a:r>
              <a:rPr lang="ro-RO" dirty="0"/>
              <a:t>Drepturi de acces</a:t>
            </a:r>
          </a:p>
          <a:p>
            <a:pPr lvl="1"/>
            <a:r>
              <a:rPr lang="ro-RO" dirty="0"/>
              <a:t>nici unul</a:t>
            </a:r>
          </a:p>
          <a:p>
            <a:pPr lvl="1"/>
            <a:r>
              <a:rPr lang="ro-RO" dirty="0"/>
              <a:t>citire</a:t>
            </a:r>
          </a:p>
          <a:p>
            <a:pPr lvl="1"/>
            <a:r>
              <a:rPr lang="ro-RO" dirty="0"/>
              <a:t>scriere</a:t>
            </a:r>
          </a:p>
          <a:p>
            <a:endParaRPr lang="ro-RO" dirty="0"/>
          </a:p>
          <a:p>
            <a:r>
              <a:rPr lang="ro-RO" dirty="0"/>
              <a:t>Valabilă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B6BBD3-875F-2C4C-8A05-F339F61FA4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2531021"/>
            <a:ext cx="4038600" cy="13630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F54D-E5EA-B54C-AF51-2FF0CA8A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72DC7-F3B3-6245-9651-9BA790D714C1}"/>
              </a:ext>
            </a:extLst>
          </p:cNvPr>
          <p:cNvSpPr txBox="1"/>
          <p:nvPr/>
        </p:nvSpPr>
        <p:spPr>
          <a:xfrm>
            <a:off x="5562600" y="4191000"/>
            <a:ext cx="171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exemple sur x86</a:t>
            </a:r>
          </a:p>
        </p:txBody>
      </p:sp>
    </p:spTree>
    <p:extLst>
      <p:ext uri="{BB962C8B-B14F-4D97-AF65-F5344CB8AC3E}">
        <p14:creationId xmlns:p14="http://schemas.microsoft.com/office/powerpoint/2010/main" val="388322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F515-6DFC-214B-9683-0BCAAA4E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Partajarea memoriei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12BABA-73E9-F344-BBD8-E92E3AE01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784" y="1600200"/>
            <a:ext cx="4512432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A5E6D-5A1E-2C48-BDB1-64D634BA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0683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ABDC-E53B-DA44-97BF-4EC04F6A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 ierarhică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1F477F-80DB-DC45-9AB8-461F2CCB9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9401"/>
            <a:ext cx="8229600" cy="3387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22DB4-91D7-2E40-919B-BD8E8043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2503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C5A000-6776-5B41-8231-3F2F7C2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Memoria vrituală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4715DC-801C-C24E-8750-96B9E5AD8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0582F-0A1B-BE4A-BD46-A59D12C3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6463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8BC29A-6A84-AF40-873D-61E55977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virtuală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E3396-1F8F-FC49-9B00-DA9DEF14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Separare între </a:t>
            </a:r>
          </a:p>
          <a:p>
            <a:pPr lvl="1"/>
            <a:r>
              <a:rPr lang="ro-RO"/>
              <a:t>Spațiul fizic (RAM)</a:t>
            </a:r>
          </a:p>
          <a:p>
            <a:pPr lvl="1"/>
            <a:r>
              <a:rPr lang="ro-RO"/>
              <a:t>Spațiul logic (memoria văzuta de un proces)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A540-40BF-5447-8E53-7BD92CDB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700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FD8E-CBC4-C548-9E33-0A971F9E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Avantaje și dezavantaje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3690-A271-5E45-ACEB-6EE29B120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>
                <a:solidFill>
                  <a:srgbClr val="92D050"/>
                </a:solidFill>
              </a:rPr>
              <a:t>Partajarea de memorie</a:t>
            </a:r>
          </a:p>
          <a:p>
            <a:r>
              <a:rPr lang="ro-RO">
                <a:solidFill>
                  <a:srgbClr val="92D050"/>
                </a:solidFill>
              </a:rPr>
              <a:t>Sunt disponibile toate adresele </a:t>
            </a:r>
          </a:p>
          <a:p>
            <a:r>
              <a:rPr lang="ro-RO">
                <a:solidFill>
                  <a:srgbClr val="92D050"/>
                </a:solidFill>
              </a:rPr>
              <a:t>Se poate utiliza mai multă memroie decât există RAM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Acces dublu la memorie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tabel și adresa efectivă</a:t>
            </a:r>
          </a:p>
          <a:p>
            <a:r>
              <a:rPr lang="ro-RO">
                <a:solidFill>
                  <a:srgbClr val="FF0000"/>
                </a:solidFill>
              </a:rPr>
              <a:t>Support hardware</a:t>
            </a:r>
          </a:p>
          <a:p>
            <a:r>
              <a:rPr lang="ro-RO">
                <a:solidFill>
                  <a:srgbClr val="FF0000"/>
                </a:solidFill>
              </a:rPr>
              <a:t>SO are nevoie de o componentă specială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F41C3-7EB8-514A-978D-9F313A0F0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11694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7F2C8E-8D88-0B42-9A5F-534059C4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Spațiul de adresare simplificat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A8A56-D3CE-304E-8B73-C9110C89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  <p:pic>
        <p:nvPicPr>
          <p:cNvPr id="7" name="Content Placeholder 8" descr="program_in_memory2.png">
            <a:extLst>
              <a:ext uri="{FF2B5EF4-FFF2-40B4-BE49-F238E27FC236}">
                <a16:creationId xmlns:a16="http://schemas.microsoft.com/office/drawing/2014/main" id="{68560459-60D6-454C-82A8-7B2BF590D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3" b="-1473"/>
          <a:stretch>
            <a:fillRect/>
          </a:stretch>
        </p:blipFill>
        <p:spPr>
          <a:xfrm>
            <a:off x="2258082" y="1600200"/>
            <a:ext cx="4627835" cy="4525963"/>
          </a:xfrm>
        </p:spPr>
      </p:pic>
    </p:spTree>
    <p:extLst>
      <p:ext uri="{BB962C8B-B14F-4D97-AF65-F5344CB8AC3E}">
        <p14:creationId xmlns:p14="http://schemas.microsoft.com/office/powerpoint/2010/main" val="3683877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7F2C8E-8D88-0B42-9A5F-534059C4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Spațiul de adresare simplificat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A8A56-D3CE-304E-8B73-C9110C89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F956-51BB-9941-8985-DFDA19C20C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 err="1"/>
              <a:t>brk</a:t>
            </a:r>
            <a:endParaRPr lang="ro-RO" dirty="0"/>
          </a:p>
          <a:p>
            <a:r>
              <a:rPr lang="ro-RO" dirty="0" err="1"/>
              <a:t>sbrk</a:t>
            </a:r>
            <a:endParaRPr lang="ro-RO" dirty="0"/>
          </a:p>
          <a:p>
            <a:pPr marL="0" indent="0">
              <a:buNone/>
            </a:pPr>
            <a:endParaRPr lang="ro-RO" dirty="0"/>
          </a:p>
          <a:p>
            <a:endParaRPr lang="ro-RO" dirty="0"/>
          </a:p>
        </p:txBody>
      </p:sp>
      <p:pic>
        <p:nvPicPr>
          <p:cNvPr id="8" name="Content Placeholder 8" descr="program_in_memory2.png">
            <a:extLst>
              <a:ext uri="{FF2B5EF4-FFF2-40B4-BE49-F238E27FC236}">
                <a16:creationId xmlns:a16="http://schemas.microsoft.com/office/drawing/2014/main" id="{BA40FFA6-24BE-D84B-8D95-4AD144B206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44846"/>
            <a:ext cx="4038600" cy="3836670"/>
          </a:xfrm>
        </p:spPr>
      </p:pic>
    </p:spTree>
    <p:extLst>
      <p:ext uri="{BB962C8B-B14F-4D97-AF65-F5344CB8AC3E}">
        <p14:creationId xmlns:p14="http://schemas.microsoft.com/office/powerpoint/2010/main" val="927467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35EDDB-6930-664D-90A5-F69F20FF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Page fault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D0FA50-8CA0-E544-A4B0-06D75D13F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54D1-ADFA-F74B-8B5A-94D9C8BF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8830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73B812-8A9E-5341-9B9F-0A9E4247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Page fault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3100C-80AE-8F4C-98AD-B6A81001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Acces la o pagină</a:t>
            </a:r>
          </a:p>
          <a:p>
            <a:pPr lvl="1"/>
            <a:r>
              <a:rPr lang="ro-RO" dirty="0"/>
              <a:t>ne </a:t>
            </a:r>
            <a:r>
              <a:rPr lang="ro-RO" dirty="0" err="1"/>
              <a:t>mapată</a:t>
            </a:r>
            <a:endParaRPr lang="ro-RO" dirty="0"/>
          </a:p>
          <a:p>
            <a:pPr lvl="1"/>
            <a:r>
              <a:rPr lang="ro-RO" dirty="0"/>
              <a:t>invalidă</a:t>
            </a:r>
          </a:p>
          <a:p>
            <a:pPr lvl="1"/>
            <a:r>
              <a:rPr lang="ro-RO" dirty="0"/>
              <a:t>fără drept de acces</a:t>
            </a:r>
          </a:p>
          <a:p>
            <a:endParaRPr lang="ro-RO" dirty="0"/>
          </a:p>
          <a:p>
            <a:r>
              <a:rPr lang="ro-RO" dirty="0"/>
              <a:t>CPU aruncă o excepție</a:t>
            </a:r>
          </a:p>
          <a:p>
            <a:pPr lvl="1"/>
            <a:r>
              <a:rPr lang="ro-RO" dirty="0"/>
              <a:t>se execută </a:t>
            </a:r>
            <a:r>
              <a:rPr lang="ro-RO" dirty="0" err="1"/>
              <a:t>exception</a:t>
            </a:r>
            <a:r>
              <a:rPr lang="ro-RO" dirty="0"/>
              <a:t> </a:t>
            </a:r>
            <a:r>
              <a:rPr lang="ro-RO" dirty="0" err="1"/>
              <a:t>handler-ul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67BD5-66B8-3542-BC77-9E8198291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573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AAE6-D7F6-6D41-A075-6E4565AB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page fault-uri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3678-9984-0348-B8D7-83F617A2E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/>
              <a:t>ne mapată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on-demand paging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swap</a:t>
            </a:r>
          </a:p>
          <a:p>
            <a:endParaRPr lang="ro-RO"/>
          </a:p>
          <a:p>
            <a:r>
              <a:rPr lang="ro-RO"/>
              <a:t>invalidă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pagina virtuală nu este alocată</a:t>
            </a:r>
          </a:p>
          <a:p>
            <a:endParaRPr lang="ro-RO"/>
          </a:p>
          <a:p>
            <a:r>
              <a:rPr lang="ro-RO"/>
              <a:t>fără drept de acces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read-only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pagină a SO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copy-on-write</a:t>
            </a:r>
          </a:p>
          <a:p>
            <a:pPr lvl="1"/>
            <a:endParaRPr lang="ro-RO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80C66-E225-9647-BFD1-7735F7A0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0696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E5C6-6B49-6643-8A62-7472103B4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Page fault (</a:t>
            </a:r>
            <a:r>
              <a:rPr lang="ro-RO" dirty="0" err="1"/>
              <a:t>swap</a:t>
            </a:r>
            <a:r>
              <a:rPr lang="ro-RO" dirty="0"/>
              <a:t>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59ABDD-016E-4B46-BBEE-831814456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779" y="1600200"/>
            <a:ext cx="5474441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1DBE2-A982-094B-8A84-F45CA9A3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2968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D6D69B-DA33-5044-901C-3015119C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On-demand paging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F8B8A3-2BCC-CD4D-93AF-B870CD1A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73B8C-CF7C-E74F-84CE-3140A3DD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72464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18863C-B088-0F49-8683-163DBADF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Etapele alocării de memorie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D2B0C-B100-A64A-BD3A-49633218B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o-RO"/>
              <a:t>Alocarea unei pagini virtuale</a:t>
            </a:r>
          </a:p>
          <a:p>
            <a:pPr marL="914400" lvl="1" indent="-514350"/>
            <a:r>
              <a:rPr lang="ro-RO"/>
              <a:t>intrare în tabelul de pagini</a:t>
            </a:r>
          </a:p>
          <a:p>
            <a:pPr marL="514350" indent="-514350">
              <a:buFont typeface="+mj-lt"/>
              <a:buAutoNum type="arabicPeriod"/>
            </a:pPr>
            <a:endParaRPr lang="ro-RO"/>
          </a:p>
          <a:p>
            <a:pPr marL="514350" indent="-514350">
              <a:buFont typeface="+mj-lt"/>
              <a:buAutoNum type="arabicPeriod"/>
            </a:pPr>
            <a:r>
              <a:rPr lang="ro-RO"/>
              <a:t>Alocarea paginii fizice</a:t>
            </a:r>
          </a:p>
          <a:p>
            <a:pPr marL="914400" lvl="1" indent="-514350"/>
            <a:r>
              <a:rPr lang="ro-RO"/>
              <a:t>intrare în tabelul de cadre (frames)</a:t>
            </a:r>
          </a:p>
          <a:p>
            <a:pPr marL="914400" lvl="1" indent="-514350"/>
            <a:endParaRPr lang="ro-RO"/>
          </a:p>
          <a:p>
            <a:pPr marL="514350" indent="-514350">
              <a:buFont typeface="+mj-lt"/>
              <a:buAutoNum type="arabicPeriod"/>
            </a:pPr>
            <a:r>
              <a:rPr lang="ro-RO"/>
              <a:t>Maparea paginii</a:t>
            </a:r>
          </a:p>
          <a:p>
            <a:pPr marL="914400" lvl="1" indent="-514350"/>
            <a:r>
              <a:rPr lang="ro-RO"/>
              <a:t>legarea unei pagini cu un cadru</a:t>
            </a:r>
          </a:p>
          <a:p>
            <a:pPr marL="914400" lvl="1" indent="-514350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BEA63-E805-674A-8910-623BBA72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8396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018F-BEC6-1C43-8765-FF65CE56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7F5C-77B8-5D4C-A131-6FF295155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b="1" dirty="0"/>
              <a:t>rezervare</a:t>
            </a:r>
            <a:r>
              <a:rPr lang="ro-RO" dirty="0"/>
              <a:t> (</a:t>
            </a:r>
            <a:r>
              <a:rPr lang="ro-RO" dirty="0" err="1"/>
              <a:t>malloc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alocarea unei pagini virtuale (fără cadru în RAM)</a:t>
            </a:r>
          </a:p>
          <a:p>
            <a:pPr lvl="1"/>
            <a:r>
              <a:rPr lang="ro-RO" dirty="0"/>
              <a:t>marcată </a:t>
            </a:r>
            <a:r>
              <a:rPr lang="ro-RO" i="1" dirty="0"/>
              <a:t>invalidă</a:t>
            </a:r>
          </a:p>
          <a:p>
            <a:endParaRPr lang="ro-RO" dirty="0"/>
          </a:p>
          <a:p>
            <a:r>
              <a:rPr lang="ro-RO" b="1" dirty="0" err="1"/>
              <a:t>commit</a:t>
            </a:r>
            <a:r>
              <a:rPr lang="ro-RO" dirty="0"/>
              <a:t> (la primul acces, *p = … ou … = *p)</a:t>
            </a:r>
          </a:p>
          <a:p>
            <a:pPr lvl="1"/>
            <a:r>
              <a:rPr lang="ro-RO" dirty="0"/>
              <a:t>page fault minor</a:t>
            </a:r>
          </a:p>
          <a:p>
            <a:pPr lvl="1"/>
            <a:r>
              <a:rPr lang="ro-RO" dirty="0"/>
              <a:t>alocarea cadrului fizic (</a:t>
            </a:r>
            <a:r>
              <a:rPr lang="ro-RO" dirty="0" err="1"/>
              <a:t>frame</a:t>
            </a:r>
            <a:r>
              <a:rPr lang="ro-RO" dirty="0"/>
              <a:t>) în RAM</a:t>
            </a:r>
          </a:p>
          <a:p>
            <a:pPr lvl="1"/>
            <a:r>
              <a:rPr lang="ro-RO" dirty="0"/>
              <a:t>legarea paginii cu cadrul</a:t>
            </a:r>
          </a:p>
          <a:p>
            <a:pPr lvl="1"/>
            <a:r>
              <a:rPr lang="ro-RO" dirty="0"/>
              <a:t>marcată </a:t>
            </a:r>
            <a:r>
              <a:rPr lang="ro-RO" i="1" dirty="0"/>
              <a:t>validă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23F8B-0CD3-5546-B4B6-018DB332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29692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0EAB55-0979-674C-B0F6-DCDCA945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Swap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965418-A661-3F4E-9927-C06FE7263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D2954-582C-A54B-9AF3-B20F6D0C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5541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AEC094-B184-6D47-A451-BE4DAEBE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Swap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4D4C7-E46B-164B-A15C-FDE3621A8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Putem folosi mai multă memorie decât există RAM</a:t>
            </a:r>
          </a:p>
          <a:p>
            <a:endParaRPr lang="ro-RO"/>
          </a:p>
          <a:p>
            <a:r>
              <a:rPr lang="ro-RO"/>
              <a:t>O parte din pagini sunt stocate temporar pe un alt mediu de stocare</a:t>
            </a:r>
          </a:p>
          <a:p>
            <a:pPr lvl="1"/>
            <a:r>
              <a:rPr lang="ro-RO"/>
              <a:t>HDD</a:t>
            </a:r>
          </a:p>
          <a:p>
            <a:pPr lvl="1"/>
            <a:r>
              <a:rPr lang="ro-RO"/>
              <a:t>SSD</a:t>
            </a:r>
          </a:p>
          <a:p>
            <a:pPr lvl="1"/>
            <a:endParaRPr lang="ro-RO"/>
          </a:p>
          <a:p>
            <a:r>
              <a:rPr lang="ro-RO"/>
              <a:t>Poate fi 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CA92F-7C6C-C74B-B747-00C66203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3606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374E-79BB-2745-907F-60E17C1B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Swap în Windows și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F9DCF-D227-9546-9817-B6435378E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Windows</a:t>
            </a:r>
          </a:p>
          <a:p>
            <a:pPr lvl="1"/>
            <a:r>
              <a:rPr lang="ro-RO" dirty="0"/>
              <a:t>C:\</a:t>
            </a:r>
            <a:r>
              <a:rPr lang="ro-RO" dirty="0" err="1"/>
              <a:t>pagefile.sys</a:t>
            </a:r>
            <a:endParaRPr lang="ro-RO" dirty="0"/>
          </a:p>
          <a:p>
            <a:endParaRPr lang="ro-RO" dirty="0"/>
          </a:p>
          <a:p>
            <a:r>
              <a:rPr lang="ro-RO" dirty="0"/>
              <a:t>Linux</a:t>
            </a:r>
          </a:p>
          <a:p>
            <a:pPr lvl="1"/>
            <a:r>
              <a:rPr lang="ro-RO" dirty="0"/>
              <a:t>Partiție separată (e)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6AE9D-FD51-3443-9566-EC212D5A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6904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77F0-E5B1-3E47-BF1F-CDCEB98D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Swap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484D00-3DB4-5F4C-96BB-C431B646A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82" y="1600200"/>
            <a:ext cx="491923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F3CAD-ACB2-9A49-8700-9ECDBEE9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3078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9185-F22F-B446-8ABC-5DA75A65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ro-RO" dirty="0"/>
              <a:t>Schimbarea (</a:t>
            </a:r>
            <a:r>
              <a:rPr lang="ro-RO" dirty="0" err="1"/>
              <a:t>swapping</a:t>
            </a:r>
            <a:r>
              <a:rPr lang="ro-RO" dirty="0"/>
              <a:t>) unei pagini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7E00A9-F075-2C4A-B0DA-6305E85B8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864" y="1600200"/>
            <a:ext cx="6140272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275A-6654-F94F-A464-9299633D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3767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9533-662D-CB4E-B3B5-6F3956E9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Care sunt paginile puse in swap?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2927E-34AA-0246-973E-69AF5329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>
                <a:solidFill>
                  <a:srgbClr val="FF0000"/>
                </a:solidFill>
              </a:rPr>
              <a:t>FIFO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LRU</a:t>
            </a:r>
          </a:p>
          <a:p>
            <a:pPr lvl="1"/>
            <a:r>
              <a:rPr lang="ro-RO"/>
              <a:t>Least Recently Used</a:t>
            </a:r>
          </a:p>
          <a:p>
            <a:endParaRPr lang="ro-RO"/>
          </a:p>
          <a:p>
            <a:r>
              <a:rPr lang="ro-RO"/>
              <a:t>Second Chance</a:t>
            </a:r>
          </a:p>
          <a:p>
            <a:pPr lvl="1"/>
            <a:r>
              <a:rPr lang="ro-RO"/>
              <a:t>mai bun decât FIFO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C6CA-7041-4241-A47A-7B336E2F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1419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19823-3F16-C745-8613-03058EE6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8AA29-73B7-6D46-90A7-ECC869CF2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coadă de pagini</a:t>
            </a:r>
          </a:p>
          <a:p>
            <a:endParaRPr lang="ro-RO"/>
          </a:p>
          <a:p>
            <a:r>
              <a:rPr lang="ro-RO"/>
              <a:t>prima pagină din coadă este pusă în swap (swapped out)</a:t>
            </a:r>
          </a:p>
          <a:p>
            <a:endParaRPr lang="ro-RO"/>
          </a:p>
          <a:p>
            <a:r>
              <a:rPr lang="ro-RO"/>
              <a:t>pagina încărcată din swap este pusă în capătul cozii (swapped in)</a:t>
            </a:r>
          </a:p>
          <a:p>
            <a:pPr marL="0" indent="0">
              <a:buNone/>
            </a:pPr>
            <a:r>
              <a:rPr lang="ro-RO"/>
              <a:t>  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1217E-0364-F740-A6A1-5D54E302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9746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A669-391B-CC4F-9688-210EE9FC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A55AEB-D41C-694E-9360-0990BDFB4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1917"/>
            <a:ext cx="8229600" cy="24225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5829F-37F9-044B-AB86-C0CFC2A2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54604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A577-9BD2-4A4A-9C2B-FF790688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Anomalia lui Belady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A58575-5EA5-034F-9EDD-A823C181F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9" y="1600200"/>
            <a:ext cx="7124082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A09EC-53F6-D744-B0BA-4AD61F5C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6032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FDB3-62A0-E949-828B-4C1FBA16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A79A-4B5D-3842-A1A2-35248E490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algoritmul ideal: schimbă pagina care va fi utilizată peste cel mai mult timp</a:t>
            </a:r>
          </a:p>
          <a:p>
            <a:endParaRPr lang="ro-RO"/>
          </a:p>
          <a:p>
            <a:r>
              <a:rPr lang="ro-RO"/>
              <a:t>marcheză paginile cu data ultimului acces</a:t>
            </a:r>
          </a:p>
          <a:p>
            <a:endParaRPr lang="ro-RO"/>
          </a:p>
          <a:p>
            <a:r>
              <a:rPr lang="ro-RO"/>
              <a:t>pagina cu cel mai vechi timp de acces este pusă în swap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AF6E4-B726-6646-93C4-0CC06C80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87433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6563-18FD-D846-A15D-9FDBA46C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Exemple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E7BA11-FD47-D245-B9D3-22C0323D6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0952"/>
            <a:ext cx="8229600" cy="24044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E8B97-5010-8647-AD34-27169E6C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075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08E4-4DC6-7D44-A67A-9610936F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Dificultatea implementării 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A757-AB92-B24E-8C73-853C33327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Hardware-</a:t>
            </a:r>
            <a:r>
              <a:rPr lang="ro-RO" dirty="0" err="1"/>
              <a:t>ul</a:t>
            </a:r>
            <a:r>
              <a:rPr lang="ro-RO" dirty="0"/>
              <a:t> trebuie să facă asta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implementarea în software ar face sistemul de 10 ori mai lent</a:t>
            </a:r>
          </a:p>
          <a:p>
            <a:endParaRPr lang="ro-RO" dirty="0"/>
          </a:p>
          <a:p>
            <a:r>
              <a:rPr lang="ro-RO" dirty="0"/>
              <a:t>Multă memorie ocupată cu stocarea datei de acces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C6380-C216-3346-B7B6-DE0579D4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1448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EBDB-BB02-0943-82F1-6EDEEAF8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Second Chance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48E7-D8F7-334C-85C9-94109521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Fiecare pagină are un parametru (bit)</a:t>
            </a:r>
          </a:p>
          <a:p>
            <a:pPr lvl="1"/>
            <a:r>
              <a:rPr lang="ro-RO" dirty="0"/>
              <a:t>R – </a:t>
            </a:r>
            <a:r>
              <a:rPr lang="ro-RO" dirty="0" err="1"/>
              <a:t>Referenced</a:t>
            </a:r>
            <a:r>
              <a:rPr lang="ro-RO" dirty="0"/>
              <a:t> (</a:t>
            </a:r>
            <a:r>
              <a:rPr lang="ro-RO" i="1" dirty="0" err="1"/>
              <a:t>read</a:t>
            </a:r>
            <a:r>
              <a:rPr lang="ro-RO" dirty="0"/>
              <a:t> sau </a:t>
            </a:r>
            <a:r>
              <a:rPr lang="ro-RO" i="1" dirty="0" err="1"/>
              <a:t>write</a:t>
            </a:r>
            <a:r>
              <a:rPr lang="ro-RO" dirty="0"/>
              <a:t>)</a:t>
            </a:r>
          </a:p>
          <a:p>
            <a:endParaRPr lang="ro-RO" dirty="0"/>
          </a:p>
          <a:p>
            <a:r>
              <a:rPr lang="ro-RO" dirty="0"/>
              <a:t>Coada de pagini</a:t>
            </a:r>
          </a:p>
          <a:p>
            <a:pPr lvl="1"/>
            <a:r>
              <a:rPr lang="ro-RO" dirty="0"/>
              <a:t>Dacă pagina are R = 0, pagina e pusă în </a:t>
            </a:r>
            <a:r>
              <a:rPr lang="ro-RO" dirty="0" err="1"/>
              <a:t>swap</a:t>
            </a:r>
            <a:endParaRPr lang="ro-RO" dirty="0"/>
          </a:p>
          <a:p>
            <a:pPr lvl="1"/>
            <a:r>
              <a:rPr lang="ro-RO" dirty="0"/>
              <a:t>Dacă pagina are R = 1, R este pus la 0 si pagina este pusă în capătul cozii</a:t>
            </a:r>
          </a:p>
          <a:p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8FFC6-0148-7446-9B99-C392124C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7765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EE5F-4847-6642-9598-0055DEC5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1001DA-BCD3-5E42-B8C9-712D82D2B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328" y="1600200"/>
            <a:ext cx="5719344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5DC28-786D-4547-9F25-67C8D946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02281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EBDB-BB02-0943-82F1-6EDEEAF8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NRU </a:t>
            </a:r>
            <a:r>
              <a:rPr lang="ro-RO" dirty="0"/>
              <a:t>- </a:t>
            </a:r>
            <a:r>
              <a:rPr lang="ro-RO"/>
              <a:t>Not Recently Used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48E7-D8F7-334C-85C9-94109521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Fiecare </a:t>
            </a:r>
            <a:r>
              <a:rPr lang="ro-RO"/>
              <a:t>pagină </a:t>
            </a:r>
            <a:r>
              <a:rPr lang="ro-RO" dirty="0"/>
              <a:t>are </a:t>
            </a:r>
            <a:r>
              <a:rPr lang="ro-RO"/>
              <a:t>doi </a:t>
            </a:r>
            <a:r>
              <a:rPr lang="ro-RO" dirty="0"/>
              <a:t>parametrii (</a:t>
            </a:r>
            <a:r>
              <a:rPr lang="ro-RO"/>
              <a:t>bits)</a:t>
            </a:r>
            <a:endParaRPr lang="ro-RO" dirty="0"/>
          </a:p>
          <a:p>
            <a:pPr lvl="1"/>
            <a:r>
              <a:rPr lang="ro-RO"/>
              <a:t>R – referenced (</a:t>
            </a:r>
            <a:r>
              <a:rPr lang="ro-RO" i="1"/>
              <a:t>read</a:t>
            </a:r>
            <a:r>
              <a:rPr lang="ro-RO"/>
              <a:t>)</a:t>
            </a:r>
            <a:endParaRPr lang="ro-RO" dirty="0"/>
          </a:p>
          <a:p>
            <a:pPr lvl="1"/>
            <a:r>
              <a:rPr lang="ro-RO"/>
              <a:t>M – Modified (</a:t>
            </a:r>
            <a:r>
              <a:rPr lang="ro-RO" i="1"/>
              <a:t>write</a:t>
            </a:r>
            <a:r>
              <a:rPr lang="ro-RO"/>
              <a:t>)</a:t>
            </a:r>
            <a:endParaRPr lang="ro-RO" dirty="0"/>
          </a:p>
          <a:p>
            <a:r>
              <a:rPr lang="ro-RO"/>
              <a:t>În sistem round robin, alegem pagina care are clasa minimă </a:t>
            </a:r>
            <a:endParaRPr lang="ro-RO" dirty="0"/>
          </a:p>
          <a:p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8FFC6-0148-7446-9B99-C392124C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450DB8-BCDA-634C-83C4-950652B9E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896240"/>
              </p:ext>
            </p:extLst>
          </p:nvPr>
        </p:nvGraphicFramePr>
        <p:xfrm>
          <a:off x="1545220" y="4330699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137931734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6363639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45914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/>
                        <a:t>Clasa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731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/>
                        <a:t>1 (probabilitatea minimă de a fi utilizată)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5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87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87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/>
                        <a:t>4 (probabilitatea maximă de a fi utilizată)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970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48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7B28F-62E0-F149-BD61-0277B42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Pagini rezidente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963DE-1885-4040-B8E4-03AC75D91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Paginile care sunt în RAM</a:t>
            </a:r>
          </a:p>
          <a:p>
            <a:r>
              <a:rPr lang="ro-RO"/>
              <a:t>RSS proces</a:t>
            </a:r>
          </a:p>
          <a:p>
            <a:pPr lvl="1"/>
            <a:r>
              <a:rPr lang="ro-RO"/>
              <a:t>Resident Set Size (paginile care sunt prezente în RAM)</a:t>
            </a:r>
          </a:p>
          <a:p>
            <a:endParaRPr lang="ro-RO"/>
          </a:p>
          <a:p>
            <a:r>
              <a:rPr lang="ro-RO"/>
              <a:t>Alocare rezidentă</a:t>
            </a:r>
          </a:p>
          <a:p>
            <a:pPr lvl="1"/>
            <a:r>
              <a:rPr lang="ro-RO"/>
              <a:t>Paginile nu vor fi puse in swap</a:t>
            </a:r>
          </a:p>
          <a:p>
            <a:pPr lvl="2"/>
            <a:r>
              <a:rPr lang="ro-RO"/>
              <a:t>memoria kernel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08C90-3E9F-4B4C-AB01-F50EA783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3937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D348-D401-8E4C-AAF0-6AC52F65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C326-6C9B-4645-A869-BCC610F01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mlock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*addr, </a:t>
            </a:r>
            <a:r>
              <a:rPr lang="ro-RO" sz="2400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len);</a:t>
            </a:r>
          </a:p>
          <a:p>
            <a:pPr marL="0" indent="0">
              <a:buNone/>
            </a:pPr>
            <a:endParaRPr lang="ro-RO" sz="240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munlock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*addr, </a:t>
            </a:r>
            <a:r>
              <a:rPr lang="ro-RO" sz="2400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len);</a:t>
            </a:r>
          </a:p>
          <a:p>
            <a:pPr marL="0" indent="0">
              <a:buNone/>
            </a:pPr>
            <a:endParaRPr lang="ro-RO" sz="24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400050" lvl="1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addr – multiplu de pagină</a:t>
            </a:r>
          </a:p>
          <a:p>
            <a:pPr marL="400050" lvl="1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400050" lvl="1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len – multiplu de pagină</a:t>
            </a:r>
          </a:p>
          <a:p>
            <a:pPr marL="0" indent="0">
              <a:buNone/>
            </a:pPr>
            <a:endParaRPr lang="ro-RO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F5043-7962-4D48-85FA-07C618D9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569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1BB6-F513-7447-B7BB-0807D73D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Swap Trashing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518F2-E868-594C-B92C-86A8918D7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Sistemul folosește mult timp pentru</a:t>
            </a:r>
          </a:p>
          <a:p>
            <a:pPr lvl="1"/>
            <a:r>
              <a:rPr lang="ro-RO"/>
              <a:t>a pune pagini în swap</a:t>
            </a:r>
          </a:p>
          <a:p>
            <a:pPr lvl="1"/>
            <a:r>
              <a:rPr lang="ro-RO"/>
              <a:t>a lua pagini din swap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B175-3285-6A41-91D8-E4156B7A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1566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EFED15-2DF4-3C43-A5DB-48E76225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Copy-on-write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D8989-88E3-214D-9ADC-6E2509E86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A2B2-3757-344D-8A25-26AAB3A7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5856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5C7-7499-F949-98AE-B4056AF5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Proces nou - UNIX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CC067-CC74-4545-A06F-8E7FB60B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o-RO" b="1"/>
              <a:t>fork</a:t>
            </a:r>
            <a:r>
              <a:rPr lang="ro-RO"/>
              <a:t>: creează un proces nou (copil) (aproape identic cu procesul părinte) </a:t>
            </a:r>
          </a:p>
          <a:p>
            <a:pPr lvl="1" algn="just"/>
            <a:r>
              <a:rPr lang="ro-RO">
                <a:solidFill>
                  <a:srgbClr val="FF0000"/>
                </a:solidFill>
              </a:rPr>
              <a:t>copierea memoriei</a:t>
            </a:r>
          </a:p>
          <a:p>
            <a:pPr algn="just"/>
            <a:endParaRPr lang="ro-RO"/>
          </a:p>
          <a:p>
            <a:pPr algn="just"/>
            <a:r>
              <a:rPr lang="ro-RO" b="1"/>
              <a:t>exec</a:t>
            </a:r>
            <a:r>
              <a:rPr lang="ro-RO"/>
              <a:t>: încarcă imaginea dintr-un executabil în procesul curent (de obicei folosit de procesul copil)</a:t>
            </a:r>
          </a:p>
          <a:p>
            <a:pPr lvl="1" algn="just"/>
            <a:r>
              <a:rPr lang="ro-RO">
                <a:solidFill>
                  <a:srgbClr val="92D050"/>
                </a:solidFill>
              </a:rPr>
              <a:t>memorie nouă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717F-E50D-BD48-A56B-F78BAF1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26017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C1DF93-17AC-5D44-8B71-CF68A7BF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Copy on write - fork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4982D5-721A-0C43-BE7F-47150516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>
                <a:solidFill>
                  <a:srgbClr val="92D050"/>
                </a:solidFill>
              </a:rPr>
              <a:t>se copiază doar tabelul de pagini</a:t>
            </a:r>
          </a:p>
          <a:p>
            <a:endParaRPr lang="ro-RO" dirty="0"/>
          </a:p>
          <a:p>
            <a:r>
              <a:rPr lang="ro-RO" dirty="0"/>
              <a:t>toate paginile sunt marcate READ-ONLY</a:t>
            </a:r>
          </a:p>
          <a:p>
            <a:pPr lvl="1"/>
            <a:r>
              <a:rPr lang="ro-RO" dirty="0"/>
              <a:t>procesele partajează toată memorie</a:t>
            </a:r>
          </a:p>
          <a:p>
            <a:endParaRPr lang="ro-RO" dirty="0"/>
          </a:p>
          <a:p>
            <a:r>
              <a:rPr lang="ro-RO" dirty="0"/>
              <a:t>Când unul din procese scrie</a:t>
            </a:r>
          </a:p>
          <a:p>
            <a:pPr lvl="1"/>
            <a:r>
              <a:rPr lang="ro-RO" dirty="0"/>
              <a:t>page fault</a:t>
            </a:r>
          </a:p>
          <a:p>
            <a:pPr lvl="1"/>
            <a:r>
              <a:rPr lang="ro-RO" dirty="0">
                <a:solidFill>
                  <a:srgbClr val="92D050"/>
                </a:solidFill>
              </a:rPr>
              <a:t>se copiază pagina de memorie</a:t>
            </a:r>
          </a:p>
          <a:p>
            <a:pPr lvl="2"/>
            <a:r>
              <a:rPr lang="ro-RO" dirty="0"/>
              <a:t>Procesele au acum fiecare pagina lui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68CCB-07EB-2A4D-BD6B-B3DF99BE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6287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3103-6C23-CC48-8367-7B46E713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CE20DB-0029-3447-B87A-90D4F5D73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37601"/>
            <a:ext cx="8229600" cy="365116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4757-04F9-5F49-902D-0028C1E2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57633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3103-6C23-CC48-8367-7B46E713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D75F09-8539-A24C-A2C3-01A3283C6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20347"/>
            <a:ext cx="8229600" cy="38856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4757-04F9-5F49-902D-0028C1E2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8845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4524-3235-1743-97E7-FA156044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Maparea fișierelor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1D2CD-C5B4-044B-9F5D-8A0505CA6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o parte dintr-un fișier este mapată la o adresă de memorie</a:t>
            </a:r>
          </a:p>
          <a:p>
            <a:endParaRPr lang="ro-RO"/>
          </a:p>
          <a:p>
            <a:r>
              <a:rPr lang="ro-RO"/>
              <a:t>accesul la fișier se face doar prin memorie (fara </a:t>
            </a:r>
            <a:r>
              <a:rPr lang="ro-RO" i="1"/>
              <a:t>read</a:t>
            </a:r>
            <a:r>
              <a:rPr lang="ro-RO"/>
              <a:t> si </a:t>
            </a:r>
            <a:r>
              <a:rPr lang="ro-RO" i="1"/>
              <a:t>write</a:t>
            </a:r>
            <a:r>
              <a:rPr lang="ro-RO"/>
              <a:t>)</a:t>
            </a:r>
          </a:p>
          <a:p>
            <a:endParaRPr lang="ro-RO"/>
          </a:p>
          <a:p>
            <a:r>
              <a:rPr lang="ro-RO"/>
              <a:t>scrierea în fișier nu este imediată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3F907-2B2B-F443-900C-C55AC464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39406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A463-9BCA-6644-9707-571177A6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Utilizare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72D9-A6F7-8548-AB6A-7CAA1392E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  <a:p>
            <a:endParaRPr lang="ro-RO"/>
          </a:p>
          <a:p>
            <a:pPr marL="0" indent="0">
              <a:buNone/>
            </a:pPr>
            <a:r>
              <a:rPr lang="ro-RO"/>
              <a:t>încărcarea executabilelor și a bibliotecilor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93285-700C-D24C-B04E-6C20F1D0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43727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EA2C-74BB-4541-88A8-7041BE7F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8F5B84-EDAA-0A4A-9C6F-831DA9E18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675" y="1600200"/>
            <a:ext cx="567464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61055-2007-4C4A-BEF5-88BEEACC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92269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E17E-B727-DE49-AD4F-F76A5E07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35FD4-45D6-5045-AE35-74416B54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mmap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len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prot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		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flags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267F99"/>
                </a:solidFill>
                <a:latin typeface="Menlo" panose="020B0609030804020204" pitchFamily="49" charset="0"/>
              </a:rPr>
              <a:t>off_t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offset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sz="22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munmap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len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sz="22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795E26"/>
                </a:solidFill>
                <a:latin typeface="Menlo" panose="020B0609030804020204" pitchFamily="49" charset="0"/>
              </a:rPr>
              <a:t>msync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addr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len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2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flags</a:t>
            </a:r>
            <a:r>
              <a:rPr lang="ro-RO" sz="22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sz="2400" dirty="0">
                <a:solidFill>
                  <a:srgbClr val="000000"/>
                </a:solidFill>
                <a:latin typeface="Menlo" panose="020B0609030804020204" pitchFamily="49" charset="0"/>
              </a:rPr>
              <a:t>PROT_NONE Pages may not be accessed.</a:t>
            </a:r>
          </a:p>
          <a:p>
            <a:r>
              <a:rPr lang="en" sz="2400" dirty="0">
                <a:solidFill>
                  <a:srgbClr val="000000"/>
                </a:solidFill>
                <a:latin typeface="Menlo" panose="020B0609030804020204" pitchFamily="49" charset="0"/>
              </a:rPr>
              <a:t>PROT_READ Pages may be read.</a:t>
            </a:r>
          </a:p>
          <a:p>
            <a:r>
              <a:rPr lang="en" sz="2400" dirty="0">
                <a:solidFill>
                  <a:srgbClr val="000000"/>
                </a:solidFill>
                <a:latin typeface="Menlo" panose="020B0609030804020204" pitchFamily="49" charset="0"/>
              </a:rPr>
              <a:t>PROT_WRITE Pages may be written.</a:t>
            </a:r>
          </a:p>
          <a:p>
            <a:r>
              <a:rPr lang="en" sz="2400" dirty="0">
                <a:solidFill>
                  <a:srgbClr val="000000"/>
                </a:solidFill>
                <a:latin typeface="Menlo" panose="020B0609030804020204" pitchFamily="49" charset="0"/>
              </a:rPr>
              <a:t>PROT_EXEC Pages may be executed.</a:t>
            </a:r>
          </a:p>
          <a:p>
            <a:pPr marL="0" indent="0">
              <a:buNone/>
            </a:pPr>
            <a:endParaRPr lang="ro-RO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D7D5A-21C6-BA4F-B724-F9F8E6D2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4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E690-F146-7A4E-9733-4FE70292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Exemple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C7677-AE48-6E41-BD46-2509BEDFE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fr-FR" sz="1800" dirty="0">
                <a:solidFill>
                  <a:srgbClr val="795E26"/>
                </a:solidFill>
                <a:latin typeface="Menlo" panose="020B0609030804020204" pitchFamily="49" charset="0"/>
              </a:rPr>
              <a:t>open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Menlo" panose="020B0609030804020204" pitchFamily="49" charset="0"/>
              </a:rPr>
              <a:t>fisier.dat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O_RDWR);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*p = </a:t>
            </a:r>
            <a:r>
              <a:rPr lang="fr-FR" sz="1800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&gt;=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p = 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mmap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fr-FR" sz="1800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4096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PROT_WRITE, MAP_SHARED, 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(p!=</a:t>
            </a:r>
            <a:r>
              <a:rPr lang="fr-FR" sz="1800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strcpy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(p, 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 err="1">
                <a:solidFill>
                  <a:srgbClr val="A31515"/>
                </a:solidFill>
                <a:latin typeface="Menlo" panose="020B0609030804020204" pitchFamily="49" charset="0"/>
              </a:rPr>
              <a:t>so</a:t>
            </a:r>
            <a:r>
              <a:rPr lang="fr-FR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msync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(p,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4096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, M_SYNC);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fr-FR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munmap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(p, </a:t>
            </a:r>
            <a:r>
              <a:rPr lang="fr-FR" sz="1800" dirty="0">
                <a:solidFill>
                  <a:srgbClr val="09885A"/>
                </a:solidFill>
                <a:latin typeface="Menlo" panose="020B0609030804020204" pitchFamily="49" charset="0"/>
              </a:rPr>
              <a:t>4096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fr-FR" sz="1800" dirty="0">
                <a:solidFill>
                  <a:srgbClr val="795E26"/>
                </a:solidFill>
                <a:latin typeface="Menlo" panose="020B0609030804020204" pitchFamily="49" charset="0"/>
              </a:rPr>
              <a:t>close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fd</a:t>
            </a: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2FFDC-AF89-9D4C-B24F-E349F54C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2677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m-CH"/>
              <a:t>Adresă logică</a:t>
            </a:r>
          </a:p>
          <a:p>
            <a:r>
              <a:rPr lang="rm-CH"/>
              <a:t>Adresă fizică</a:t>
            </a:r>
          </a:p>
          <a:p>
            <a:r>
              <a:rPr lang="rm-CH"/>
              <a:t>Paginare</a:t>
            </a:r>
          </a:p>
          <a:p>
            <a:r>
              <a:rPr lang="rm-CH"/>
              <a:t>TLB</a:t>
            </a:r>
          </a:p>
          <a:p>
            <a:r>
              <a:rPr lang="rm-CH"/>
              <a:t>Tabel de pagini</a:t>
            </a:r>
          </a:p>
          <a:p>
            <a:r>
              <a:rPr lang="rm-CH"/>
              <a:t>Page fault</a:t>
            </a:r>
          </a:p>
          <a:p>
            <a:r>
              <a:rPr lang="rm-CH"/>
              <a:t>On-demand paging</a:t>
            </a:r>
          </a:p>
          <a:p>
            <a:r>
              <a:rPr lang="rm-CH"/>
              <a:t>Swap</a:t>
            </a:r>
          </a:p>
          <a:p>
            <a:endParaRPr lang="rm-CH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m-CH" dirty="0"/>
              <a:t>Schimbarea paginilor</a:t>
            </a:r>
          </a:p>
          <a:p>
            <a:r>
              <a:rPr lang="rm-CH" dirty="0"/>
              <a:t>FIFO</a:t>
            </a:r>
          </a:p>
          <a:p>
            <a:r>
              <a:rPr lang="rm-CH" dirty="0"/>
              <a:t>LRU</a:t>
            </a:r>
          </a:p>
          <a:p>
            <a:r>
              <a:rPr lang="rm-CH" dirty="0"/>
              <a:t>Second chance</a:t>
            </a:r>
          </a:p>
          <a:p>
            <a:r>
              <a:rPr lang="rm-CH" dirty="0"/>
              <a:t>NRU</a:t>
            </a:r>
          </a:p>
          <a:p>
            <a:r>
              <a:rPr lang="rm-CH" dirty="0"/>
              <a:t>Copy on write</a:t>
            </a:r>
          </a:p>
          <a:p>
            <a:r>
              <a:rPr lang="rm-CH" dirty="0"/>
              <a:t>Maparea paginilor</a:t>
            </a:r>
          </a:p>
          <a:p>
            <a:endParaRPr lang="rm-CH" dirty="0"/>
          </a:p>
          <a:p>
            <a:endParaRPr lang="rm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55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4183016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13992</TotalTime>
  <Words>1162</Words>
  <Application>Microsoft Macintosh PowerPoint</Application>
  <PresentationFormat>On-screen Show (4:3)</PresentationFormat>
  <Paragraphs>354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Paginare</vt:lpstr>
      <vt:lpstr>Paginare</vt:lpstr>
      <vt:lpstr>Tabelul de pagini</vt:lpstr>
      <vt:lpstr>Transformarea adreselor</vt:lpstr>
      <vt:lpstr>Transformarea adreselor</vt:lpstr>
      <vt:lpstr>Translation Lookaside Buffer (TLB)</vt:lpstr>
      <vt:lpstr>Transformarea adresei folosind TLB</vt:lpstr>
      <vt:lpstr>Protecția</vt:lpstr>
      <vt:lpstr>Intrare în tabelul de pagini</vt:lpstr>
      <vt:lpstr>Partajarea memoriei</vt:lpstr>
      <vt:lpstr>Paginare ierarhică</vt:lpstr>
      <vt:lpstr>Memoria vrituală</vt:lpstr>
      <vt:lpstr>Memoria virtuală</vt:lpstr>
      <vt:lpstr>Avantaje și dezavantaje</vt:lpstr>
      <vt:lpstr>Spațiul de adresare simplificat</vt:lpstr>
      <vt:lpstr>Spațiul de adresare simplificat</vt:lpstr>
      <vt:lpstr>Page fault</vt:lpstr>
      <vt:lpstr>Page fault</vt:lpstr>
      <vt:lpstr>Exemple de page fault-uri</vt:lpstr>
      <vt:lpstr>Page fault (swap)</vt:lpstr>
      <vt:lpstr>On-demand paging</vt:lpstr>
      <vt:lpstr>Etapele alocării de memorie</vt:lpstr>
      <vt:lpstr>Alocarea de memorie</vt:lpstr>
      <vt:lpstr>Swap</vt:lpstr>
      <vt:lpstr>Swap</vt:lpstr>
      <vt:lpstr>Swap în Windows și Linux</vt:lpstr>
      <vt:lpstr>Swap</vt:lpstr>
      <vt:lpstr>Schimbarea (swapping) unei pagini</vt:lpstr>
      <vt:lpstr>Care sunt paginile puse in swap?</vt:lpstr>
      <vt:lpstr>FIFO</vt:lpstr>
      <vt:lpstr>Exemplu</vt:lpstr>
      <vt:lpstr>Anomalia lui Belady</vt:lpstr>
      <vt:lpstr>LRU</vt:lpstr>
      <vt:lpstr>Exemple</vt:lpstr>
      <vt:lpstr>Dificultatea implementării LRU</vt:lpstr>
      <vt:lpstr>Second Chance</vt:lpstr>
      <vt:lpstr>Exemplu</vt:lpstr>
      <vt:lpstr>NRU - Not Recently Used</vt:lpstr>
      <vt:lpstr>Pagini rezidente</vt:lpstr>
      <vt:lpstr>Linux</vt:lpstr>
      <vt:lpstr>Swap Trashing</vt:lpstr>
      <vt:lpstr>Copy-on-write</vt:lpstr>
      <vt:lpstr>Proces nou - UNIX</vt:lpstr>
      <vt:lpstr>Copy on write - fork</vt:lpstr>
      <vt:lpstr>Exemplu</vt:lpstr>
      <vt:lpstr>Exemplu</vt:lpstr>
      <vt:lpstr>Maparea fișierelor</vt:lpstr>
      <vt:lpstr>Utilizare</vt:lpstr>
      <vt:lpstr>Exemplu</vt:lpstr>
      <vt:lpstr>Linux</vt:lpstr>
      <vt:lpstr>Exemple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1340</cp:revision>
  <dcterms:created xsi:type="dcterms:W3CDTF">2010-02-23T11:53:40Z</dcterms:created>
  <dcterms:modified xsi:type="dcterms:W3CDTF">2020-03-23T14:22:46Z</dcterms:modified>
</cp:coreProperties>
</file>