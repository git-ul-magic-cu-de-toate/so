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7" r:id="rId2"/>
    <p:sldId id="403" r:id="rId3"/>
    <p:sldId id="466" r:id="rId4"/>
    <p:sldId id="652" r:id="rId5"/>
    <p:sldId id="623" r:id="rId6"/>
    <p:sldId id="638" r:id="rId7"/>
    <p:sldId id="639" r:id="rId8"/>
    <p:sldId id="640" r:id="rId9"/>
    <p:sldId id="631" r:id="rId10"/>
    <p:sldId id="632" r:id="rId11"/>
    <p:sldId id="633" r:id="rId12"/>
    <p:sldId id="569" r:id="rId13"/>
    <p:sldId id="634" r:id="rId14"/>
    <p:sldId id="637" r:id="rId15"/>
    <p:sldId id="635" r:id="rId16"/>
    <p:sldId id="636" r:id="rId17"/>
    <p:sldId id="645" r:id="rId18"/>
    <p:sldId id="641" r:id="rId19"/>
    <p:sldId id="642" r:id="rId20"/>
    <p:sldId id="644" r:id="rId21"/>
    <p:sldId id="643" r:id="rId22"/>
    <p:sldId id="646" r:id="rId23"/>
    <p:sldId id="647" r:id="rId24"/>
    <p:sldId id="648" r:id="rId25"/>
    <p:sldId id="660" r:id="rId26"/>
    <p:sldId id="649" r:id="rId27"/>
    <p:sldId id="650" r:id="rId28"/>
    <p:sldId id="651" r:id="rId29"/>
    <p:sldId id="653" r:id="rId30"/>
    <p:sldId id="661" r:id="rId31"/>
    <p:sldId id="654" r:id="rId32"/>
    <p:sldId id="656" r:id="rId33"/>
    <p:sldId id="655" r:id="rId34"/>
    <p:sldId id="657" r:id="rId35"/>
    <p:sldId id="658" r:id="rId36"/>
    <p:sldId id="659" r:id="rId37"/>
    <p:sldId id="662" r:id="rId38"/>
    <p:sldId id="483" r:id="rId39"/>
    <p:sldId id="267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14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34" autoAdjust="0"/>
    <p:restoredTop sz="85082" autoAdjust="0"/>
  </p:normalViewPr>
  <p:slideViewPr>
    <p:cSldViewPr>
      <p:cViewPr varScale="1">
        <p:scale>
          <a:sx n="108" d="100"/>
          <a:sy n="108" d="100"/>
        </p:scale>
        <p:origin x="208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8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18"/>
    </p:cViewPr>
  </p:sorterViewPr>
  <p:notesViewPr>
    <p:cSldViewPr>
      <p:cViewPr varScale="1">
        <p:scale>
          <a:sx n="69" d="100"/>
          <a:sy n="69" d="100"/>
        </p:scale>
        <p:origin x="-279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1A42E-C745-4D52-ACD7-4CA427CF4F78}" type="datetimeFigureOut">
              <a:rPr lang="en-US" smtClean="0"/>
              <a:pPr/>
              <a:t>5/5/20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0CB2F-E359-427D-B4C1-80D122151B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10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110FA-B3C3-4C93-B177-7D383B68ACCB}" type="datetimeFigureOut">
              <a:rPr lang="en-US" smtClean="0"/>
              <a:pPr/>
              <a:t>5/5/20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096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191000"/>
            <a:ext cx="54864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301EB-536E-459D-BF26-B7AF0B3C1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5981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381000"/>
            <a:ext cx="48768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468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3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017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400" y="2438400"/>
            <a:ext cx="4648200" cy="106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3886200"/>
            <a:ext cx="4495800" cy="533400"/>
          </a:xfrm>
        </p:spPr>
        <p:txBody>
          <a:bodyPr>
            <a:no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E80A-9FA1-D94C-9AC8-2DFDB75B3324}" type="datetime1">
              <a:rPr lang="ro-RO" smtClean="0"/>
              <a:t>05.05.2020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81000" y="1828800"/>
            <a:ext cx="3352800" cy="3276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162800" cy="5635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69270-5514-9246-900B-ED888FCCAE8F}" type="datetime1">
              <a:rPr lang="ro-RO" smtClean="0"/>
              <a:t>05.05.2020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3BC7-FB55-9845-80D6-BD0683244A6F}" type="datetime1">
              <a:rPr lang="ro-RO" smtClean="0"/>
              <a:t>05.05.2020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D13-A941-B64F-A884-37CF169C52DA}" type="datetime1">
              <a:rPr lang="ro-RO" smtClean="0"/>
              <a:t>05.05.2020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D384-E5A5-3B4C-AD13-366CF706A15D}" type="datetime1">
              <a:rPr lang="ro-RO" smtClean="0"/>
              <a:t>05.05.2020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910C-8865-0A4C-AE0D-9CBC416F8CC4}" type="datetime1">
              <a:rPr lang="ro-RO" smtClean="0"/>
              <a:t>05.05.2020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3ABE3-8843-4443-8D05-18EF7E1F058A}" type="datetime1">
              <a:rPr lang="ro-RO" smtClean="0"/>
              <a:t>05.05.2020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43F9-D243-B946-B36A-E4C465AE7595}" type="datetime1">
              <a:rPr lang="ro-RO" smtClean="0"/>
              <a:t>05.05.2020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F6018-3745-8847-AB04-EDAB368A0BAF}" type="datetime1">
              <a:rPr lang="ro-RO" smtClean="0"/>
              <a:t>05.05.2020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83E6-3D2B-B144-96B3-0591C89AACD2}" type="datetime1">
              <a:rPr lang="ro-RO" smtClean="0"/>
              <a:t>05.05.2020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5110F-C4CB-6649-9BAC-7584921789EB}" type="datetime1">
              <a:rPr lang="ro-RO" smtClean="0"/>
              <a:t>05.05.2020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7467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70BE0-75C7-0E48-86F9-13113292EB8F}" type="datetime1">
              <a:rPr lang="ro-RO" smtClean="0"/>
              <a:t>05.05.2020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499DE6-865C-8F49-845D-89F89C77661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74646" y="152400"/>
            <a:ext cx="905346" cy="4363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00000"/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FFC000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B050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o-RO" b="1"/>
              <a:t>Sisteme de operare</a:t>
            </a:r>
            <a:endParaRPr lang="ro-RO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/>
              <a:t>Dispozitive de </a:t>
            </a:r>
            <a:r>
              <a:rPr lang="ro-RO" dirty="0" err="1"/>
              <a:t>Intrare/Ieșire</a:t>
            </a:r>
            <a:endParaRPr lang="ro-RO" dirty="0"/>
          </a:p>
        </p:txBody>
      </p:sp>
      <p:pic>
        <p:nvPicPr>
          <p:cNvPr id="11" name="Picture Placeholder 4">
            <a:extLst>
              <a:ext uri="{FF2B5EF4-FFF2-40B4-BE49-F238E27FC236}">
                <a16:creationId xmlns:a16="http://schemas.microsoft.com/office/drawing/2014/main" id="{AED628B3-2EF3-4141-8AAF-9C1297B95C3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268" b="-51268"/>
          <a:stretch/>
        </p:blipFill>
        <p:spPr/>
      </p:pic>
    </p:spTree>
    <p:extLst>
      <p:ext uri="{BB962C8B-B14F-4D97-AF65-F5344CB8AC3E}">
        <p14:creationId xmlns:p14="http://schemas.microsoft.com/office/powerpoint/2010/main" val="1505175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572000" cy="4525963"/>
          </a:xfrm>
        </p:spPr>
        <p:txBody>
          <a:bodyPr>
            <a:normAutofit/>
          </a:bodyPr>
          <a:lstStyle/>
          <a:p>
            <a:r>
              <a:rPr lang="rm-CH" dirty="0"/>
              <a:t>tipuri de dispozitive</a:t>
            </a:r>
          </a:p>
          <a:p>
            <a:r>
              <a:rPr lang="rm-CH" dirty="0"/>
              <a:t>comunicarea cu dispozitivele </a:t>
            </a:r>
          </a:p>
          <a:p>
            <a:r>
              <a:rPr lang="rm-CH" dirty="0"/>
              <a:t>tipul de operații I/O</a:t>
            </a:r>
          </a:p>
          <a:p>
            <a:pPr lvl="1"/>
            <a:r>
              <a:rPr lang="rm-CH" dirty="0"/>
              <a:t>kernel preemtiv/ne-preemtiv</a:t>
            </a:r>
          </a:p>
          <a:p>
            <a:endParaRPr lang="rm-CH" dirty="0"/>
          </a:p>
          <a:p>
            <a:endParaRPr lang="rm-CH" dirty="0"/>
          </a:p>
          <a:p>
            <a:endParaRPr lang="rm-CH" dirty="0"/>
          </a:p>
          <a:p>
            <a:endParaRPr lang="rm-CH" dirty="0"/>
          </a:p>
        </p:txBody>
      </p:sp>
      <p:pic>
        <p:nvPicPr>
          <p:cNvPr id="6" name="Content Placeholder 5" descr="checklist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5372100" y="2434431"/>
            <a:ext cx="2590800" cy="28575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A1572-7B95-894A-BCE2-FBE8C5D5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2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6031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Bibliografie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dirty="0"/>
              <a:t>Modern </a:t>
            </a:r>
            <a:r>
              <a:rPr lang="ro-RO" dirty="0" err="1"/>
              <a:t>Operating</a:t>
            </a:r>
            <a:r>
              <a:rPr lang="ro-RO" dirty="0"/>
              <a:t> </a:t>
            </a:r>
            <a:r>
              <a:rPr lang="ro-RO" dirty="0" err="1"/>
              <a:t>Systems</a:t>
            </a:r>
            <a:endParaRPr lang="ro-RO" dirty="0"/>
          </a:p>
          <a:p>
            <a:pPr lvl="1"/>
            <a:r>
              <a:rPr lang="ro-RO" dirty="0"/>
              <a:t>Capitolul 5</a:t>
            </a:r>
          </a:p>
          <a:p>
            <a:pPr lvl="2"/>
            <a:r>
              <a:rPr lang="ro-RO" dirty="0"/>
              <a:t>5.1</a:t>
            </a:r>
          </a:p>
          <a:p>
            <a:pPr lvl="2"/>
            <a:r>
              <a:rPr lang="ro-RO" dirty="0"/>
              <a:t>5.2</a:t>
            </a:r>
          </a:p>
          <a:p>
            <a:pPr lvl="2"/>
            <a:r>
              <a:rPr lang="ro-RO" dirty="0"/>
              <a:t>5.3</a:t>
            </a:r>
          </a:p>
          <a:p>
            <a:r>
              <a:rPr lang="ro-RO" dirty="0" err="1"/>
              <a:t>Operating</a:t>
            </a:r>
            <a:r>
              <a:rPr lang="ro-RO" dirty="0"/>
              <a:t> </a:t>
            </a:r>
            <a:r>
              <a:rPr lang="ro-RO" dirty="0" err="1"/>
              <a:t>Systems</a:t>
            </a:r>
            <a:r>
              <a:rPr lang="ro-RO" dirty="0"/>
              <a:t> </a:t>
            </a:r>
            <a:r>
              <a:rPr lang="ro-RO" dirty="0" err="1"/>
              <a:t>Concepts</a:t>
            </a:r>
            <a:endParaRPr lang="ro-RO" dirty="0"/>
          </a:p>
          <a:p>
            <a:pPr lvl="1"/>
            <a:r>
              <a:rPr lang="ro-RO" dirty="0"/>
              <a:t>Capitolul 13</a:t>
            </a:r>
          </a:p>
          <a:p>
            <a:pPr lvl="2"/>
            <a:r>
              <a:rPr lang="ro-RO" dirty="0"/>
              <a:t>13.1</a:t>
            </a:r>
          </a:p>
          <a:p>
            <a:pPr lvl="2"/>
            <a:r>
              <a:rPr lang="ro-RO" dirty="0"/>
              <a:t>13.2</a:t>
            </a:r>
          </a:p>
          <a:p>
            <a:pPr lvl="2"/>
            <a:r>
              <a:rPr lang="ro-RO" dirty="0"/>
              <a:t>13.3</a:t>
            </a:r>
          </a:p>
          <a:p>
            <a:pPr lvl="2"/>
            <a:r>
              <a:rPr lang="ro-RO" dirty="0"/>
              <a:t>13.4</a:t>
            </a:r>
          </a:p>
          <a:p>
            <a:pPr lvl="2"/>
            <a:r>
              <a:rPr lang="ro-RO" dirty="0"/>
              <a:t>13.5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7CAAA-57D9-064F-A3FB-02529212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08017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CC541FE-D195-374E-A894-18707921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Top </a:t>
            </a:r>
            <a:r>
              <a:rPr lang="ro-RO" dirty="0" err="1"/>
              <a:t>view</a:t>
            </a:r>
            <a:endParaRPr lang="ro-RO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B29548-5E84-2246-8EBA-91E1718FDE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693" y="1600200"/>
            <a:ext cx="6810614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E4003-AFBD-CE4E-AB05-D6F163F3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74221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95AD4-3716-6345-8D50-E7DAA381A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 dirty="0"/>
              <a:t>Sistemul de Intrare și Ieșire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CCFD9A-B45D-6045-8E86-C08F13E56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540" y="1600200"/>
            <a:ext cx="6634919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105EE-E130-B245-AC78-FCA3D51EF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5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326242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CBBEC9-3D13-3C4B-A0A7-878C6BD28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Dispozive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C16C74-4189-BB47-A117-D19324616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FA9D6-4765-BE48-A7BD-541A69714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02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97163D2-7AF8-6249-904E-C8F38128D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Dispozitiv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801BFB-ADD3-004F-AAD5-BB051D5B2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Controller</a:t>
            </a:r>
          </a:p>
          <a:p>
            <a:pPr lvl="1"/>
            <a:r>
              <a:rPr lang="ro-RO"/>
              <a:t>un procesor care controlează dispozitivul</a:t>
            </a:r>
          </a:p>
          <a:p>
            <a:pPr lvl="2"/>
            <a:r>
              <a:rPr lang="ro-RO"/>
              <a:t>probabil are firmware</a:t>
            </a:r>
          </a:p>
          <a:p>
            <a:pPr lvl="2"/>
            <a:endParaRPr lang="ro-RO"/>
          </a:p>
          <a:p>
            <a:r>
              <a:rPr lang="ro-RO"/>
              <a:t>Registre (port-uri)</a:t>
            </a:r>
          </a:p>
          <a:p>
            <a:pPr lvl="1"/>
            <a:r>
              <a:rPr lang="ro-RO"/>
              <a:t>pentru schimb de date</a:t>
            </a:r>
          </a:p>
          <a:p>
            <a:pPr lvl="1"/>
            <a:endParaRPr lang="ro-RO"/>
          </a:p>
          <a:p>
            <a:r>
              <a:rPr lang="ro-RO"/>
              <a:t>Sistem de conectare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241FB-A7E3-AD4E-8C72-34B8CD133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99444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7500-D244-5F45-9570-6A1D507CC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/>
              <a:t>Registre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306AC-2A4F-8645-8B4E-FA2293D70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m-CH"/>
              <a:t>data-in register</a:t>
            </a:r>
          </a:p>
          <a:p>
            <a:r>
              <a:rPr lang="rm-CH"/>
              <a:t>data-out register</a:t>
            </a:r>
          </a:p>
          <a:p>
            <a:endParaRPr lang="rm-CH"/>
          </a:p>
          <a:p>
            <a:r>
              <a:rPr lang="rm-CH"/>
              <a:t>status register</a:t>
            </a:r>
          </a:p>
          <a:p>
            <a:pPr lvl="1"/>
            <a:r>
              <a:rPr lang="rm-CH"/>
              <a:t>READY / BUSY </a:t>
            </a:r>
          </a:p>
          <a:p>
            <a:pPr lvl="1"/>
            <a:endParaRPr lang="rm-CH"/>
          </a:p>
          <a:p>
            <a:r>
              <a:rPr lang="rm-CH"/>
              <a:t>control register</a:t>
            </a:r>
          </a:p>
          <a:p>
            <a:pPr lvl="1"/>
            <a:r>
              <a:rPr lang="rm-CH"/>
              <a:t>trimiterea comenzilor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24B54-76DA-3946-8175-DD5E0394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8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3306075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7B892-0504-A84D-BFA3-6BEDEA2C3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Tipuri de dispozitive (transfer)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7E098-ACEA-B24D-9696-9567EFE6C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Caracter</a:t>
            </a:r>
          </a:p>
          <a:p>
            <a:pPr lvl="1"/>
            <a:r>
              <a:rPr lang="ro-RO" dirty="0"/>
              <a:t>transferul de date se face la nivel de byte</a:t>
            </a:r>
          </a:p>
          <a:p>
            <a:pPr lvl="1"/>
            <a:endParaRPr lang="ro-RO" dirty="0"/>
          </a:p>
          <a:p>
            <a:r>
              <a:rPr lang="ro-RO" dirty="0"/>
              <a:t>Block</a:t>
            </a:r>
          </a:p>
          <a:p>
            <a:pPr lvl="1"/>
            <a:r>
              <a:rPr lang="ro-RO" dirty="0"/>
              <a:t>transferul de date se face doar în blocuri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6906D-5FCC-5D4F-BF75-D6F794B8D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06987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7B892-0504-A84D-BFA3-6BEDEA2C3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Tipuri de dispozitive (acces)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7E098-ACEA-B24D-9696-9567EFE6C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Serial</a:t>
            </a:r>
          </a:p>
          <a:p>
            <a:pPr lvl="1"/>
            <a:r>
              <a:rPr lang="ro-RO" dirty="0"/>
              <a:t>transferul de date se face doar serial</a:t>
            </a:r>
          </a:p>
          <a:p>
            <a:pPr lvl="2"/>
            <a:r>
              <a:rPr lang="ro-RO" dirty="0"/>
              <a:t>nu se poate face </a:t>
            </a:r>
            <a:r>
              <a:rPr lang="ro-RO" i="1" dirty="0" err="1"/>
              <a:t>seek</a:t>
            </a:r>
            <a:endParaRPr lang="ro-RO" i="1" dirty="0"/>
          </a:p>
          <a:p>
            <a:pPr lvl="1"/>
            <a:endParaRPr lang="ro-RO" dirty="0"/>
          </a:p>
          <a:p>
            <a:r>
              <a:rPr lang="ro-RO" dirty="0" err="1"/>
              <a:t>Aleator</a:t>
            </a:r>
            <a:endParaRPr lang="ro-RO" dirty="0"/>
          </a:p>
          <a:p>
            <a:pPr lvl="1"/>
            <a:r>
              <a:rPr lang="ro-RO" dirty="0"/>
              <a:t>transferul de date se face către orice poziție</a:t>
            </a:r>
          </a:p>
          <a:p>
            <a:pPr lvl="2"/>
            <a:r>
              <a:rPr lang="ro-RO" dirty="0"/>
              <a:t>se poate face </a:t>
            </a:r>
            <a:r>
              <a:rPr lang="ro-RO" i="1" dirty="0" err="1"/>
              <a:t>seek</a:t>
            </a:r>
            <a:endParaRPr lang="ro-RO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6906D-5FCC-5D4F-BF75-D6F794B8D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48017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7B892-0504-A84D-BFA3-6BEDEA2C3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Tipuri de dispozitive (timp)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7E098-ACEA-B24D-9696-9567EFE6C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Sincron</a:t>
            </a:r>
          </a:p>
          <a:p>
            <a:pPr lvl="1"/>
            <a:r>
              <a:rPr lang="ro-RO" dirty="0"/>
              <a:t>perifericul transferă date doar la cerere</a:t>
            </a:r>
            <a:endParaRPr lang="ro-RO" i="1" dirty="0"/>
          </a:p>
          <a:p>
            <a:pPr lvl="1"/>
            <a:endParaRPr lang="ro-RO" dirty="0"/>
          </a:p>
          <a:p>
            <a:r>
              <a:rPr lang="ro-RO" dirty="0"/>
              <a:t>Asincron</a:t>
            </a:r>
          </a:p>
          <a:p>
            <a:pPr lvl="1"/>
            <a:r>
              <a:rPr lang="ro-RO" dirty="0"/>
              <a:t>perifericul transferă date oricând</a:t>
            </a:r>
            <a:endParaRPr lang="ro-RO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6906D-5FCC-5D4F-BF75-D6F794B8D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40366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CBACA8C-94BB-254A-B031-B6F39280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Comunicarea cu dispozitivele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6FFB70-C609-5D4C-B192-928ABDA10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93724-8C8E-C144-AC92-D515836D4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396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E60AB0F-D117-4B44-AB75-AEF18E251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/>
              <a:t>Comunicarea cu dispozitivele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8879CE-61F7-3A43-A958-9EABC1C1E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m-CH" dirty="0"/>
              <a:t>Port mapped I/O</a:t>
            </a:r>
          </a:p>
          <a:p>
            <a:pPr lvl="1"/>
            <a:r>
              <a:rPr lang="rm-CH" dirty="0"/>
              <a:t>spațiu de adrese separat de RAM</a:t>
            </a:r>
          </a:p>
          <a:p>
            <a:pPr lvl="1"/>
            <a:r>
              <a:rPr lang="rm-CH" dirty="0"/>
              <a:t>instrucțiuni separate</a:t>
            </a:r>
          </a:p>
          <a:p>
            <a:pPr lvl="1"/>
            <a:endParaRPr lang="rm-CH" dirty="0"/>
          </a:p>
          <a:p>
            <a:r>
              <a:rPr lang="rm-CH" dirty="0"/>
              <a:t>Memory mapped I/O</a:t>
            </a:r>
          </a:p>
          <a:p>
            <a:pPr lvl="1"/>
            <a:r>
              <a:rPr lang="rm-CH" dirty="0"/>
              <a:t>partajarea spațiului de cu RAM</a:t>
            </a:r>
          </a:p>
          <a:p>
            <a:pPr lvl="1"/>
            <a:r>
              <a:rPr lang="rm-CH" dirty="0"/>
              <a:t>aceeleași instrucțiuni pentru accesul la memorie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43CC9-E683-0C4D-95D7-C83C3BD8B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13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4144074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95AD4-3716-6345-8D50-E7DAA381A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 dirty="0"/>
              <a:t>Sistemul de Intrare și Ieșire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CCFD9A-B45D-6045-8E86-C08F13E56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540" y="1600200"/>
            <a:ext cx="6634919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105EE-E130-B245-AC78-FCA3D51EF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14</a:t>
            </a:fld>
            <a:endParaRPr lang="rm-CH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8F24949-5ED3-BF4E-A9A4-97D38A7E5E1C}"/>
              </a:ext>
            </a:extLst>
          </p:cNvPr>
          <p:cNvSpPr/>
          <p:nvPr/>
        </p:nvSpPr>
        <p:spPr>
          <a:xfrm>
            <a:off x="3429000" y="3200400"/>
            <a:ext cx="1219200" cy="609600"/>
          </a:xfrm>
          <a:prstGeom prst="round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21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8DBB-EFEE-B240-BBEF-5C8DDF7F2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Port Mapped I/O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B18C32D-E0D1-F445-8049-2C6DC953E5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60" y="1600200"/>
            <a:ext cx="7644080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B1A19-5064-374A-9C80-7063A843D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79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12411-3334-EE42-A2AC-329E7CE4F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Memory Mapped I/O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F1263C-F944-1146-8C46-0A9181247D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283" y="1600200"/>
            <a:ext cx="5571433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D2EAF-2C58-FE49-B0D1-BDD400AB9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371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5B587-66DD-A046-91C4-16EA3812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Port </a:t>
            </a:r>
            <a:r>
              <a:rPr lang="ro-RO" dirty="0" err="1"/>
              <a:t>vs</a:t>
            </a:r>
            <a:r>
              <a:rPr lang="ro-RO" dirty="0"/>
              <a:t> </a:t>
            </a:r>
            <a:r>
              <a:rPr lang="ro-RO" dirty="0" err="1"/>
              <a:t>Memory</a:t>
            </a:r>
            <a:r>
              <a:rPr lang="ro-RO" dirty="0"/>
              <a:t> </a:t>
            </a:r>
            <a:r>
              <a:rPr lang="ro-RO" dirty="0" err="1"/>
              <a:t>Mapped</a:t>
            </a:r>
            <a:r>
              <a:rPr lang="ro-RO" dirty="0"/>
              <a:t> I/O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135C35-35B4-DB49-9D55-87A0AC648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/>
              <a:t>Port Mapped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B43DBDE-8515-654E-A710-06C969EDCA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o-RO"/>
              <a:t>Spațiu de adrese diferit</a:t>
            </a:r>
          </a:p>
          <a:p>
            <a:endParaRPr lang="ro-RO"/>
          </a:p>
          <a:p>
            <a:r>
              <a:rPr lang="ro-RO"/>
              <a:t>Instrucțiuni speciale</a:t>
            </a:r>
          </a:p>
          <a:p>
            <a:endParaRPr lang="ro-RO"/>
          </a:p>
          <a:p>
            <a:r>
              <a:rPr lang="ro-RO"/>
              <a:t>Mai rapid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6951C4-8A88-3049-AAB2-D0FAB5ADB3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Memory Mapped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538D2CB-1170-C148-86AE-333D0E2DE5C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ro-RO" i="1"/>
              <a:t>Ocupă</a:t>
            </a:r>
            <a:r>
              <a:rPr lang="ro-RO"/>
              <a:t> RAM</a:t>
            </a:r>
          </a:p>
          <a:p>
            <a:endParaRPr lang="ro-RO"/>
          </a:p>
          <a:p>
            <a:r>
              <a:rPr lang="ro-RO"/>
              <a:t>Trebuie dezactivat cache-ul</a:t>
            </a:r>
          </a:p>
          <a:p>
            <a:endParaRPr lang="ro-RO"/>
          </a:p>
          <a:p>
            <a:r>
              <a:rPr lang="ro-RO"/>
              <a:t>Folosește memoria virtuală</a:t>
            </a:r>
          </a:p>
          <a:p>
            <a:endParaRPr lang="ro-RO"/>
          </a:p>
          <a:p>
            <a:r>
              <a:rPr lang="ro-RO"/>
              <a:t>Magistrală mai complex</a:t>
            </a:r>
          </a:p>
          <a:p>
            <a:endParaRPr lang="ro-RO"/>
          </a:p>
          <a:p>
            <a:r>
              <a:rPr lang="ro-RO"/>
              <a:t>Mai lent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64F71-30EC-974F-BA15-6D70B097F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85118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F282-6C95-E147-8C6B-CDFF70201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Tipuri de interacțiune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403E6-9BFA-0B41-A5AB-C104AF29F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Programmed I/O (PIO)</a:t>
            </a:r>
          </a:p>
          <a:p>
            <a:pPr lvl="1"/>
            <a:r>
              <a:rPr lang="ro-RO"/>
              <a:t>polling (busy waiting)</a:t>
            </a:r>
          </a:p>
          <a:p>
            <a:pPr lvl="1"/>
            <a:r>
              <a:rPr lang="ro-RO"/>
              <a:t>interrupts</a:t>
            </a:r>
          </a:p>
          <a:p>
            <a:endParaRPr lang="ro-RO"/>
          </a:p>
          <a:p>
            <a:r>
              <a:rPr lang="ro-RO"/>
              <a:t>Direct (Virtual) Memory Access</a:t>
            </a:r>
          </a:p>
          <a:p>
            <a:pPr lvl="1"/>
            <a:r>
              <a:rPr lang="ro-RO"/>
              <a:t>DMA / DVMA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CB429-7070-4D4B-BD48-A3357A80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71969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56188-065E-F34A-BEE7-629F0CFC1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DC408-3885-2B48-BDED-8304ED964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(STATUS != READY);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GB" sz="24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p = </a:t>
            </a:r>
            <a:r>
              <a:rPr lang="en-GB" sz="24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; p &lt; BUFFER_SIZE; p++)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	DATA_OUT = </a:t>
            </a:r>
            <a:r>
              <a:rPr lang="en-GB" sz="2400" dirty="0">
                <a:solidFill>
                  <a:srgbClr val="001080"/>
                </a:solidFill>
                <a:latin typeface="Menlo" panose="020B0609030804020204" pitchFamily="49" charset="0"/>
              </a:rPr>
              <a:t>data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[p];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AF00DB"/>
                </a:solidFill>
                <a:latin typeface="Menlo" panose="020B0609030804020204" pitchFamily="49" charset="0"/>
              </a:rPr>
              <a:t>	while</a:t>
            </a: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 (STATUS != READY);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B35BA-F73C-8947-95ED-EA16FD6AD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378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43681-1DD1-6941-A40E-2BEB00B84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Interrupts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146586-EB32-3D4B-AC47-50D88A3E18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798" y="1600200"/>
            <a:ext cx="4956404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03861-F7C1-C24D-95FF-E8FFDF94C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Curved Left Arrow 6">
            <a:extLst>
              <a:ext uri="{FF2B5EF4-FFF2-40B4-BE49-F238E27FC236}">
                <a16:creationId xmlns:a16="http://schemas.microsoft.com/office/drawing/2014/main" id="{26B4D62E-74F2-904F-B53D-9A53AAC164A8}"/>
              </a:ext>
            </a:extLst>
          </p:cNvPr>
          <p:cNvSpPr/>
          <p:nvPr/>
        </p:nvSpPr>
        <p:spPr>
          <a:xfrm>
            <a:off x="6858000" y="4191000"/>
            <a:ext cx="533400" cy="914400"/>
          </a:xfrm>
          <a:prstGeom prst="curved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0331AA-38CA-1C4B-8581-AF45FFFBD55D}"/>
              </a:ext>
            </a:extLst>
          </p:cNvPr>
          <p:cNvSpPr txBox="1"/>
          <p:nvPr/>
        </p:nvSpPr>
        <p:spPr>
          <a:xfrm>
            <a:off x="7696200" y="4463534"/>
            <a:ext cx="12675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Se repetă</a:t>
            </a:r>
          </a:p>
        </p:txBody>
      </p:sp>
    </p:spTree>
    <p:extLst>
      <p:ext uri="{BB962C8B-B14F-4D97-AF65-F5344CB8AC3E}">
        <p14:creationId xmlns:p14="http://schemas.microsoft.com/office/powerpoint/2010/main" val="1220656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BAEBD-49D8-F94A-9421-C664341D9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Interrupts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BB434-2794-4242-AD8E-705B9FBA1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52133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o-RO" sz="17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p = </a:t>
            </a:r>
            <a:r>
              <a:rPr lang="ro-RO" sz="170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170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sending = </a:t>
            </a:r>
            <a:r>
              <a:rPr lang="ro-RO" sz="1700">
                <a:solidFill>
                  <a:srgbClr val="0000FF"/>
                </a:solidFill>
                <a:latin typeface="Menlo" panose="020B0609030804020204" pitchFamily="49" charset="0"/>
              </a:rPr>
              <a:t>false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170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1700">
                <a:solidFill>
                  <a:srgbClr val="795E26"/>
                </a:solidFill>
                <a:latin typeface="Menlo" panose="020B0609030804020204" pitchFamily="49" charset="0"/>
              </a:rPr>
              <a:t>handle_interrupt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ro-RO" sz="1700">
                <a:solidFill>
                  <a:srgbClr val="AF00DB"/>
                </a:solidFill>
                <a:latin typeface="Menlo" panose="020B0609030804020204" pitchFamily="49" charset="0"/>
              </a:rPr>
              <a:t>   if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(p &lt; BUFFER_SIZE) {</a:t>
            </a:r>
          </a:p>
          <a:p>
            <a:pPr marL="0" indent="0">
              <a:buNone/>
            </a:pP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     DATA_OUT = </a:t>
            </a:r>
            <a:r>
              <a:rPr lang="ro-RO" sz="1700">
                <a:solidFill>
                  <a:srgbClr val="001080"/>
                </a:solidFill>
                <a:latin typeface="Menlo" panose="020B0609030804020204" pitchFamily="49" charset="0"/>
              </a:rPr>
              <a:t>data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[p]; p = p + </a:t>
            </a:r>
            <a:r>
              <a:rPr lang="ro-RO" sz="170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  }</a:t>
            </a:r>
          </a:p>
          <a:p>
            <a:pPr marL="0" indent="0">
              <a:buNone/>
            </a:pPr>
            <a:r>
              <a:rPr lang="ro-RO" sz="1700">
                <a:solidFill>
                  <a:srgbClr val="AF00DB"/>
                </a:solidFill>
                <a:latin typeface="Menlo" panose="020B0609030804020204" pitchFamily="49" charset="0"/>
              </a:rPr>
              <a:t>   else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{ </a:t>
            </a:r>
            <a:r>
              <a:rPr lang="ro-RO" sz="1700">
                <a:solidFill>
                  <a:srgbClr val="795E26"/>
                </a:solidFill>
                <a:latin typeface="Menlo" panose="020B0609030804020204" pitchFamily="49" charset="0"/>
              </a:rPr>
              <a:t>disable_interupt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(); sending = </a:t>
            </a:r>
            <a:r>
              <a:rPr lang="ro-RO" sz="1700">
                <a:solidFill>
                  <a:srgbClr val="0000FF"/>
                </a:solidFill>
                <a:latin typeface="Menlo" panose="020B0609030804020204" pitchFamily="49" charset="0"/>
              </a:rPr>
              <a:t>false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ro-RO" sz="1700">
                <a:solidFill>
                  <a:srgbClr val="795E26"/>
                </a:solidFill>
                <a:latin typeface="Menlo" panose="020B0609030804020204" pitchFamily="49" charset="0"/>
              </a:rPr>
              <a:t>send_done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(); }</a:t>
            </a:r>
          </a:p>
          <a:p>
            <a:pPr marL="0" indent="0">
              <a:buNone/>
            </a:pP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b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170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1700">
                <a:solidFill>
                  <a:srgbClr val="795E26"/>
                </a:solidFill>
                <a:latin typeface="Menlo" panose="020B0609030804020204" pitchFamily="49" charset="0"/>
              </a:rPr>
              <a:t>send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ro-RO" sz="1700">
                <a:solidFill>
                  <a:srgbClr val="AF00DB"/>
                </a:solidFill>
                <a:latin typeface="Menlo" panose="020B0609030804020204" pitchFamily="49" charset="0"/>
              </a:rPr>
              <a:t>   if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(!sending) {</a:t>
            </a:r>
          </a:p>
          <a:p>
            <a:pPr marL="0" indent="0">
              <a:buNone/>
            </a:pP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      p = </a:t>
            </a:r>
            <a:r>
              <a:rPr lang="ro-RO" sz="170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; sending = </a:t>
            </a:r>
            <a:r>
              <a:rPr lang="ro-RO" sz="170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ro-RO" sz="1700">
                <a:solidFill>
                  <a:srgbClr val="795E26"/>
                </a:solidFill>
                <a:latin typeface="Menlo" panose="020B0609030804020204" pitchFamily="49" charset="0"/>
              </a:rPr>
              <a:t>enable_interrupt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();</a:t>
            </a:r>
          </a:p>
          <a:p>
            <a:pPr marL="0" indent="0">
              <a:buNone/>
            </a:pPr>
            <a:r>
              <a:rPr lang="ro-RO" sz="1700">
                <a:solidFill>
                  <a:srgbClr val="AF00DB"/>
                </a:solidFill>
                <a:latin typeface="Menlo" panose="020B0609030804020204" pitchFamily="49" charset="0"/>
              </a:rPr>
              <a:t>       return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170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  }</a:t>
            </a:r>
          </a:p>
          <a:p>
            <a:pPr marL="0" indent="0">
              <a:buNone/>
            </a:pPr>
            <a:r>
              <a:rPr lang="ro-RO" sz="1700">
                <a:solidFill>
                  <a:srgbClr val="AF00DB"/>
                </a:solidFill>
                <a:latin typeface="Menlo" panose="020B0609030804020204" pitchFamily="49" charset="0"/>
              </a:rPr>
              <a:t>   return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1700">
                <a:solidFill>
                  <a:srgbClr val="0000FF"/>
                </a:solidFill>
                <a:latin typeface="Menlo" panose="020B0609030804020204" pitchFamily="49" charset="0"/>
              </a:rPr>
              <a:t>false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sz="17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706C8-E5B0-034A-A869-91EF4C02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61172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38463-0E55-9D49-B4BA-7FB0F1537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Direct Memory Access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9941AA-8EFC-F348-8668-60BD17431E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674" y="1600200"/>
            <a:ext cx="6638651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95076-F3CF-0145-B3DE-7989F2554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35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040C7-D6F5-2345-949A-259B75A03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Direct Memory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E8D32-9FB0-504A-95A7-538DA6F92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52133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o-RO" sz="170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sending = </a:t>
            </a:r>
            <a:r>
              <a:rPr lang="ro-RO" sz="1700">
                <a:solidFill>
                  <a:srgbClr val="0000FF"/>
                </a:solidFill>
                <a:latin typeface="Menlo" panose="020B0609030804020204" pitchFamily="49" charset="0"/>
              </a:rPr>
              <a:t>false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170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1700">
                <a:solidFill>
                  <a:srgbClr val="795E26"/>
                </a:solidFill>
                <a:latin typeface="Menlo" panose="020B0609030804020204" pitchFamily="49" charset="0"/>
              </a:rPr>
              <a:t>handle_dma_interrupt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() {</a:t>
            </a:r>
          </a:p>
          <a:p>
            <a:pPr marL="0" indent="0">
              <a:buNone/>
            </a:pP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  sending = </a:t>
            </a:r>
            <a:r>
              <a:rPr lang="ro-RO" sz="1700">
                <a:solidFill>
                  <a:srgbClr val="0000FF"/>
                </a:solidFill>
                <a:latin typeface="Menlo" panose="020B0609030804020204" pitchFamily="49" charset="0"/>
              </a:rPr>
              <a:t>false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ro-RO" sz="1700">
                <a:solidFill>
                  <a:srgbClr val="795E26"/>
                </a:solidFill>
                <a:latin typeface="Menlo" panose="020B0609030804020204" pitchFamily="49" charset="0"/>
              </a:rPr>
              <a:t>disable_dma_interupt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();</a:t>
            </a:r>
          </a:p>
          <a:p>
            <a:pPr marL="0" indent="0">
              <a:buNone/>
            </a:pPr>
            <a:r>
              <a:rPr lang="ro-RO" sz="1700">
                <a:solidFill>
                  <a:srgbClr val="795E26"/>
                </a:solidFill>
                <a:latin typeface="Menlo" panose="020B0609030804020204" pitchFamily="49" charset="0"/>
              </a:rPr>
              <a:t>   send_done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();</a:t>
            </a:r>
          </a:p>
          <a:p>
            <a:pPr marL="0" indent="0">
              <a:buNone/>
            </a:pP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b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170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1700">
                <a:solidFill>
                  <a:srgbClr val="795E26"/>
                </a:solidFill>
                <a:latin typeface="Menlo" panose="020B0609030804020204" pitchFamily="49" charset="0"/>
              </a:rPr>
              <a:t>send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() {</a:t>
            </a:r>
          </a:p>
          <a:p>
            <a:pPr marL="0" indent="0">
              <a:buNone/>
            </a:pPr>
            <a:r>
              <a:rPr lang="ro-RO" sz="1700">
                <a:solidFill>
                  <a:srgbClr val="AF00DB"/>
                </a:solidFill>
                <a:latin typeface="Menlo" panose="020B0609030804020204" pitchFamily="49" charset="0"/>
              </a:rPr>
              <a:t>   if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(!sending) {</a:t>
            </a:r>
          </a:p>
          <a:p>
            <a:pPr marL="0" indent="0">
              <a:buNone/>
            </a:pP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      sending = </a:t>
            </a:r>
            <a:r>
              <a:rPr lang="ro-RO" sz="170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</a:p>
          <a:p>
            <a:pPr marL="0" indent="0">
              <a:buNone/>
            </a:pP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      DMA_DATA = &amp;data; </a:t>
            </a:r>
          </a:p>
          <a:p>
            <a:pPr marL="0" indent="0">
              <a:buNone/>
            </a:pP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      DMA_LEN = BUFFER_SIZE; </a:t>
            </a:r>
          </a:p>
          <a:p>
            <a:pPr marL="0" indent="0">
              <a:buNone/>
            </a:pP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      </a:t>
            </a:r>
            <a:r>
              <a:rPr lang="ro-RO" sz="1700">
                <a:solidFill>
                  <a:srgbClr val="795E26"/>
                </a:solidFill>
                <a:latin typeface="Menlo" panose="020B0609030804020204" pitchFamily="49" charset="0"/>
              </a:rPr>
              <a:t>enable_dma_interrupt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();</a:t>
            </a:r>
          </a:p>
          <a:p>
            <a:pPr marL="0" indent="0">
              <a:buNone/>
            </a:pPr>
            <a:r>
              <a:rPr lang="ro-RO" sz="1700">
                <a:solidFill>
                  <a:srgbClr val="AF00DB"/>
                </a:solidFill>
                <a:latin typeface="Menlo" panose="020B0609030804020204" pitchFamily="49" charset="0"/>
              </a:rPr>
              <a:t>       return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170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  }</a:t>
            </a:r>
          </a:p>
          <a:p>
            <a:pPr marL="0" indent="0">
              <a:buNone/>
            </a:pPr>
            <a:r>
              <a:rPr lang="ro-RO" sz="1700">
                <a:solidFill>
                  <a:srgbClr val="AF00DB"/>
                </a:solidFill>
                <a:latin typeface="Menlo" panose="020B0609030804020204" pitchFamily="49" charset="0"/>
              </a:rPr>
              <a:t>   return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1700">
                <a:solidFill>
                  <a:srgbClr val="0000FF"/>
                </a:solidFill>
                <a:latin typeface="Menlo" panose="020B0609030804020204" pitchFamily="49" charset="0"/>
              </a:rPr>
              <a:t>false</a:t>
            </a: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17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sz="17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F53F8-BA82-504F-B6D7-08C7857F6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63114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6965C-0E0D-3D47-B8AD-D799FA745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Direct Memory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6C959-79B6-5F4F-A50F-7E13AC653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Nu încarcă procesorul</a:t>
            </a:r>
          </a:p>
          <a:p>
            <a:endParaRPr lang="ro-RO"/>
          </a:p>
          <a:p>
            <a:r>
              <a:rPr lang="ro-RO"/>
              <a:t>Blochează din când în când magistrala</a:t>
            </a:r>
          </a:p>
          <a:p>
            <a:pPr lvl="1"/>
            <a:r>
              <a:rPr lang="ro-RO"/>
              <a:t>Procesorul poate accesa memoria cache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519D1-DC36-6E40-B67C-AE7C8276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688466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92EF6-8AE9-C246-A750-308F97658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Drivere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DFF9A8A-E3CC-6543-89D1-616475666A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440" y="1600200"/>
            <a:ext cx="6259119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03B18-D52E-FA49-B724-AC5CFE517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30990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3449BF7-4926-9B4B-8E1B-25E715DE4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Tipuri de operații IO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CC8AD31-FE10-F64E-A9C8-63F7DE6E3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D447F-2F4C-734D-8AEE-B14AFA1BA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30832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E20108-8B62-6743-944A-7EE959BA1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Tipuri de operații IO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057DE4B-B030-8C44-A073-705B01083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/>
              <a:t>Sincrone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C295F209-2F33-D445-85AD-30801CECF7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663087"/>
            <a:ext cx="4040188" cy="2974864"/>
          </a:xfr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C0CA642-F162-5646-8A69-3C3913FC1F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Asincrone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ADBD8F0E-9BA0-204C-A6DA-93C4FBE5B9D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625" y="2715696"/>
            <a:ext cx="3584576" cy="286964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D50C6-89D3-F84A-BE06-B9D1AE19C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50261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FD855-21D7-C140-AE8F-C3567F345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Sincrone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A7AA3E-CFF2-D946-977C-87A0E06E9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Blocante</a:t>
            </a:r>
          </a:p>
          <a:p>
            <a:pPr lvl="1"/>
            <a:r>
              <a:rPr lang="ro-RO"/>
              <a:t>daca așteaptă date</a:t>
            </a:r>
          </a:p>
          <a:p>
            <a:pPr lvl="1"/>
            <a:r>
              <a:rPr lang="ro-RO"/>
              <a:t>read, write </a:t>
            </a:r>
          </a:p>
          <a:p>
            <a:endParaRPr lang="ro-RO"/>
          </a:p>
          <a:p>
            <a:r>
              <a:rPr lang="ro-RO"/>
              <a:t>Ne-blocante</a:t>
            </a:r>
          </a:p>
          <a:p>
            <a:pPr lvl="1"/>
            <a:r>
              <a:rPr lang="ro-RO"/>
              <a:t>nu așteaptă date, întorc buffer gol</a:t>
            </a:r>
          </a:p>
          <a:p>
            <a:pPr lvl="1"/>
            <a:r>
              <a:rPr lang="ro-RO"/>
              <a:t>read, write (O_NONBLOCK)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F2EE3-F6C9-7547-9883-CFA881937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320622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7FF7B-47BC-D54B-B1C9-770577B9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Secvența I/O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6E4727-451F-6F48-84BF-779F5C4015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320641"/>
            <a:ext cx="3962400" cy="508508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F1649-B99E-DE4B-940C-6BA7EAD4D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556407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15C1E-AE90-3E40-913E-C217189AC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Subsistemul de 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CFE74-354C-1346-8649-3E2DE9F61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Cache</a:t>
            </a:r>
          </a:p>
          <a:p>
            <a:endParaRPr lang="ro-RO" dirty="0"/>
          </a:p>
          <a:p>
            <a:r>
              <a:rPr lang="ro-RO" dirty="0"/>
              <a:t>Buffer de date</a:t>
            </a:r>
          </a:p>
          <a:p>
            <a:endParaRPr lang="ro-RO" dirty="0"/>
          </a:p>
          <a:p>
            <a:r>
              <a:rPr lang="ro-RO" dirty="0"/>
              <a:t>Rearanjarea cererilor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9A5CE-8F48-5247-8144-1AB5BA7DF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73843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2EC30C-0E17-6C40-8729-296913D65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API de intrare și ieșire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9D0D48-95C2-8141-AB0E-84CCE8C3A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75313-754D-C849-A0AF-F62DA6B4A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85796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DE45DD-9A40-F44A-AE5A-E03F58196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API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3DCDF6-B4B0-204D-8EB8-D4592A744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Inițializare</a:t>
            </a:r>
          </a:p>
          <a:p>
            <a:endParaRPr lang="ro-RO"/>
          </a:p>
          <a:p>
            <a:r>
              <a:rPr lang="ro-RO"/>
              <a:t>Control</a:t>
            </a:r>
          </a:p>
          <a:p>
            <a:endParaRPr lang="ro-RO"/>
          </a:p>
          <a:p>
            <a:r>
              <a:rPr lang="ro-RO"/>
              <a:t>Transfer 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1729C-A4FB-B349-AE5D-D1BD502CF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956815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807A4E-BA48-C741-8F4C-5FA88DDCA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API Sincron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A51881-36E2-6343-89DA-1AD0F87B3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/>
              <a:t>Dispozitive block/character</a:t>
            </a:r>
          </a:p>
          <a:p>
            <a:pPr lvl="1"/>
            <a:r>
              <a:rPr lang="ro-RO"/>
              <a:t>inițializare: open, close</a:t>
            </a:r>
          </a:p>
          <a:p>
            <a:pPr lvl="1"/>
            <a:r>
              <a:rPr lang="ro-RO"/>
              <a:t>control: ioctl</a:t>
            </a:r>
          </a:p>
          <a:p>
            <a:pPr lvl="1"/>
            <a:r>
              <a:rPr lang="ro-RO"/>
              <a:t>transfer: read, write</a:t>
            </a:r>
          </a:p>
          <a:p>
            <a:endParaRPr lang="ro-RO"/>
          </a:p>
          <a:p>
            <a:r>
              <a:rPr lang="ro-RO"/>
              <a:t>Dispozitive de rețea</a:t>
            </a:r>
          </a:p>
          <a:p>
            <a:pPr lvl="1"/>
            <a:r>
              <a:rPr lang="ro-RO"/>
              <a:t>inițializare: socket, shutdown</a:t>
            </a:r>
          </a:p>
          <a:p>
            <a:pPr lvl="1"/>
            <a:r>
              <a:rPr lang="ro-RO"/>
              <a:t>control: setsockopt, getsockopt</a:t>
            </a:r>
          </a:p>
          <a:p>
            <a:pPr lvl="1"/>
            <a:r>
              <a:rPr lang="ro-RO"/>
              <a:t>transfer: recv, send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E7E9F-95F1-E447-B4CF-6A036CD92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821461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807A4E-BA48-C741-8F4C-5FA88DDCA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API Asincron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A51881-36E2-6343-89DA-1AD0F87B3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dirty="0"/>
              <a:t>Dispozitive </a:t>
            </a:r>
            <a:r>
              <a:rPr lang="ro-RO" dirty="0" err="1"/>
              <a:t>block</a:t>
            </a:r>
            <a:r>
              <a:rPr lang="ro-RO" dirty="0"/>
              <a:t>/</a:t>
            </a:r>
            <a:r>
              <a:rPr lang="ro-RO" dirty="0" err="1"/>
              <a:t>character</a:t>
            </a:r>
            <a:endParaRPr lang="ro-RO" dirty="0"/>
          </a:p>
          <a:p>
            <a:pPr lvl="1"/>
            <a:r>
              <a:rPr lang="ro-RO" dirty="0"/>
              <a:t>inițializare: open, </a:t>
            </a:r>
            <a:r>
              <a:rPr lang="ro-RO" dirty="0" err="1"/>
              <a:t>close</a:t>
            </a:r>
            <a:endParaRPr lang="ro-RO" dirty="0"/>
          </a:p>
          <a:p>
            <a:pPr lvl="1"/>
            <a:r>
              <a:rPr lang="ro-RO" dirty="0"/>
              <a:t>control: </a:t>
            </a:r>
            <a:r>
              <a:rPr lang="ro-RO" dirty="0" err="1"/>
              <a:t>ioctl</a:t>
            </a:r>
            <a:endParaRPr lang="ro-RO" dirty="0"/>
          </a:p>
          <a:p>
            <a:pPr lvl="1"/>
            <a:r>
              <a:rPr lang="ro-RO" dirty="0"/>
              <a:t>transfer: </a:t>
            </a:r>
          </a:p>
          <a:p>
            <a:pPr lvl="2"/>
            <a:r>
              <a:rPr lang="ro-RO" dirty="0" err="1"/>
              <a:t>read</a:t>
            </a:r>
            <a:r>
              <a:rPr lang="ro-RO" dirty="0"/>
              <a:t>, </a:t>
            </a:r>
            <a:r>
              <a:rPr lang="ro-RO" dirty="0" err="1"/>
              <a:t>write</a:t>
            </a:r>
            <a:r>
              <a:rPr lang="ro-RO" dirty="0"/>
              <a:t> + select, </a:t>
            </a:r>
            <a:r>
              <a:rPr lang="ro-RO" dirty="0" err="1"/>
              <a:t>poll</a:t>
            </a:r>
            <a:r>
              <a:rPr lang="ro-RO" dirty="0"/>
              <a:t>, </a:t>
            </a:r>
            <a:r>
              <a:rPr lang="ro-RO" dirty="0" err="1"/>
              <a:t>epoll</a:t>
            </a:r>
            <a:endParaRPr lang="ro-RO" dirty="0"/>
          </a:p>
          <a:p>
            <a:pPr lvl="2"/>
            <a:r>
              <a:rPr lang="ro-RO" dirty="0" err="1"/>
              <a:t>aio_read</a:t>
            </a:r>
            <a:r>
              <a:rPr lang="ro-RO" dirty="0"/>
              <a:t>, </a:t>
            </a:r>
            <a:r>
              <a:rPr lang="ro-RO" dirty="0" err="1"/>
              <a:t>aio_write</a:t>
            </a:r>
            <a:r>
              <a:rPr lang="ro-RO" dirty="0"/>
              <a:t>, </a:t>
            </a:r>
            <a:r>
              <a:rPr lang="ro-RO" dirty="0" err="1"/>
              <a:t>aio_suspend</a:t>
            </a:r>
            <a:endParaRPr lang="ro-RO" dirty="0"/>
          </a:p>
          <a:p>
            <a:pPr marL="0" indent="0">
              <a:buNone/>
            </a:pPr>
            <a:endParaRPr lang="ro-RO" dirty="0"/>
          </a:p>
          <a:p>
            <a:r>
              <a:rPr lang="ro-RO" dirty="0"/>
              <a:t>Dispozitive de rețea</a:t>
            </a:r>
          </a:p>
          <a:p>
            <a:pPr lvl="1"/>
            <a:r>
              <a:rPr lang="ro-RO" dirty="0"/>
              <a:t>inițializare: </a:t>
            </a:r>
            <a:r>
              <a:rPr lang="ro-RO" dirty="0" err="1"/>
              <a:t>socket</a:t>
            </a:r>
            <a:r>
              <a:rPr lang="ro-RO" dirty="0"/>
              <a:t>, </a:t>
            </a:r>
            <a:r>
              <a:rPr lang="ro-RO" dirty="0" err="1"/>
              <a:t>shutdown</a:t>
            </a:r>
            <a:endParaRPr lang="ro-RO" dirty="0"/>
          </a:p>
          <a:p>
            <a:pPr lvl="1"/>
            <a:r>
              <a:rPr lang="ro-RO" dirty="0"/>
              <a:t>control: </a:t>
            </a:r>
            <a:r>
              <a:rPr lang="ro-RO" dirty="0" err="1"/>
              <a:t>setsockopt</a:t>
            </a:r>
            <a:r>
              <a:rPr lang="ro-RO" dirty="0"/>
              <a:t>, </a:t>
            </a:r>
            <a:r>
              <a:rPr lang="ro-RO" dirty="0" err="1"/>
              <a:t>getsockopt</a:t>
            </a:r>
            <a:endParaRPr lang="ro-RO" dirty="0"/>
          </a:p>
          <a:p>
            <a:pPr lvl="1"/>
            <a:r>
              <a:rPr lang="ro-RO" dirty="0"/>
              <a:t>transfer: </a:t>
            </a:r>
            <a:r>
              <a:rPr lang="ro-RO" dirty="0" err="1"/>
              <a:t>recv</a:t>
            </a:r>
            <a:r>
              <a:rPr lang="ro-RO" dirty="0"/>
              <a:t>, </a:t>
            </a:r>
            <a:r>
              <a:rPr lang="ro-RO" dirty="0" err="1"/>
              <a:t>send</a:t>
            </a:r>
            <a:r>
              <a:rPr lang="ro-RO" dirty="0"/>
              <a:t> + select, </a:t>
            </a:r>
            <a:r>
              <a:rPr lang="ro-RO" dirty="0" err="1"/>
              <a:t>poll</a:t>
            </a:r>
            <a:r>
              <a:rPr lang="ro-RO" dirty="0"/>
              <a:t>, </a:t>
            </a:r>
            <a:r>
              <a:rPr lang="ro-RO" dirty="0" err="1"/>
              <a:t>epoll</a:t>
            </a:r>
            <a:endParaRPr lang="ro-RO" dirty="0"/>
          </a:p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E7E9F-95F1-E447-B4CF-6A036CD92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613929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C0532-64C2-C942-8D82-E8C898784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IO Completion 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FC0E5-8FDD-5C48-ACB1-338B935AB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Orice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: HANDLE</a:t>
            </a:r>
          </a:p>
          <a:p>
            <a:pPr lvl="1"/>
            <a:r>
              <a:rPr lang="en-US" dirty="0" err="1"/>
              <a:t>fișier</a:t>
            </a:r>
            <a:r>
              <a:rPr lang="en-US" dirty="0"/>
              <a:t>, socket, etc.</a:t>
            </a:r>
          </a:p>
          <a:p>
            <a:endParaRPr lang="en-US" dirty="0"/>
          </a:p>
          <a:p>
            <a:r>
              <a:rPr lang="en-US" dirty="0"/>
              <a:t>Flag: OVERLAPPED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0DB36-E834-3A4D-B3E7-97E162A6F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424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4A8E0-6807-C54B-9204-883E21815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MSG_ZEROCOPY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07ED5-DDD4-FF42-B9B3-96FE415C9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700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-GB" sz="17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GB" sz="1700" dirty="0" err="1">
                <a:solidFill>
                  <a:srgbClr val="795E26"/>
                </a:solidFill>
                <a:latin typeface="Menlo" panose="020B0609030804020204" pitchFamily="49" charset="0"/>
              </a:rPr>
              <a:t>setsockopt</a:t>
            </a:r>
            <a:r>
              <a:rPr lang="en-GB" sz="17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GB" sz="1700" dirty="0" err="1">
                <a:solidFill>
                  <a:srgbClr val="000000"/>
                </a:solidFill>
                <a:latin typeface="Menlo" panose="020B0609030804020204" pitchFamily="49" charset="0"/>
              </a:rPr>
              <a:t>fd</a:t>
            </a:r>
            <a:r>
              <a:rPr lang="en-GB" sz="17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GB" sz="1700" dirty="0" err="1">
                <a:solidFill>
                  <a:srgbClr val="000000"/>
                </a:solidFill>
                <a:latin typeface="Menlo" panose="020B0609030804020204" pitchFamily="49" charset="0"/>
              </a:rPr>
              <a:t>SOL_SOCKET,SO_ZEROCOPY,&amp;</a:t>
            </a:r>
            <a:r>
              <a:rPr lang="en-GB" sz="1700" dirty="0" err="1">
                <a:solidFill>
                  <a:srgbClr val="001080"/>
                </a:solidFill>
                <a:latin typeface="Menlo" panose="020B0609030804020204" pitchFamily="49" charset="0"/>
              </a:rPr>
              <a:t>one</a:t>
            </a:r>
            <a:r>
              <a:rPr lang="en-GB" sz="17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GB" sz="1700" dirty="0" err="1">
                <a:solidFill>
                  <a:srgbClr val="0000FF"/>
                </a:solidFill>
                <a:latin typeface="Menlo" panose="020B0609030804020204" pitchFamily="49" charset="0"/>
              </a:rPr>
              <a:t>sizeof</a:t>
            </a:r>
            <a:r>
              <a:rPr lang="en-GB" sz="1700" dirty="0">
                <a:solidFill>
                  <a:srgbClr val="000000"/>
                </a:solidFill>
                <a:latin typeface="Menlo" panose="020B0609030804020204" pitchFamily="49" charset="0"/>
              </a:rPr>
              <a:t>(one)))</a:t>
            </a:r>
          </a:p>
          <a:p>
            <a:pPr marL="0" indent="0">
              <a:buNone/>
            </a:pPr>
            <a:r>
              <a:rPr lang="en-GB" sz="1700" dirty="0">
                <a:solidFill>
                  <a:srgbClr val="795E26"/>
                </a:solidFill>
                <a:latin typeface="Menlo" panose="020B0609030804020204" pitchFamily="49" charset="0"/>
              </a:rPr>
              <a:t>      error</a:t>
            </a:r>
            <a:r>
              <a:rPr lang="en-GB" sz="17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GB" sz="17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GB" sz="17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GB" sz="1700" dirty="0" err="1">
                <a:solidFill>
                  <a:srgbClr val="000000"/>
                </a:solidFill>
                <a:latin typeface="Menlo" panose="020B0609030804020204" pitchFamily="49" charset="0"/>
              </a:rPr>
              <a:t>errno</a:t>
            </a:r>
            <a:r>
              <a:rPr lang="en-GB" sz="17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GB" sz="17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GB" sz="1700" dirty="0" err="1">
                <a:solidFill>
                  <a:srgbClr val="A31515"/>
                </a:solidFill>
                <a:latin typeface="Menlo" panose="020B0609030804020204" pitchFamily="49" charset="0"/>
              </a:rPr>
              <a:t>setsockopt</a:t>
            </a:r>
            <a:r>
              <a:rPr lang="en-GB" sz="1700" dirty="0">
                <a:solidFill>
                  <a:srgbClr val="A31515"/>
                </a:solidFill>
                <a:latin typeface="Menlo" panose="020B0609030804020204" pitchFamily="49" charset="0"/>
              </a:rPr>
              <a:t> </a:t>
            </a:r>
            <a:r>
              <a:rPr lang="en-GB" sz="1700" dirty="0" err="1">
                <a:solidFill>
                  <a:srgbClr val="A31515"/>
                </a:solidFill>
                <a:latin typeface="Menlo" panose="020B0609030804020204" pitchFamily="49" charset="0"/>
              </a:rPr>
              <a:t>zerocopy</a:t>
            </a:r>
            <a:r>
              <a:rPr lang="en-GB" sz="17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GB" sz="17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en-GB" sz="17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1700" dirty="0">
                <a:solidFill>
                  <a:srgbClr val="000000"/>
                </a:solidFill>
                <a:latin typeface="Menlo" panose="020B0609030804020204" pitchFamily="49" charset="0"/>
              </a:rPr>
              <a:t>ret = </a:t>
            </a:r>
            <a:r>
              <a:rPr lang="en-GB" sz="1700" dirty="0">
                <a:solidFill>
                  <a:srgbClr val="795E26"/>
                </a:solidFill>
                <a:latin typeface="Menlo" panose="020B0609030804020204" pitchFamily="49" charset="0"/>
              </a:rPr>
              <a:t>send</a:t>
            </a:r>
            <a:r>
              <a:rPr lang="en-GB" sz="17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GB" sz="1700" dirty="0" err="1">
                <a:solidFill>
                  <a:srgbClr val="000000"/>
                </a:solidFill>
                <a:latin typeface="Menlo" panose="020B0609030804020204" pitchFamily="49" charset="0"/>
              </a:rPr>
              <a:t>fd</a:t>
            </a:r>
            <a:r>
              <a:rPr lang="en-GB" sz="17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GB" sz="1700" dirty="0" err="1">
                <a:solidFill>
                  <a:srgbClr val="000000"/>
                </a:solidFill>
                <a:latin typeface="Menlo" panose="020B0609030804020204" pitchFamily="49" charset="0"/>
              </a:rPr>
              <a:t>buf</a:t>
            </a:r>
            <a:r>
              <a:rPr lang="en-GB" sz="17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GB" sz="1700" dirty="0" err="1">
                <a:solidFill>
                  <a:srgbClr val="0000FF"/>
                </a:solidFill>
                <a:latin typeface="Menlo" panose="020B0609030804020204" pitchFamily="49" charset="0"/>
              </a:rPr>
              <a:t>sizeof</a:t>
            </a:r>
            <a:r>
              <a:rPr lang="en-GB" sz="17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GB" sz="1700" dirty="0" err="1">
                <a:solidFill>
                  <a:srgbClr val="000000"/>
                </a:solidFill>
                <a:latin typeface="Menlo" panose="020B0609030804020204" pitchFamily="49" charset="0"/>
              </a:rPr>
              <a:t>buf</a:t>
            </a:r>
            <a:r>
              <a:rPr lang="en-GB" sz="1700" dirty="0">
                <a:solidFill>
                  <a:srgbClr val="000000"/>
                </a:solidFill>
                <a:latin typeface="Menlo" panose="020B0609030804020204" pitchFamily="49" charset="0"/>
              </a:rPr>
              <a:t>), MSG_ZEROCOPY);</a:t>
            </a:r>
          </a:p>
          <a:p>
            <a:pPr marL="0" indent="0">
              <a:buNone/>
            </a:pPr>
            <a:endParaRPr lang="en-GB" sz="17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000000"/>
                </a:solidFill>
                <a:latin typeface="+mj-lt"/>
              </a:rPr>
              <a:t>   Nu se </a:t>
            </a:r>
            <a:r>
              <a:rPr lang="en-GB" sz="2400" dirty="0" err="1">
                <a:solidFill>
                  <a:srgbClr val="000000"/>
                </a:solidFill>
                <a:latin typeface="+mj-lt"/>
              </a:rPr>
              <a:t>mai</a:t>
            </a:r>
            <a:r>
              <a:rPr lang="en-GB" sz="24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+mj-lt"/>
              </a:rPr>
              <a:t>copiază</a:t>
            </a:r>
            <a:r>
              <a:rPr lang="en-GB" sz="24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+mj-lt"/>
              </a:rPr>
              <a:t>într</a:t>
            </a:r>
            <a:r>
              <a:rPr lang="en-GB" sz="2400" dirty="0">
                <a:solidFill>
                  <a:srgbClr val="000000"/>
                </a:solidFill>
                <a:latin typeface="+mj-lt"/>
              </a:rPr>
              <a:t>-un buffer </a:t>
            </a:r>
            <a:r>
              <a:rPr lang="en-GB" sz="2400" dirty="0" err="1">
                <a:solidFill>
                  <a:srgbClr val="000000"/>
                </a:solidFill>
                <a:latin typeface="+mj-lt"/>
              </a:rPr>
              <a:t>intermediar</a:t>
            </a:r>
            <a:endParaRPr lang="en-GB" sz="2400" dirty="0">
              <a:solidFill>
                <a:srgbClr val="000000"/>
              </a:solidFill>
              <a:latin typeface="+mj-lt"/>
            </a:endParaRPr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12383-7F10-5147-B66E-34FA780B9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637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6D8BF-3FAF-5742-9BF3-CC04B10FB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Scatter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FEEAF-3E95-634A-90D8-A9FF02877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Se iau mai multe cereri</a:t>
            </a:r>
          </a:p>
          <a:p>
            <a:endParaRPr lang="ro-RO"/>
          </a:p>
          <a:p>
            <a:r>
              <a:rPr lang="ro-RO"/>
              <a:t>Se face un singur apel către dispozitiv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09D7A-EAA4-5F42-9221-6071E6EEE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38350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26B73-C1D8-6E4E-960E-A5F8AEE19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/>
              <a:t>Cuvinte cheie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C9A09-3FE2-C24B-BBE4-875AD97C24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>
            <a:normAutofit/>
          </a:bodyPr>
          <a:lstStyle/>
          <a:p>
            <a:r>
              <a:rPr lang="rm-CH" dirty="0"/>
              <a:t>dispozitiv caracter</a:t>
            </a:r>
          </a:p>
          <a:p>
            <a:r>
              <a:rPr lang="rm-CH" dirty="0"/>
              <a:t>dispozitiv block</a:t>
            </a:r>
          </a:p>
          <a:p>
            <a:r>
              <a:rPr lang="rm-CH" dirty="0"/>
              <a:t>acces serial</a:t>
            </a:r>
          </a:p>
          <a:p>
            <a:r>
              <a:rPr lang="rm-CH" dirty="0"/>
              <a:t>acces aleator</a:t>
            </a:r>
          </a:p>
          <a:p>
            <a:r>
              <a:rPr lang="rm-CH" dirty="0"/>
              <a:t>Port Mapped IO </a:t>
            </a:r>
          </a:p>
          <a:p>
            <a:r>
              <a:rPr lang="rm-CH" dirty="0"/>
              <a:t>Memory Mapped IO</a:t>
            </a:r>
          </a:p>
          <a:p>
            <a:r>
              <a:rPr lang="rm-CH" dirty="0"/>
              <a:t>operații sincrone </a:t>
            </a:r>
          </a:p>
          <a:p>
            <a:r>
              <a:rPr lang="rm-CH" dirty="0"/>
              <a:t>operații blocante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0EF27B-A32E-9D4E-80A0-865F8996C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600201"/>
            <a:ext cx="4038600" cy="4525963"/>
          </a:xfrm>
        </p:spPr>
        <p:txBody>
          <a:bodyPr>
            <a:normAutofit/>
          </a:bodyPr>
          <a:lstStyle/>
          <a:p>
            <a:r>
              <a:rPr lang="rm-CH" dirty="0"/>
              <a:t>operații asincrone</a:t>
            </a:r>
          </a:p>
          <a:p>
            <a:r>
              <a:rPr lang="rm-CH" dirty="0"/>
              <a:t>dispozitiv rețea</a:t>
            </a:r>
          </a:p>
          <a:p>
            <a:r>
              <a:rPr lang="rm-CH" dirty="0"/>
              <a:t>subsistem IO</a:t>
            </a:r>
          </a:p>
          <a:p>
            <a:r>
              <a:rPr lang="rm-CH" dirty="0"/>
              <a:t>PIO</a:t>
            </a:r>
          </a:p>
          <a:p>
            <a:r>
              <a:rPr lang="rm-CH" dirty="0"/>
              <a:t>DMA</a:t>
            </a:r>
          </a:p>
          <a:p>
            <a:r>
              <a:rPr lang="rm-CH" dirty="0"/>
              <a:t>IOCompletion Port</a:t>
            </a:r>
          </a:p>
          <a:p>
            <a:r>
              <a:rPr lang="rm-CH" dirty="0"/>
              <a:t>zero-copy</a:t>
            </a:r>
          </a:p>
          <a:p>
            <a:r>
              <a:rPr lang="rm-CH" dirty="0"/>
              <a:t>scatter</a:t>
            </a:r>
          </a:p>
          <a:p>
            <a:endParaRPr lang="rm-CH" dirty="0"/>
          </a:p>
          <a:p>
            <a:endParaRPr lang="rm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1111B-0DD8-2549-A040-29FA546D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38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747038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Întrebări</a:t>
            </a:r>
          </a:p>
        </p:txBody>
      </p:sp>
      <p:pic>
        <p:nvPicPr>
          <p:cNvPr id="6" name="Content Placeholder 5" descr="questionMarkIcon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834384" y="3134709"/>
            <a:ext cx="1475232" cy="145694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17490-7D10-5848-8514-BF8A22DF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74288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14838</TotalTime>
  <Words>830</Words>
  <Application>Microsoft Macintosh PowerPoint</Application>
  <PresentationFormat>On-screen Show (4:3)</PresentationFormat>
  <Paragraphs>269</Paragraphs>
  <Slides>39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Menlo</vt:lpstr>
      <vt:lpstr>Office Theme</vt:lpstr>
      <vt:lpstr>Sisteme de operare</vt:lpstr>
      <vt:lpstr>Cuprins</vt:lpstr>
      <vt:lpstr>Bibliografie</vt:lpstr>
      <vt:lpstr>Top view</vt:lpstr>
      <vt:lpstr>Sistemul de Intrare și Ieșire</vt:lpstr>
      <vt:lpstr>Dispozive</vt:lpstr>
      <vt:lpstr>Dispozitiv</vt:lpstr>
      <vt:lpstr>Registre</vt:lpstr>
      <vt:lpstr>Tipuri de dispozitive (transfer)</vt:lpstr>
      <vt:lpstr>Tipuri de dispozitive (acces)</vt:lpstr>
      <vt:lpstr>Tipuri de dispozitive (timp)</vt:lpstr>
      <vt:lpstr>Comunicarea cu dispozitivele</vt:lpstr>
      <vt:lpstr>Comunicarea cu dispozitivele</vt:lpstr>
      <vt:lpstr>Sistemul de Intrare și Ieșire</vt:lpstr>
      <vt:lpstr>Port Mapped I/O</vt:lpstr>
      <vt:lpstr>Memory Mapped I/O</vt:lpstr>
      <vt:lpstr>Port vs Memory Mapped I/O</vt:lpstr>
      <vt:lpstr>Tipuri de interacțiune</vt:lpstr>
      <vt:lpstr>Polling</vt:lpstr>
      <vt:lpstr>Interrupts</vt:lpstr>
      <vt:lpstr>Interrupts</vt:lpstr>
      <vt:lpstr>Direct Memory Access</vt:lpstr>
      <vt:lpstr>Direct Memory Access</vt:lpstr>
      <vt:lpstr>Direct Memory Access</vt:lpstr>
      <vt:lpstr>Drivere</vt:lpstr>
      <vt:lpstr>Tipuri de operații IO</vt:lpstr>
      <vt:lpstr>Tipuri de operații IO</vt:lpstr>
      <vt:lpstr>Sincrone</vt:lpstr>
      <vt:lpstr>Secvența I/O</vt:lpstr>
      <vt:lpstr>Subsistemul de IO</vt:lpstr>
      <vt:lpstr>API de intrare și ieșire</vt:lpstr>
      <vt:lpstr>API</vt:lpstr>
      <vt:lpstr>API Sincron</vt:lpstr>
      <vt:lpstr>API Asincron</vt:lpstr>
      <vt:lpstr>IO Completion Port</vt:lpstr>
      <vt:lpstr>MSG_ZEROCOPY</vt:lpstr>
      <vt:lpstr>Scatter</vt:lpstr>
      <vt:lpstr>Cuvinte cheie</vt:lpstr>
      <vt:lpstr>Întrebări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Alex</dc:creator>
  <cp:lastModifiedBy>Alexandru Radovici</cp:lastModifiedBy>
  <cp:revision>1568</cp:revision>
  <cp:lastPrinted>2020-04-27T10:10:11Z</cp:lastPrinted>
  <dcterms:created xsi:type="dcterms:W3CDTF">2010-02-23T11:53:40Z</dcterms:created>
  <dcterms:modified xsi:type="dcterms:W3CDTF">2020-05-05T07:02:11Z</dcterms:modified>
</cp:coreProperties>
</file>