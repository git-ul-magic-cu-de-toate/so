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7" r:id="rId2"/>
    <p:sldId id="403" r:id="rId3"/>
    <p:sldId id="466" r:id="rId4"/>
    <p:sldId id="531" r:id="rId5"/>
    <p:sldId id="536" r:id="rId6"/>
    <p:sldId id="542" r:id="rId7"/>
    <p:sldId id="485" r:id="rId8"/>
    <p:sldId id="487" r:id="rId9"/>
    <p:sldId id="486" r:id="rId10"/>
    <p:sldId id="488" r:id="rId11"/>
    <p:sldId id="541" r:id="rId12"/>
    <p:sldId id="489" r:id="rId13"/>
    <p:sldId id="490" r:id="rId14"/>
    <p:sldId id="492" r:id="rId15"/>
    <p:sldId id="491" r:id="rId16"/>
    <p:sldId id="281" r:id="rId17"/>
    <p:sldId id="493" r:id="rId18"/>
    <p:sldId id="543" r:id="rId19"/>
    <p:sldId id="494" r:id="rId20"/>
    <p:sldId id="495" r:id="rId21"/>
    <p:sldId id="496" r:id="rId22"/>
    <p:sldId id="497" r:id="rId23"/>
    <p:sldId id="523" r:id="rId24"/>
    <p:sldId id="498" r:id="rId25"/>
    <p:sldId id="499" r:id="rId26"/>
    <p:sldId id="501" r:id="rId27"/>
    <p:sldId id="518" r:id="rId28"/>
    <p:sldId id="530" r:id="rId29"/>
    <p:sldId id="500" r:id="rId30"/>
    <p:sldId id="520" r:id="rId31"/>
    <p:sldId id="521" r:id="rId32"/>
    <p:sldId id="522" r:id="rId33"/>
    <p:sldId id="544" r:id="rId34"/>
    <p:sldId id="545" r:id="rId35"/>
    <p:sldId id="546" r:id="rId36"/>
    <p:sldId id="547" r:id="rId37"/>
    <p:sldId id="540" r:id="rId38"/>
    <p:sldId id="483" r:id="rId39"/>
    <p:sldId id="26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34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4/14/20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4/14/20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34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980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451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750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027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1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14.04.2020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14.04.2020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14.04.2020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14.04.2020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14.04.2020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14.04.2020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14.04.2020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14.04.2020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14.04.2020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14.04.2020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14.04.2020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14.04.2020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uxprogrammingblog.com/threads-and-fork-think-twice-before-using-them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Fire de execuție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/>
              <a:t>fire de execuție</a:t>
            </a:r>
          </a:p>
          <a:p>
            <a:pPr lvl="1"/>
            <a:r>
              <a:rPr lang="ro-RO"/>
              <a:t>kernel</a:t>
            </a:r>
          </a:p>
          <a:p>
            <a:pPr lvl="1"/>
            <a:r>
              <a:rPr lang="ro-RO"/>
              <a:t>utilizator</a:t>
            </a:r>
          </a:p>
          <a:p>
            <a:r>
              <a:rPr lang="ro-RO"/>
              <a:t>NPTL</a:t>
            </a:r>
          </a:p>
          <a:p>
            <a:endParaRPr lang="ro-RO"/>
          </a:p>
          <a:p>
            <a:endParaRPr lang="ro-RO"/>
          </a:p>
          <a:p>
            <a:endParaRPr lang="ro-RO"/>
          </a:p>
          <a:p>
            <a:endParaRPr lang="ro-RO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0546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Modern Operating Systems</a:t>
            </a:r>
          </a:p>
          <a:p>
            <a:pPr lvl="1"/>
            <a:r>
              <a:rPr lang="ro-RO"/>
              <a:t>Capitolul 2</a:t>
            </a:r>
          </a:p>
          <a:p>
            <a:pPr lvl="2"/>
            <a:r>
              <a:rPr lang="ro-RO"/>
              <a:t>2.2</a:t>
            </a:r>
          </a:p>
          <a:p>
            <a:pPr lvl="2"/>
            <a:endParaRPr lang="ro-RO"/>
          </a:p>
          <a:p>
            <a:r>
              <a:rPr lang="ro-RO"/>
              <a:t>Operating Systems Concepts</a:t>
            </a:r>
          </a:p>
          <a:p>
            <a:pPr lvl="1"/>
            <a:r>
              <a:rPr lang="ro-RO"/>
              <a:t>Capitolul 4</a:t>
            </a:r>
          </a:p>
          <a:p>
            <a:pPr marL="914400" lvl="2" indent="0">
              <a:buNone/>
            </a:pP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6021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48F0089-95BF-414D-B63B-5CD42049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Tipuri de procese (CPU)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EC230639-0CED-9049-AF09-7E1BE02E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CPU 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bound</a:t>
            </a:r>
            <a:r>
              <a:rPr lang="ro-RO" altLang="ro-RO" sz="3000" dirty="0">
                <a:ea typeface="ＭＳ Ｐゴシック" panose="020B0600070205080204" pitchFamily="34" charset="-128"/>
              </a:rPr>
              <a:t> (CPU intensive)</a:t>
            </a:r>
          </a:p>
          <a:p>
            <a:pPr lvl="1"/>
            <a:r>
              <a:rPr lang="ro-RO" dirty="0"/>
              <a:t>folosește mult procesorul</a:t>
            </a:r>
          </a:p>
          <a:p>
            <a:pPr eaLnBrk="1" hangingPunct="1">
              <a:lnSpc>
                <a:spcPct val="80000"/>
              </a:lnSpc>
            </a:pPr>
            <a:endParaRPr lang="ro-RO" altLang="ro-RO" sz="30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I/O 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bound</a:t>
            </a:r>
            <a:r>
              <a:rPr lang="ro-RO" altLang="ro-RO" sz="3000" dirty="0">
                <a:ea typeface="ＭＳ Ｐゴシック" panose="020B0600070205080204" pitchFamily="34" charset="-128"/>
              </a:rPr>
              <a:t> (I/O intensive)</a:t>
            </a:r>
          </a:p>
          <a:p>
            <a:pPr lvl="1"/>
            <a:r>
              <a:rPr lang="ro-RO" dirty="0"/>
              <a:t>folosește rar procesorul</a:t>
            </a:r>
          </a:p>
          <a:p>
            <a:pPr lvl="1"/>
            <a:r>
              <a:rPr lang="ro-RO" altLang="ro-RO" sz="2400" dirty="0">
                <a:ea typeface="ＭＳ Ｐゴシック" panose="020B0600070205080204" pitchFamily="34" charset="-128"/>
              </a:rPr>
              <a:t>folosește multe operații I/O, se blochează des</a:t>
            </a:r>
            <a:endParaRPr lang="ro-RO" altLang="ro-RO" sz="2600" dirty="0">
              <a:ea typeface="ＭＳ Ｐゴシック" panose="020B0600070205080204" pitchFamily="34" charset="-128"/>
            </a:endParaRP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AA6601D2-40DD-8140-AF33-88D752C0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C550E76-24B8-CE42-A039-559663D9841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18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65BFB18-E231-F745-BC98-29252AE3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>
                <a:effectLst/>
              </a:rPr>
              <a:t>Stările proceselor</a:t>
            </a:r>
          </a:p>
        </p:txBody>
      </p:sp>
      <p:pic>
        <p:nvPicPr>
          <p:cNvPr id="27651" name="Content Placeholder 5" descr="process-state.png">
            <a:extLst>
              <a:ext uri="{FF2B5EF4-FFF2-40B4-BE49-F238E27FC236}">
                <a16:creationId xmlns:a16="http://schemas.microsoft.com/office/drawing/2014/main" id="{48FF0EC9-DBF3-3C4C-8463-E0A72AE71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7406"/>
            <a:ext cx="8229600" cy="3211551"/>
          </a:xfrm>
        </p:spPr>
      </p:pic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DE9AC13-44E2-3544-8190-4BDC9EB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96A9FA7-8476-5A41-9B63-F137707F09F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82C2-9227-9843-B42C-C752BC89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Exemple de procese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1D59-915A-B143-82E7-4F893A08D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Editoare de text</a:t>
            </a:r>
          </a:p>
          <a:p>
            <a:endParaRPr lang="ro-RO"/>
          </a:p>
          <a:p>
            <a:r>
              <a:rPr lang="ro-RO"/>
              <a:t>Server Web</a:t>
            </a:r>
          </a:p>
          <a:p>
            <a:endParaRPr lang="ro-RO"/>
          </a:p>
          <a:p>
            <a:r>
              <a:rPr lang="ro-RO"/>
              <a:t>Jocuri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038AF-7E3D-EF4D-B401-4B85BDFB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44576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5C7048-0F22-154D-9942-C08C98A9A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Fire de execuție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775EFC-303D-A145-92AA-55F79128C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5BC3A-3986-2140-9C74-F246FAF7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199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3FDFB4-3088-884B-8F70-CCC05315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Fire de execuție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49A17-F490-C94C-814F-BEAA90B79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Unitatea de planificare</a:t>
            </a:r>
          </a:p>
          <a:p>
            <a:endParaRPr lang="ro-RO" dirty="0"/>
          </a:p>
          <a:p>
            <a:r>
              <a:rPr lang="ro-RO" dirty="0"/>
              <a:t>Un proces este format din mai multe fire de execuție</a:t>
            </a:r>
          </a:p>
          <a:p>
            <a:endParaRPr lang="ro-RO" dirty="0"/>
          </a:p>
          <a:p>
            <a:r>
              <a:rPr lang="ro-RO" dirty="0" err="1"/>
              <a:t>Lightweight</a:t>
            </a:r>
            <a:r>
              <a:rPr lang="ro-RO" dirty="0"/>
              <a:t> </a:t>
            </a:r>
            <a:r>
              <a:rPr lang="ro-RO" dirty="0" err="1"/>
              <a:t>Processes</a:t>
            </a:r>
            <a:r>
              <a:rPr lang="ro-RO" dirty="0"/>
              <a:t> (LWP)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9840A-A2B8-CE4A-9D47-E4828E61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565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1F8612-CC45-154D-B07E-67EF6DF6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Procese și fire de execuție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8B5DC2-4B7E-5B45-BBAD-4F44D1DFB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924843"/>
            <a:ext cx="5029200" cy="38766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4D620-2CAD-B04C-AB01-CBCA9FBB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50174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BF511-D89A-954D-AD3D-B1F774666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Fire de execuție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97D68B-650C-5342-B5E5-7C675F334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916" y="2163762"/>
            <a:ext cx="5904168" cy="33988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F4386-0A07-2849-9EAF-E82E1691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2087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5F60-F723-0747-8236-B23E09BE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Spațiul de memorie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3C3C35-5181-C24C-9855-C6BB5628D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116931"/>
            <a:ext cx="8026400" cy="3492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6CCD2-C0C6-6D45-B0A8-80128356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3883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D3BA-EAEB-3B42-BF83-9A8F72E0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Propietățile unui fir de execuție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AFC21-8F70-3C4D-840A-30344EABD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TID – identificator</a:t>
            </a:r>
          </a:p>
          <a:p>
            <a:r>
              <a:rPr lang="ro-RO" dirty="0"/>
              <a:t>TLS – </a:t>
            </a:r>
            <a:r>
              <a:rPr lang="ro-RO" dirty="0" err="1"/>
              <a:t>thread</a:t>
            </a:r>
            <a:r>
              <a:rPr lang="ro-RO" dirty="0"/>
              <a:t> local </a:t>
            </a:r>
            <a:r>
              <a:rPr lang="ro-RO" dirty="0" err="1"/>
              <a:t>storage</a:t>
            </a:r>
            <a:endParaRPr lang="ro-RO" dirty="0"/>
          </a:p>
          <a:p>
            <a:r>
              <a:rPr lang="ro-RO" dirty="0" err="1"/>
              <a:t>Stack</a:t>
            </a:r>
            <a:r>
              <a:rPr lang="ro-RO" dirty="0"/>
              <a:t> – stiva</a:t>
            </a:r>
          </a:p>
          <a:p>
            <a:r>
              <a:rPr lang="ro-RO" dirty="0"/>
              <a:t>Registre de CPU</a:t>
            </a:r>
          </a:p>
          <a:p>
            <a:r>
              <a:rPr lang="ro-RO" dirty="0"/>
              <a:t>State – starea</a:t>
            </a:r>
          </a:p>
          <a:p>
            <a:r>
              <a:rPr lang="ro-RO" dirty="0" err="1"/>
              <a:t>Priority</a:t>
            </a:r>
            <a:r>
              <a:rPr lang="ro-RO" dirty="0"/>
              <a:t> – </a:t>
            </a:r>
            <a:r>
              <a:rPr lang="ro-RO" dirty="0" err="1"/>
              <a:t>prioritea</a:t>
            </a:r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4B210-94C7-9645-A241-A5CAA356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44093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B6E7-089A-014D-AEEB-07C18B18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fire de execuție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FFD53-9FA6-F945-A9E8-EC1063FCF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Nucleu</a:t>
            </a:r>
          </a:p>
          <a:p>
            <a:pPr lvl="1"/>
            <a:r>
              <a:rPr lang="ro-RO"/>
              <a:t>Sunt cunoscute de kernel</a:t>
            </a:r>
          </a:p>
          <a:p>
            <a:pPr lvl="1"/>
            <a:r>
              <a:rPr lang="ro-RO"/>
              <a:t>Se face schimbare de context</a:t>
            </a:r>
          </a:p>
          <a:p>
            <a:endParaRPr lang="ro-RO"/>
          </a:p>
          <a:p>
            <a:r>
              <a:rPr lang="ro-RO"/>
              <a:t>Utilizator</a:t>
            </a:r>
          </a:p>
          <a:p>
            <a:pPr lvl="1"/>
            <a:r>
              <a:rPr lang="ro-RO"/>
              <a:t>Nu sunt cunoscute de kernel</a:t>
            </a:r>
          </a:p>
          <a:p>
            <a:pPr lvl="1"/>
            <a:r>
              <a:rPr lang="ro-RO"/>
              <a:t>Nu se face schimbare de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FF3FC-D285-8F4C-900F-DDBB421F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15357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C53A6-78BB-6C4E-89CC-6DDC04D2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fire de execuție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9FC7FB-22F7-754B-ABCD-0F1A2922D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470" y="2316162"/>
            <a:ext cx="6583060" cy="30940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E868C-DDA1-E24F-8BC1-A9081751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7156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7428-A6C9-5640-91E8-E99EBD5DE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25B6-6DF6-C24C-AC62-5120C182C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Fire de execuție utilizator</a:t>
            </a:r>
          </a:p>
          <a:p>
            <a:pPr lvl="1"/>
            <a:r>
              <a:rPr lang="ro-RO"/>
              <a:t>Un fir de execuție face o operație blocantă</a:t>
            </a:r>
          </a:p>
          <a:p>
            <a:pPr lvl="1"/>
            <a:r>
              <a:rPr lang="ro-RO"/>
              <a:t>Ce se întâmplă?</a:t>
            </a:r>
          </a:p>
          <a:p>
            <a:pPr lvl="1"/>
            <a:endParaRPr lang="ro-RO"/>
          </a:p>
          <a:p>
            <a:pPr marL="0" indent="0">
              <a:buNone/>
            </a:pPr>
            <a:r>
              <a:rPr lang="ro-RO">
                <a:solidFill>
                  <a:srgbClr val="FF0000"/>
                </a:solidFill>
              </a:rPr>
              <a:t>Toate firele de execuție se blochează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572F2-CC7D-5343-B009-D6F9B6B2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4090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65BFB18-E231-F745-BC98-29252AE3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Starea proceselor</a:t>
            </a:r>
            <a:endParaRPr lang="ro-RO" dirty="0">
              <a:effectLst/>
            </a:endParaRPr>
          </a:p>
        </p:txBody>
      </p:sp>
      <p:pic>
        <p:nvPicPr>
          <p:cNvPr id="27651" name="Content Placeholder 5" descr="process-state.png">
            <a:extLst>
              <a:ext uri="{FF2B5EF4-FFF2-40B4-BE49-F238E27FC236}">
                <a16:creationId xmlns:a16="http://schemas.microsoft.com/office/drawing/2014/main" id="{48FF0EC9-DBF3-3C4C-8463-E0A72AE71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7407"/>
            <a:ext cx="7086600" cy="2765502"/>
          </a:xfrm>
        </p:spPr>
      </p:pic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DE9AC13-44E2-3544-8190-4BDC9EB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96A9FA7-8476-5A41-9B63-F137707F09F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6291AA-C9C0-FC44-AB5B-810E3C75D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621907"/>
            <a:ext cx="1829175" cy="1820209"/>
          </a:xfrm>
          <a:prstGeom prst="rect">
            <a:avLst/>
          </a:prstGeom>
        </p:spPr>
      </p:pic>
      <p:sp>
        <p:nvSpPr>
          <p:cNvPr id="7" name="Bent Arrow 6">
            <a:extLst>
              <a:ext uri="{FF2B5EF4-FFF2-40B4-BE49-F238E27FC236}">
                <a16:creationId xmlns:a16="http://schemas.microsoft.com/office/drawing/2014/main" id="{BC3A8B4D-FE3B-B34D-8582-2F2E336BA20A}"/>
              </a:ext>
            </a:extLst>
          </p:cNvPr>
          <p:cNvSpPr/>
          <p:nvPr/>
        </p:nvSpPr>
        <p:spPr>
          <a:xfrm rot="5400000" flipH="1" flipV="1">
            <a:off x="4842763" y="4537442"/>
            <a:ext cx="838012" cy="1989138"/>
          </a:xfrm>
          <a:prstGeom prst="ben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101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781E-7FD4-3748-B285-3C02A0130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Schimbarea de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54C53-2115-1046-B301-B1A0C27D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  <p:pic>
        <p:nvPicPr>
          <p:cNvPr id="5" name="Content Placeholder 6" descr="admin013.gif">
            <a:extLst>
              <a:ext uri="{FF2B5EF4-FFF2-40B4-BE49-F238E27FC236}">
                <a16:creationId xmlns:a16="http://schemas.microsoft.com/office/drawing/2014/main" id="{D7E1F7A9-B731-8A45-B580-0D33851FC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87172" y="1706562"/>
            <a:ext cx="5769656" cy="4313238"/>
          </a:xfrm>
        </p:spPr>
      </p:pic>
    </p:spTree>
    <p:extLst>
      <p:ext uri="{BB962C8B-B14F-4D97-AF65-F5344CB8AC3E}">
        <p14:creationId xmlns:p14="http://schemas.microsoft.com/office/powerpoint/2010/main" val="547056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781E-7FD4-3748-B285-3C02A0130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Schimbarea de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54C53-2115-1046-B301-B1A0C27D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FBCB3-7282-584B-AB80-03A01D1FD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>
                <a:solidFill>
                  <a:srgbClr val="FF0000"/>
                </a:solidFill>
              </a:rPr>
              <a:t>Se trece prin kernel</a:t>
            </a:r>
          </a:p>
          <a:p>
            <a:endParaRPr lang="ro-RO">
              <a:solidFill>
                <a:srgbClr val="92D050"/>
              </a:solidFill>
            </a:endParaRPr>
          </a:p>
          <a:p>
            <a:r>
              <a:rPr lang="ro-RO">
                <a:solidFill>
                  <a:srgbClr val="92D050"/>
                </a:solidFill>
              </a:rPr>
              <a:t>Nu se face flush la TLB</a:t>
            </a:r>
          </a:p>
          <a:p>
            <a:endParaRPr lang="ro-RO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712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A293-63A7-014B-87BE-007054BE8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315200" cy="563562"/>
          </a:xfrm>
        </p:spPr>
        <p:txBody>
          <a:bodyPr>
            <a:normAutofit fontScale="90000"/>
          </a:bodyPr>
          <a:lstStyle/>
          <a:p>
            <a:r>
              <a:rPr lang="ro-RO"/>
              <a:t>Implementarea firelor de execuție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E17F4-8F1C-D04F-A3D1-468BA4CC1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Many to one</a:t>
            </a:r>
          </a:p>
          <a:p>
            <a:endParaRPr lang="ro-RO"/>
          </a:p>
          <a:p>
            <a:r>
              <a:rPr lang="ro-RO"/>
              <a:t>One to one</a:t>
            </a:r>
          </a:p>
          <a:p>
            <a:endParaRPr lang="ro-RO"/>
          </a:p>
          <a:p>
            <a:r>
              <a:rPr lang="ro-RO"/>
              <a:t>Many to many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33294-7CF1-D044-BE48-68B003D8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97404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0FB1-4DEA-FE4B-93A5-46BB9B425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Many to 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12E32-175F-5A47-92E9-6FBA29C1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20</a:t>
            </a:fld>
            <a:endParaRPr lang="ro-RO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6EC3AE-21AC-5E46-89B5-CF9C6CC95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6764" y="1600200"/>
            <a:ext cx="5390472" cy="45259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0D81F0-2A18-794B-9B58-9C0CDD1730FA}"/>
              </a:ext>
            </a:extLst>
          </p:cNvPr>
          <p:cNvSpPr/>
          <p:nvPr/>
        </p:nvSpPr>
        <p:spPr>
          <a:xfrm>
            <a:off x="4773329" y="2895600"/>
            <a:ext cx="39144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/>
              <a:t>Fire de execuție utilizator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/>
              <a:t>Fiecare fir de execuție este planificat pe același fir de execuție nucleu</a:t>
            </a:r>
          </a:p>
        </p:txBody>
      </p:sp>
    </p:spTree>
    <p:extLst>
      <p:ext uri="{BB962C8B-B14F-4D97-AF65-F5344CB8AC3E}">
        <p14:creationId xmlns:p14="http://schemas.microsoft.com/office/powerpoint/2010/main" val="1003388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E5A3C-80BD-D84E-BCAD-5D44411B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One to 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0A0B-7316-5445-9BB1-2A881784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21</a:t>
            </a:fld>
            <a:endParaRPr lang="ro-RO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0E2D7E-9B95-7D40-A535-0A9BEEC93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3800" y="2370931"/>
            <a:ext cx="6756400" cy="2984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ACD531-8E99-A148-B14B-C6FE137804A8}"/>
              </a:ext>
            </a:extLst>
          </p:cNvPr>
          <p:cNvSpPr/>
          <p:nvPr/>
        </p:nvSpPr>
        <p:spPr>
          <a:xfrm>
            <a:off x="609600" y="1206291"/>
            <a:ext cx="6248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/>
              <a:t>Fire de execuție nucleu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/>
              <a:t>Fiecare fir de execuție este planificat pe un fir de execuție nucleu</a:t>
            </a:r>
          </a:p>
        </p:txBody>
      </p:sp>
    </p:spTree>
    <p:extLst>
      <p:ext uri="{BB962C8B-B14F-4D97-AF65-F5344CB8AC3E}">
        <p14:creationId xmlns:p14="http://schemas.microsoft.com/office/powerpoint/2010/main" val="3248321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7233-E088-474B-A083-C1554D1D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Many to many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03730-5047-2A4B-9182-BD67439F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22</a:t>
            </a:fld>
            <a:endParaRPr lang="ro-RO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496E10-8109-064C-95EC-A4A2D230F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546" y="1600200"/>
            <a:ext cx="6128908" cy="4525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23A5E0-A384-904D-9914-0EDB5AAF3D5A}"/>
              </a:ext>
            </a:extLst>
          </p:cNvPr>
          <p:cNvSpPr txBox="1"/>
          <p:nvPr/>
        </p:nvSpPr>
        <p:spPr>
          <a:xfrm>
            <a:off x="5562600" y="2984200"/>
            <a:ext cx="3276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/>
              <a:t>Mai multe fire de execuție utilizator sunt planificate pe mai multe fire de execuție nucleu</a:t>
            </a:r>
          </a:p>
        </p:txBody>
      </p:sp>
    </p:spTree>
    <p:extLst>
      <p:ext uri="{BB962C8B-B14F-4D97-AF65-F5344CB8AC3E}">
        <p14:creationId xmlns:p14="http://schemas.microsoft.com/office/powerpoint/2010/main" val="4265557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78E7-0F61-4B4E-B93D-689FA71D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Oprirea unui fir de execuție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759A-3ED5-BE48-B54C-0E4E4A7C2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Asincron</a:t>
            </a:r>
          </a:p>
          <a:p>
            <a:pPr lvl="1"/>
            <a:r>
              <a:rPr lang="ro-RO" dirty="0"/>
              <a:t>Firul de execuție este oprit imediat</a:t>
            </a:r>
          </a:p>
          <a:p>
            <a:endParaRPr lang="ro-RO" dirty="0"/>
          </a:p>
          <a:p>
            <a:r>
              <a:rPr lang="ro-RO" dirty="0" err="1"/>
              <a:t>Deffered</a:t>
            </a:r>
            <a:endParaRPr lang="ro-RO" dirty="0"/>
          </a:p>
          <a:p>
            <a:pPr lvl="1"/>
            <a:r>
              <a:rPr lang="ro-RO" dirty="0"/>
              <a:t>Fire de execuție se oprește singur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2285-B992-4B45-9831-14797CE4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81647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61A8-2DEA-594D-AFD4-E436A526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Implementare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9959E-FA3A-BE45-882C-D97BB868E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Windows</a:t>
            </a:r>
          </a:p>
          <a:p>
            <a:pPr lvl="1"/>
            <a:r>
              <a:rPr lang="ro-RO" dirty="0" err="1"/>
              <a:t>Threads</a:t>
            </a:r>
            <a:endParaRPr lang="ro-RO" dirty="0"/>
          </a:p>
          <a:p>
            <a:pPr lvl="1"/>
            <a:r>
              <a:rPr lang="ro-RO" dirty="0" err="1"/>
              <a:t>Fibers</a:t>
            </a:r>
            <a:endParaRPr lang="ro-RO" dirty="0"/>
          </a:p>
          <a:p>
            <a:endParaRPr lang="ro-RO" dirty="0"/>
          </a:p>
          <a:p>
            <a:r>
              <a:rPr lang="ro-RO" dirty="0"/>
              <a:t>UNIX</a:t>
            </a:r>
          </a:p>
          <a:p>
            <a:pPr lvl="1"/>
            <a:r>
              <a:rPr lang="ro-RO" dirty="0" err="1"/>
              <a:t>pthreads</a:t>
            </a:r>
            <a:r>
              <a:rPr lang="ro-RO" dirty="0"/>
              <a:t> (NPTL)</a:t>
            </a:r>
          </a:p>
          <a:p>
            <a:pPr lvl="1"/>
            <a:r>
              <a:rPr lang="ro-RO" dirty="0"/>
              <a:t>bibliotecă</a:t>
            </a:r>
          </a:p>
          <a:p>
            <a:endParaRPr lang="ro-RO" dirty="0"/>
          </a:p>
          <a:p>
            <a:r>
              <a:rPr lang="ro-RO" dirty="0"/>
              <a:t>Java/</a:t>
            </a:r>
            <a:r>
              <a:rPr lang="ro-RO" dirty="0" err="1"/>
              <a:t>Go</a:t>
            </a:r>
            <a:endParaRPr lang="ro-RO" dirty="0"/>
          </a:p>
          <a:p>
            <a:pPr lvl="1"/>
            <a:r>
              <a:rPr lang="ro-RO" dirty="0" err="1"/>
              <a:t>Many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many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7A111-8175-154C-9530-167F09D1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9056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30AF-35B7-684E-8239-129B1DCE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B9823-4199-A346-99EC-392C78EC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Threads</a:t>
            </a:r>
          </a:p>
          <a:p>
            <a:pPr lvl="1"/>
            <a:r>
              <a:rPr lang="ro-RO"/>
              <a:t>Nucleu</a:t>
            </a:r>
          </a:p>
          <a:p>
            <a:pPr lvl="1"/>
            <a:r>
              <a:rPr lang="ro-RO"/>
              <a:t>Un proces are mai multe fire de execuție nucleu</a:t>
            </a:r>
          </a:p>
          <a:p>
            <a:endParaRPr lang="ro-RO"/>
          </a:p>
          <a:p>
            <a:r>
              <a:rPr lang="ro-RO"/>
              <a:t>Fibers</a:t>
            </a:r>
          </a:p>
          <a:p>
            <a:pPr lvl="1"/>
            <a:r>
              <a:rPr lang="ro-RO"/>
              <a:t>Utilizator</a:t>
            </a:r>
          </a:p>
          <a:p>
            <a:pPr lvl="1"/>
            <a:r>
              <a:rPr lang="ro-RO"/>
              <a:t>Un fir de execuție nucleu are mai multe fire de execuție utilizator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99EFE-1621-A646-84A3-E40D4845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16183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6F249E-D3D3-004F-9FEA-43EBF486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EC606D-599A-224E-9E18-5BC8F439A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6AEE8-4427-834F-BDE9-6E617B92D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45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5C7-7499-F949-98AE-B4056AF5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Proces nou - UNIX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ACC067-CC74-4545-A06F-8E7FB60BA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o-RO" b="1"/>
              <a:t>fork</a:t>
            </a:r>
            <a:r>
              <a:rPr lang="ro-RO"/>
              <a:t>: creează un proces nou (copil) (aproape identic cu procesul părinte) </a:t>
            </a:r>
          </a:p>
          <a:p>
            <a:pPr lvl="1" algn="just"/>
            <a:r>
              <a:rPr lang="ro-RO">
                <a:solidFill>
                  <a:srgbClr val="FF0000"/>
                </a:solidFill>
              </a:rPr>
              <a:t>copierea memoriei</a:t>
            </a:r>
          </a:p>
          <a:p>
            <a:pPr algn="just"/>
            <a:endParaRPr lang="ro-RO"/>
          </a:p>
          <a:p>
            <a:pPr algn="just"/>
            <a:r>
              <a:rPr lang="ro-RO" b="1"/>
              <a:t>exec</a:t>
            </a:r>
            <a:r>
              <a:rPr lang="ro-RO"/>
              <a:t>: încarcă imaginea dintr-un executabil în procesul curent (de obicei folosit de procesul copil)</a:t>
            </a:r>
          </a:p>
          <a:p>
            <a:pPr lvl="1" algn="just"/>
            <a:r>
              <a:rPr lang="ro-RO">
                <a:solidFill>
                  <a:srgbClr val="92D050"/>
                </a:solidFill>
              </a:rPr>
              <a:t>memorie nouă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717F-E50D-BD48-A56B-F78BAF1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55634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5C7-7499-F949-98AE-B4056AF5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Fire de execuție nou - UNIX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ACC067-CC74-4545-A06F-8E7FB60BA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o-RO" b="1" dirty="0" err="1"/>
              <a:t>fork</a:t>
            </a:r>
            <a:r>
              <a:rPr lang="ro-RO" dirty="0"/>
              <a:t>: creează un proces nou (copil) (aproape identic cu procesul părinte) </a:t>
            </a:r>
          </a:p>
          <a:p>
            <a:pPr lvl="1" algn="just"/>
            <a:r>
              <a:rPr lang="ro-RO" dirty="0">
                <a:solidFill>
                  <a:srgbClr val="92D050"/>
                </a:solidFill>
              </a:rPr>
              <a:t>partajează memoria</a:t>
            </a:r>
          </a:p>
          <a:p>
            <a:pPr lvl="1" algn="just"/>
            <a:r>
              <a:rPr lang="ro-RO" dirty="0">
                <a:solidFill>
                  <a:srgbClr val="92D050"/>
                </a:solidFill>
              </a:rPr>
              <a:t>stivă diferită</a:t>
            </a:r>
          </a:p>
          <a:p>
            <a:pPr lvl="1" algn="just"/>
            <a:r>
              <a:rPr lang="ro-RO" dirty="0">
                <a:solidFill>
                  <a:srgbClr val="92D050"/>
                </a:solidFill>
              </a:rPr>
              <a:t>TCB și local </a:t>
            </a:r>
            <a:r>
              <a:rPr lang="ro-RO" dirty="0" err="1">
                <a:solidFill>
                  <a:srgbClr val="92D050"/>
                </a:solidFill>
              </a:rPr>
              <a:t>storage</a:t>
            </a:r>
            <a:r>
              <a:rPr lang="ro-RO" dirty="0">
                <a:solidFill>
                  <a:srgbClr val="92D050"/>
                </a:solidFill>
              </a:rPr>
              <a:t> </a:t>
            </a:r>
          </a:p>
          <a:p>
            <a:pPr algn="just"/>
            <a:endParaRPr lang="ro-RO" dirty="0"/>
          </a:p>
          <a:p>
            <a:pPr algn="just"/>
            <a:r>
              <a:rPr lang="ro-RO" dirty="0"/>
              <a:t>Linux nu știe fire de execuție</a:t>
            </a:r>
          </a:p>
          <a:p>
            <a:pPr algn="just"/>
            <a:r>
              <a:rPr lang="ro-RO" dirty="0"/>
              <a:t>Un proces e de fapt un grup de procese care partajează memoria între ele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717F-E50D-BD48-A56B-F78BAF1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00930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D85A-2B64-244B-B976-2FEB686D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1EBDD-823E-8E4A-9AF0-4786FC631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biblioteca pthread (POSIX Thread)</a:t>
            </a:r>
          </a:p>
          <a:p>
            <a:endParaRPr lang="ro-RO"/>
          </a:p>
          <a:p>
            <a:r>
              <a:rPr lang="ro-RO"/>
              <a:t>NPTL (New POSIX Thread Library)</a:t>
            </a:r>
          </a:p>
          <a:p>
            <a:endParaRPr lang="ro-RO"/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5830B-9390-9E49-91FF-D5C2078B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9805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2D8A-E955-7445-A8B6-3D6ED701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Funcții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1CFD6-DEF7-6A4D-B531-55D5171F4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create a thread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pthread_create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pthread_t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*thread,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pthread_attr_t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*attr, 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			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*(*start_routine)(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*),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*arg);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stop a thread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pthread_cancel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pthread_t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thread);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wait for a thread to finish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pthread_join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pthread_t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thread,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**value_ptr);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send a signal to a thread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pthread_kill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pthread_t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thread,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sig);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run a function once in a thread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pthread_once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pthread_once_t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*once_control,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(*init_routine)(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detach a thread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pthread_detach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pthread_t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thread)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exit from a thread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pthread_exit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*value_ptr)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26923-27FD-E54D-8266-7F8A9A92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84494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928D-0BD0-AC4F-8DBF-810F51B1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13028-C8E5-884A-9E84-DCDDCFE27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/* this function is run by thread */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run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*void_ptr)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400">
                <a:solidFill>
                  <a:srgbClr val="008000"/>
                </a:solidFill>
                <a:latin typeface="Menlo" panose="020B0609030804020204" pitchFamily="49" charset="0"/>
              </a:rPr>
              <a:t>// ... thread code here</a:t>
            </a: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40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C03F1-7AD2-6E4B-A0D2-55342255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56567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B81C-352A-9A45-82E8-39E8BF1D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9B985-DD7E-BF42-A8D1-96D31ABA1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 err="1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*data;</a:t>
            </a:r>
          </a:p>
          <a:p>
            <a:pPr marL="0" indent="0">
              <a:buNone/>
            </a:pPr>
            <a:b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fr-FR" sz="18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fr-FR" sz="18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()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fr-FR" sz="18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r;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fr-FR" sz="1800" dirty="0" err="1">
                <a:solidFill>
                  <a:srgbClr val="267F99"/>
                </a:solidFill>
                <a:latin typeface="Menlo" panose="020B0609030804020204" pitchFamily="49" charset="0"/>
              </a:rPr>
              <a:t>pthread_t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run_thread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r = </a:t>
            </a:r>
            <a:r>
              <a:rPr lang="fr-FR" sz="1800" dirty="0" err="1">
                <a:solidFill>
                  <a:srgbClr val="795E26"/>
                </a:solidFill>
                <a:latin typeface="Menlo" panose="020B0609030804020204" pitchFamily="49" charset="0"/>
              </a:rPr>
              <a:t>pthread_create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(&amp;</a:t>
            </a:r>
            <a:r>
              <a:rPr lang="fr-FR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run_thread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fr-FR" sz="1800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run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, data);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fr-FR" sz="18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(r != </a:t>
            </a:r>
            <a:r>
              <a:rPr lang="fr-FR" sz="18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fr-FR" sz="1800" dirty="0" err="1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fr-FR" sz="18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Menlo" panose="020B0609030804020204" pitchFamily="49" charset="0"/>
              </a:rPr>
              <a:t>pthread_create</a:t>
            </a:r>
            <a:r>
              <a:rPr lang="fr-FR" sz="18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fr-FR" sz="1800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fr-FR" sz="18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DB2E4-182D-3D4B-95A2-CE134B8B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557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94B9-D948-334A-9FAB-04A28479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 dirty="0"/>
              <a:t>Probleme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8A6C3-DF13-CC45-B23E-EA98D1297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 dirty="0"/>
              <a:t>fork și exec</a:t>
            </a:r>
          </a:p>
          <a:p>
            <a:pPr lvl="1"/>
            <a:r>
              <a:rPr lang="rm-CH" dirty="0"/>
              <a:t>se clonează toate firele de execuție?</a:t>
            </a:r>
          </a:p>
          <a:p>
            <a:pPr lvl="1"/>
            <a:r>
              <a:rPr lang="rm-CH" dirty="0"/>
              <a:t>exec înlocuiește un singur fir de execuție?</a:t>
            </a:r>
          </a:p>
          <a:p>
            <a:endParaRPr lang="rm-CH" dirty="0"/>
          </a:p>
          <a:p>
            <a:r>
              <a:rPr lang="rm-CH" dirty="0"/>
              <a:t>semnale</a:t>
            </a:r>
          </a:p>
          <a:p>
            <a:pPr lvl="1"/>
            <a:r>
              <a:rPr lang="rm-CH" dirty="0"/>
              <a:t>care fire de execuție primește semnalele?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E77C0-D22A-8B4D-82F3-B5793663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33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2190824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0FAC-21B1-004B-963D-E3276BA2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Fire de execuție și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4CF5-9701-9640-8560-29F126BB5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dirty="0">
                <a:solidFill>
                  <a:srgbClr val="92D050"/>
                </a:solidFill>
              </a:rPr>
              <a:t>Se clonează un singur fir</a:t>
            </a:r>
          </a:p>
          <a:p>
            <a:r>
              <a:rPr lang="ro-RO" dirty="0">
                <a:solidFill>
                  <a:srgbClr val="FF0000"/>
                </a:solidFill>
              </a:rPr>
              <a:t>Nu e o idee bună să se folosească într-un proces care are fire de execuție</a:t>
            </a:r>
          </a:p>
          <a:p>
            <a:pPr lvl="1"/>
            <a:r>
              <a:rPr lang="ro-RO" dirty="0"/>
              <a:t>descriptori de fișiere</a:t>
            </a:r>
          </a:p>
          <a:p>
            <a:pPr lvl="1"/>
            <a:r>
              <a:rPr lang="ro-RO" dirty="0"/>
              <a:t>unde se opresc celelalte fire de execuție</a:t>
            </a:r>
          </a:p>
          <a:p>
            <a:pPr lvl="1"/>
            <a:r>
              <a:rPr lang="ro-RO" dirty="0"/>
              <a:t>funcții de bibliotecă</a:t>
            </a:r>
          </a:p>
          <a:p>
            <a:pPr lvl="1"/>
            <a:endParaRPr lang="ro-RO" dirty="0"/>
          </a:p>
          <a:p>
            <a:r>
              <a:rPr lang="ro-RO" dirty="0"/>
              <a:t>detalii </a:t>
            </a:r>
            <a:r>
              <a:rPr lang="ro-RO" dirty="0">
                <a:hlinkClick r:id="rId2"/>
              </a:rPr>
              <a:t>https://www.linuxprogrammingblog.com/threads-and-fork-think-twice-before-using-them</a:t>
            </a:r>
            <a:r>
              <a:rPr lang="ro-RO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3C243-5A8F-6E45-B842-DE208509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1723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8CBA-EBF9-8347-857D-4B58DC03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descriptori de fișiere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34827-AB57-CC4B-89F8-C6549344A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fd = </a:t>
            </a:r>
            <a:r>
              <a:rPr lang="ro-RO" sz="2200">
                <a:solidFill>
                  <a:srgbClr val="795E26"/>
                </a:solidFill>
                <a:latin typeface="Menlo" panose="020B0609030804020204" pitchFamily="49" charset="0"/>
              </a:rPr>
              <a:t>open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200">
                <a:solidFill>
                  <a:srgbClr val="A31515"/>
                </a:solidFill>
                <a:latin typeface="Menlo" panose="020B0609030804020204" pitchFamily="49" charset="0"/>
              </a:rPr>
              <a:t>"file"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,O_RDWR|O_CREAT|O_TRUNC, </a:t>
            </a:r>
            <a:r>
              <a:rPr lang="ro-RO" sz="2200">
                <a:solidFill>
                  <a:srgbClr val="098658"/>
                </a:solidFill>
                <a:latin typeface="Menlo" panose="020B0609030804020204" pitchFamily="49" charset="0"/>
              </a:rPr>
              <a:t>0600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2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 (fd &lt; </a:t>
            </a:r>
            <a:r>
              <a:rPr lang="ro-RO" sz="220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sz="2200">
                <a:solidFill>
                  <a:srgbClr val="795E26"/>
                </a:solidFill>
                <a:latin typeface="Menlo" panose="020B0609030804020204" pitchFamily="49" charset="0"/>
              </a:rPr>
              <a:t>	perror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200">
                <a:solidFill>
                  <a:srgbClr val="A31515"/>
                </a:solidFill>
                <a:latin typeface="Menlo" panose="020B0609030804020204" pitchFamily="49" charset="0"/>
              </a:rPr>
              <a:t>"open()"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200">
                <a:solidFill>
                  <a:srgbClr val="AF00DB"/>
                </a:solidFill>
                <a:latin typeface="Menlo" panose="020B0609030804020204" pitchFamily="49" charset="0"/>
              </a:rPr>
              <a:t>	return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2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200">
                <a:solidFill>
                  <a:srgbClr val="795E26"/>
                </a:solidFill>
                <a:latin typeface="Menlo" panose="020B0609030804020204" pitchFamily="49" charset="0"/>
              </a:rPr>
              <a:t>fcntl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 (fd, F_SETFD, FD_CLOEXEC);</a:t>
            </a:r>
          </a:p>
          <a:p>
            <a:pPr marL="0" indent="0">
              <a:buNone/>
            </a:pPr>
            <a:endParaRPr lang="ro-RO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4087-0B9D-F644-A276-34CE506B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549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8CBA-EBF9-8347-857D-4B58DC03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Soluția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34827-AB57-CC4B-89F8-C6549344A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pthread_atfork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	void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(*prepare)(</a:t>
            </a: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), 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	void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(*parent)(</a:t>
            </a: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	void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(*child)(</a:t>
            </a: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4087-0B9D-F644-A276-34CE506B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293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39F3C-FEEA-874C-9E55-69BDB31A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Semnale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A3CB-FC10-FC4A-AE13-CD72718FA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Firul de execuție curent primește semnalul</a:t>
            </a:r>
          </a:p>
          <a:p>
            <a:r>
              <a:rPr lang="ro-RO" dirty="0"/>
              <a:t>Stiva de semnale este unică</a:t>
            </a:r>
          </a:p>
          <a:p>
            <a:pPr lvl="1"/>
            <a:r>
              <a:rPr lang="ro-RO" dirty="0">
                <a:solidFill>
                  <a:srgbClr val="92D050"/>
                </a:solidFill>
              </a:rPr>
              <a:t>Blocarea semnalele este făcută de fiecare fir de execuție în parte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Acțiunea este partajată</a:t>
            </a:r>
          </a:p>
          <a:p>
            <a:pPr lvl="1"/>
            <a:endParaRPr lang="ro-RO" dirty="0">
              <a:solidFill>
                <a:srgbClr val="FF0000"/>
              </a:solidFill>
            </a:endParaRPr>
          </a:p>
          <a:p>
            <a:r>
              <a:rPr lang="ro-RO" dirty="0"/>
              <a:t>Excepții (SIGSEV, SIGFPE, SIGBUS ...)</a:t>
            </a:r>
          </a:p>
          <a:p>
            <a:pPr lvl="1"/>
            <a:r>
              <a:rPr lang="ro-RO" dirty="0">
                <a:solidFill>
                  <a:srgbClr val="92D050"/>
                </a:solidFill>
              </a:rPr>
              <a:t>sunt primite de firul de execuție care execută excepția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04C1-0047-E142-93D6-EE67BE2D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18387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>
            <a:normAutofit lnSpcReduction="10000"/>
          </a:bodyPr>
          <a:lstStyle/>
          <a:p>
            <a:r>
              <a:rPr lang="rm-CH" dirty="0"/>
              <a:t>fir de execuție</a:t>
            </a:r>
          </a:p>
          <a:p>
            <a:r>
              <a:rPr lang="rm-CH" dirty="0"/>
              <a:t>thread</a:t>
            </a:r>
          </a:p>
          <a:p>
            <a:r>
              <a:rPr lang="rm-CH" dirty="0"/>
              <a:t>thread utilizator</a:t>
            </a:r>
          </a:p>
          <a:p>
            <a:r>
              <a:rPr lang="rm-CH" dirty="0"/>
              <a:t>thread nucleu</a:t>
            </a:r>
          </a:p>
          <a:p>
            <a:r>
              <a:rPr lang="rm-CH" dirty="0"/>
              <a:t>TCB</a:t>
            </a:r>
          </a:p>
          <a:p>
            <a:r>
              <a:rPr lang="rm-CH" dirty="0"/>
              <a:t>fiber</a:t>
            </a:r>
          </a:p>
          <a:p>
            <a:r>
              <a:rPr lang="rm-CH" dirty="0"/>
              <a:t>many to one</a:t>
            </a:r>
          </a:p>
          <a:p>
            <a:r>
              <a:rPr lang="rm-CH" dirty="0"/>
              <a:t>one to many</a:t>
            </a:r>
          </a:p>
          <a:p>
            <a:r>
              <a:rPr lang="rm-CH" dirty="0"/>
              <a:t>many to many</a:t>
            </a:r>
          </a:p>
          <a:p>
            <a:pPr marL="0" indent="0">
              <a:buNone/>
            </a:pPr>
            <a:endParaRPr lang="rm-CH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600201"/>
            <a:ext cx="4038600" cy="4525963"/>
          </a:xfrm>
        </p:spPr>
        <p:txBody>
          <a:bodyPr>
            <a:normAutofit lnSpcReduction="10000"/>
          </a:bodyPr>
          <a:lstStyle/>
          <a:p>
            <a:r>
              <a:rPr lang="rm-CH" dirty="0"/>
              <a:t>fork și thread-uri</a:t>
            </a:r>
          </a:p>
          <a:p>
            <a:r>
              <a:rPr lang="rm-CH" dirty="0"/>
              <a:t>semnale și thread-uri</a:t>
            </a:r>
          </a:p>
          <a:p>
            <a:r>
              <a:rPr lang="rm-CH" dirty="0"/>
              <a:t>join</a:t>
            </a:r>
          </a:p>
          <a:p>
            <a:r>
              <a:rPr lang="rm-CH" dirty="0"/>
              <a:t>Thread ID</a:t>
            </a:r>
          </a:p>
          <a:p>
            <a:r>
              <a:rPr lang="rm-CH" dirty="0"/>
              <a:t>TLS</a:t>
            </a:r>
          </a:p>
          <a:p>
            <a:r>
              <a:rPr lang="rm-CH" dirty="0"/>
              <a:t>pthread</a:t>
            </a:r>
          </a:p>
          <a:p>
            <a:r>
              <a:rPr lang="rm-CH" dirty="0"/>
              <a:t>NPTL</a:t>
            </a:r>
          </a:p>
          <a:p>
            <a:r>
              <a:rPr lang="rm-CH" dirty="0"/>
              <a:t>asynchronous exit</a:t>
            </a:r>
          </a:p>
          <a:p>
            <a:r>
              <a:rPr lang="rm-CH" dirty="0"/>
              <a:t>deffered exit</a:t>
            </a:r>
          </a:p>
          <a:p>
            <a:endParaRPr lang="rm-CH" dirty="0"/>
          </a:p>
          <a:p>
            <a:endParaRPr lang="rm-CH" dirty="0"/>
          </a:p>
          <a:p>
            <a:endParaRPr lang="rm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38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4157366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428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14087</TotalTime>
  <Words>1018</Words>
  <Application>Microsoft Macintosh PowerPoint</Application>
  <PresentationFormat>On-screen Show (4:3)</PresentationFormat>
  <Paragraphs>266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Menlo</vt:lpstr>
      <vt:lpstr>Office Theme</vt:lpstr>
      <vt:lpstr>Sisteme de operare</vt:lpstr>
      <vt:lpstr>Cuprins</vt:lpstr>
      <vt:lpstr>Bibliografie</vt:lpstr>
      <vt:lpstr>Tipuri de procese (CPU)</vt:lpstr>
      <vt:lpstr>Stările proceselor</vt:lpstr>
      <vt:lpstr>Exemple de procese</vt:lpstr>
      <vt:lpstr>Fire de execuție</vt:lpstr>
      <vt:lpstr>Fire de execuție</vt:lpstr>
      <vt:lpstr>Procese și fire de execuție</vt:lpstr>
      <vt:lpstr>Fire de execuție</vt:lpstr>
      <vt:lpstr>Spațiul de memorie</vt:lpstr>
      <vt:lpstr>Propietățile unui fir de execuție</vt:lpstr>
      <vt:lpstr>Tipuri de fire de execuție</vt:lpstr>
      <vt:lpstr>Tipuri de fire de execuție</vt:lpstr>
      <vt:lpstr>Întrebare?</vt:lpstr>
      <vt:lpstr>Starea proceselor</vt:lpstr>
      <vt:lpstr>Schimbarea de context</vt:lpstr>
      <vt:lpstr>Schimbarea de context</vt:lpstr>
      <vt:lpstr>Implementarea firelor de execuție</vt:lpstr>
      <vt:lpstr>Many to one</vt:lpstr>
      <vt:lpstr>One to one</vt:lpstr>
      <vt:lpstr>Many to many</vt:lpstr>
      <vt:lpstr>Oprirea unui fir de execuție</vt:lpstr>
      <vt:lpstr>Implementare</vt:lpstr>
      <vt:lpstr>Windows</vt:lpstr>
      <vt:lpstr>POSIX</vt:lpstr>
      <vt:lpstr>Proces nou - UNIX</vt:lpstr>
      <vt:lpstr>Fire de execuție nou - UNIX</vt:lpstr>
      <vt:lpstr>pthread</vt:lpstr>
      <vt:lpstr>Funcții</vt:lpstr>
      <vt:lpstr>Exemplu</vt:lpstr>
      <vt:lpstr>Start</vt:lpstr>
      <vt:lpstr>Probleme</vt:lpstr>
      <vt:lpstr>Fire de execuție și fork</vt:lpstr>
      <vt:lpstr>Exemplu descriptori de fișiere</vt:lpstr>
      <vt:lpstr>Soluția</vt:lpstr>
      <vt:lpstr>Semnale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1390</cp:revision>
  <dcterms:created xsi:type="dcterms:W3CDTF">2010-02-23T11:53:40Z</dcterms:created>
  <dcterms:modified xsi:type="dcterms:W3CDTF">2020-04-14T06:36:07Z</dcterms:modified>
</cp:coreProperties>
</file>