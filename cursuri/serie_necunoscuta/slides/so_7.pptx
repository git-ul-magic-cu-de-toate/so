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7" r:id="rId2"/>
    <p:sldId id="403" r:id="rId3"/>
    <p:sldId id="466" r:id="rId4"/>
    <p:sldId id="488" r:id="rId5"/>
    <p:sldId id="451" r:id="rId6"/>
    <p:sldId id="503" r:id="rId7"/>
    <p:sldId id="490" r:id="rId8"/>
    <p:sldId id="489" r:id="rId9"/>
    <p:sldId id="486" r:id="rId10"/>
    <p:sldId id="485" r:id="rId11"/>
    <p:sldId id="484" r:id="rId12"/>
    <p:sldId id="487" r:id="rId13"/>
    <p:sldId id="491" r:id="rId14"/>
    <p:sldId id="492" r:id="rId15"/>
    <p:sldId id="493" r:id="rId16"/>
    <p:sldId id="494" r:id="rId17"/>
    <p:sldId id="495" r:id="rId18"/>
    <p:sldId id="496" r:id="rId19"/>
    <p:sldId id="497" r:id="rId20"/>
    <p:sldId id="498" r:id="rId21"/>
    <p:sldId id="499" r:id="rId22"/>
    <p:sldId id="500" r:id="rId23"/>
    <p:sldId id="501" r:id="rId24"/>
    <p:sldId id="502" r:id="rId25"/>
    <p:sldId id="483" r:id="rId26"/>
    <p:sldId id="26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 autoAdjust="0"/>
    <p:restoredTop sz="85087" autoAdjust="0"/>
  </p:normalViewPr>
  <p:slideViewPr>
    <p:cSldViewPr>
      <p:cViewPr varScale="1">
        <p:scale>
          <a:sx n="110" d="100"/>
          <a:sy n="110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4/12/22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4/12/22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923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889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17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12.04.2022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12.04.2022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12.04.2022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12.04.2022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12.04.2022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12.04.2022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12.04.2022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12.04.2022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12.04.2022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12.04.2022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12.04.2022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12.04.2022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Analiza Executabilelor și Proceselor</a:t>
            </a:r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 dirty="0"/>
              <a:t>COM</a:t>
            </a:r>
          </a:p>
          <a:p>
            <a:r>
              <a:rPr lang="ro-RO" dirty="0"/>
              <a:t>MZ </a:t>
            </a:r>
          </a:p>
          <a:p>
            <a:r>
              <a:rPr lang="ro-RO" dirty="0"/>
              <a:t>PE</a:t>
            </a:r>
          </a:p>
          <a:p>
            <a:r>
              <a:rPr lang="ro-RO" dirty="0"/>
              <a:t>ELF</a:t>
            </a:r>
          </a:p>
          <a:p>
            <a:r>
              <a:rPr lang="ro-RO" dirty="0"/>
              <a:t>Mach-O</a:t>
            </a:r>
          </a:p>
          <a:p>
            <a:pPr marL="0" indent="0">
              <a:buNone/>
            </a:pPr>
            <a:endParaRPr lang="ro-RO" dirty="0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41206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 dirty="0"/>
              <a:t>Relocare</a:t>
            </a:r>
          </a:p>
          <a:p>
            <a:pPr lvl="1"/>
            <a:r>
              <a:rPr lang="rm-CH" dirty="0"/>
              <a:t>https://eli.thegreenplace.net/2011/08/25/load-time-relocation-of-shared-libraries/ </a:t>
            </a:r>
          </a:p>
          <a:p>
            <a:endParaRPr lang="rm-CH" dirty="0"/>
          </a:p>
          <a:p>
            <a:r>
              <a:rPr lang="rm-CH" dirty="0"/>
              <a:t>Relocarea biblioteciilor partajate</a:t>
            </a:r>
          </a:p>
          <a:p>
            <a:pPr lvl="1"/>
            <a:r>
              <a:rPr lang="rm-CH" dirty="0"/>
              <a:t>https://eli.thegreenplace.net/2011/11/03/position-independent-code-pic-in-shared-libraries/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3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393805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91A7-904E-CA41-94FE-B31C915A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Compilarea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1CEF9-3B29-8644-A1A4-793EA375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</a:t>
            </a:fld>
            <a:endParaRPr lang="ro-RO"/>
          </a:p>
        </p:txBody>
      </p:sp>
      <p:grpSp>
        <p:nvGrpSpPr>
          <p:cNvPr id="28" name="Google Shape;87;p5">
            <a:extLst>
              <a:ext uri="{FF2B5EF4-FFF2-40B4-BE49-F238E27FC236}">
                <a16:creationId xmlns:a16="http://schemas.microsoft.com/office/drawing/2014/main" id="{14FD0DB5-6F87-3D4A-8BE0-462559D9D3F6}"/>
              </a:ext>
            </a:extLst>
          </p:cNvPr>
          <p:cNvGrpSpPr/>
          <p:nvPr/>
        </p:nvGrpSpPr>
        <p:grpSpPr>
          <a:xfrm>
            <a:off x="245450" y="1690689"/>
            <a:ext cx="9298601" cy="4848224"/>
            <a:chOff x="706826" y="1690689"/>
            <a:chExt cx="8837224" cy="4848224"/>
          </a:xfrm>
        </p:grpSpPr>
        <p:sp>
          <p:nvSpPr>
            <p:cNvPr id="29" name="Google Shape;88;p5">
              <a:extLst>
                <a:ext uri="{FF2B5EF4-FFF2-40B4-BE49-F238E27FC236}">
                  <a16:creationId xmlns:a16="http://schemas.microsoft.com/office/drawing/2014/main" id="{D095AF21-4835-3445-9440-FBA4E942ABD8}"/>
                </a:ext>
              </a:extLst>
            </p:cNvPr>
            <p:cNvSpPr/>
            <p:nvPr/>
          </p:nvSpPr>
          <p:spPr>
            <a:xfrm>
              <a:off x="902970" y="1690689"/>
              <a:ext cx="800100" cy="1291590"/>
            </a:xfrm>
            <a:prstGeom prst="roundRect">
              <a:avLst>
                <a:gd name="adj" fmla="val 16667"/>
              </a:avLst>
            </a:prstGeom>
            <a:solidFill>
              <a:srgbClr val="F6822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600" b="0" i="0" u="none" strike="noStrike" cap="none">
                  <a:solidFill>
                    <a:schemeClr val="lt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Fișier cod sursă</a:t>
              </a:r>
            </a:p>
          </p:txBody>
        </p:sp>
        <p:sp>
          <p:nvSpPr>
            <p:cNvPr id="30" name="Google Shape;89;p5">
              <a:extLst>
                <a:ext uri="{FF2B5EF4-FFF2-40B4-BE49-F238E27FC236}">
                  <a16:creationId xmlns:a16="http://schemas.microsoft.com/office/drawing/2014/main" id="{EFA5068F-A544-754B-8537-7401B81A9DBB}"/>
                </a:ext>
              </a:extLst>
            </p:cNvPr>
            <p:cNvSpPr/>
            <p:nvPr/>
          </p:nvSpPr>
          <p:spPr>
            <a:xfrm>
              <a:off x="902970" y="3229927"/>
              <a:ext cx="800100" cy="1291590"/>
            </a:xfrm>
            <a:prstGeom prst="roundRect">
              <a:avLst>
                <a:gd name="adj" fmla="val 16667"/>
              </a:avLst>
            </a:prstGeom>
            <a:solidFill>
              <a:srgbClr val="F6822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600" b="0" i="0" u="none" strike="noStrike" cap="none" dirty="0">
                  <a:solidFill>
                    <a:schemeClr val="lt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Fișier cod sursă</a:t>
              </a:r>
            </a:p>
          </p:txBody>
        </p:sp>
        <p:sp>
          <p:nvSpPr>
            <p:cNvPr id="31" name="Google Shape;90;p5">
              <a:extLst>
                <a:ext uri="{FF2B5EF4-FFF2-40B4-BE49-F238E27FC236}">
                  <a16:creationId xmlns:a16="http://schemas.microsoft.com/office/drawing/2014/main" id="{1B418BE1-56CE-2F43-ADB5-8FE5BC965D9D}"/>
                </a:ext>
              </a:extLst>
            </p:cNvPr>
            <p:cNvSpPr/>
            <p:nvPr/>
          </p:nvSpPr>
          <p:spPr>
            <a:xfrm>
              <a:off x="2879301" y="4875847"/>
              <a:ext cx="885824" cy="1291590"/>
            </a:xfrm>
            <a:prstGeom prst="roundRect">
              <a:avLst>
                <a:gd name="adj" fmla="val 16667"/>
              </a:avLst>
            </a:prstGeom>
            <a:solidFill>
              <a:srgbClr val="F6822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600" b="0" i="0" u="none" strike="noStrike" cap="none">
                  <a:solidFill>
                    <a:schemeClr val="lt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biblio-tecă</a:t>
              </a:r>
            </a:p>
          </p:txBody>
        </p:sp>
        <p:sp>
          <p:nvSpPr>
            <p:cNvPr id="32" name="Google Shape;91;p5">
              <a:extLst>
                <a:ext uri="{FF2B5EF4-FFF2-40B4-BE49-F238E27FC236}">
                  <a16:creationId xmlns:a16="http://schemas.microsoft.com/office/drawing/2014/main" id="{228E31FA-A7AA-7645-9656-B1D55AC0E9A0}"/>
                </a:ext>
              </a:extLst>
            </p:cNvPr>
            <p:cNvSpPr/>
            <p:nvPr/>
          </p:nvSpPr>
          <p:spPr>
            <a:xfrm>
              <a:off x="2879301" y="3229927"/>
              <a:ext cx="885824" cy="1291590"/>
            </a:xfrm>
            <a:prstGeom prst="roundRect">
              <a:avLst>
                <a:gd name="adj" fmla="val 16667"/>
              </a:avLst>
            </a:prstGeom>
            <a:solidFill>
              <a:srgbClr val="F6822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600" b="0" i="0" u="none" strike="noStrike" cap="none">
                  <a:solidFill>
                    <a:schemeClr val="lt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Fișier obiect</a:t>
              </a:r>
            </a:p>
          </p:txBody>
        </p:sp>
        <p:sp>
          <p:nvSpPr>
            <p:cNvPr id="33" name="Google Shape;92;p5">
              <a:extLst>
                <a:ext uri="{FF2B5EF4-FFF2-40B4-BE49-F238E27FC236}">
                  <a16:creationId xmlns:a16="http://schemas.microsoft.com/office/drawing/2014/main" id="{C5C69406-F958-BC48-BCC8-4FF15DB9EA2E}"/>
                </a:ext>
              </a:extLst>
            </p:cNvPr>
            <p:cNvSpPr/>
            <p:nvPr/>
          </p:nvSpPr>
          <p:spPr>
            <a:xfrm>
              <a:off x="2879301" y="1690689"/>
              <a:ext cx="885824" cy="1291590"/>
            </a:xfrm>
            <a:prstGeom prst="roundRect">
              <a:avLst>
                <a:gd name="adj" fmla="val 16667"/>
              </a:avLst>
            </a:prstGeom>
            <a:solidFill>
              <a:srgbClr val="F6822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600" b="0" i="0" u="none" strike="noStrike" cap="none">
                  <a:solidFill>
                    <a:schemeClr val="lt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Fișier obiect</a:t>
              </a:r>
            </a:p>
          </p:txBody>
        </p:sp>
        <p:sp>
          <p:nvSpPr>
            <p:cNvPr id="34" name="Google Shape;93;p5">
              <a:extLst>
                <a:ext uri="{FF2B5EF4-FFF2-40B4-BE49-F238E27FC236}">
                  <a16:creationId xmlns:a16="http://schemas.microsoft.com/office/drawing/2014/main" id="{E0AB3B51-2940-5C49-8250-110220A0F998}"/>
                </a:ext>
              </a:extLst>
            </p:cNvPr>
            <p:cNvSpPr/>
            <p:nvPr/>
          </p:nvSpPr>
          <p:spPr>
            <a:xfrm>
              <a:off x="4827278" y="3229927"/>
              <a:ext cx="1306998" cy="1291590"/>
            </a:xfrm>
            <a:prstGeom prst="roundRect">
              <a:avLst>
                <a:gd name="adj" fmla="val 16667"/>
              </a:avLst>
            </a:prstGeom>
            <a:solidFill>
              <a:srgbClr val="F6822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600" b="0" i="0" u="none" strike="noStrike" cap="none">
                  <a:solidFill>
                    <a:schemeClr val="lt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Fișier executabil</a:t>
              </a:r>
            </a:p>
          </p:txBody>
        </p:sp>
        <p:sp>
          <p:nvSpPr>
            <p:cNvPr id="35" name="Google Shape;94;p5">
              <a:extLst>
                <a:ext uri="{FF2B5EF4-FFF2-40B4-BE49-F238E27FC236}">
                  <a16:creationId xmlns:a16="http://schemas.microsoft.com/office/drawing/2014/main" id="{16FEB65D-1A1A-2847-9CB7-F72D34AD73A0}"/>
                </a:ext>
              </a:extLst>
            </p:cNvPr>
            <p:cNvSpPr/>
            <p:nvPr/>
          </p:nvSpPr>
          <p:spPr>
            <a:xfrm>
              <a:off x="7335576" y="3229927"/>
              <a:ext cx="1019754" cy="1291590"/>
            </a:xfrm>
            <a:prstGeom prst="roundRect">
              <a:avLst>
                <a:gd name="adj" fmla="val 16667"/>
              </a:avLst>
            </a:prstGeom>
            <a:solidFill>
              <a:srgbClr val="F6822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400" b="0" i="0" u="none" strike="noStrike" cap="none">
                  <a:solidFill>
                    <a:schemeClr val="lt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Pachet software</a:t>
              </a:r>
            </a:p>
          </p:txBody>
        </p:sp>
        <p:sp>
          <p:nvSpPr>
            <p:cNvPr id="36" name="Google Shape;95;p5">
              <a:extLst>
                <a:ext uri="{FF2B5EF4-FFF2-40B4-BE49-F238E27FC236}">
                  <a16:creationId xmlns:a16="http://schemas.microsoft.com/office/drawing/2014/main" id="{6186D562-D7EB-C544-A412-1A47CB796F16}"/>
                </a:ext>
              </a:extLst>
            </p:cNvPr>
            <p:cNvSpPr/>
            <p:nvPr/>
          </p:nvSpPr>
          <p:spPr>
            <a:xfrm>
              <a:off x="4488967" y="5247323"/>
              <a:ext cx="1464738" cy="1291590"/>
            </a:xfrm>
            <a:prstGeom prst="roundRect">
              <a:avLst>
                <a:gd name="adj" fmla="val 16667"/>
              </a:avLst>
            </a:prstGeom>
            <a:solidFill>
              <a:srgbClr val="F6822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600" b="0" i="0" u="none" strike="noStrike" cap="none">
                  <a:solidFill>
                    <a:schemeClr val="lt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Fișier de configurare</a:t>
              </a:r>
            </a:p>
          </p:txBody>
        </p:sp>
        <p:sp>
          <p:nvSpPr>
            <p:cNvPr id="37" name="Google Shape;96;p5">
              <a:extLst>
                <a:ext uri="{FF2B5EF4-FFF2-40B4-BE49-F238E27FC236}">
                  <a16:creationId xmlns:a16="http://schemas.microsoft.com/office/drawing/2014/main" id="{070BEE91-3468-6043-BE43-1A5A810F4F78}"/>
                </a:ext>
              </a:extLst>
            </p:cNvPr>
            <p:cNvSpPr/>
            <p:nvPr/>
          </p:nvSpPr>
          <p:spPr>
            <a:xfrm>
              <a:off x="6419850" y="5247323"/>
              <a:ext cx="800100" cy="1291590"/>
            </a:xfrm>
            <a:prstGeom prst="roundRect">
              <a:avLst>
                <a:gd name="adj" fmla="val 16667"/>
              </a:avLst>
            </a:prstGeom>
            <a:solidFill>
              <a:srgbClr val="F6822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600" b="0" i="0" u="none" strike="noStrike" cap="none">
                  <a:solidFill>
                    <a:schemeClr val="lt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Fișier de date</a:t>
              </a:r>
            </a:p>
          </p:txBody>
        </p:sp>
        <p:cxnSp>
          <p:nvCxnSpPr>
            <p:cNvPr id="38" name="Google Shape;97;p5">
              <a:extLst>
                <a:ext uri="{FF2B5EF4-FFF2-40B4-BE49-F238E27FC236}">
                  <a16:creationId xmlns:a16="http://schemas.microsoft.com/office/drawing/2014/main" id="{5BF579C6-C420-6F49-9D6A-EDDD0CAC3B57}"/>
                </a:ext>
              </a:extLst>
            </p:cNvPr>
            <p:cNvCxnSpPr/>
            <p:nvPr/>
          </p:nvCxnSpPr>
          <p:spPr>
            <a:xfrm>
              <a:off x="1845945" y="2359979"/>
              <a:ext cx="971550" cy="0"/>
            </a:xfrm>
            <a:prstGeom prst="straightConnector1">
              <a:avLst/>
            </a:prstGeom>
            <a:noFill/>
            <a:ln w="603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9" name="Google Shape;98;p5">
              <a:extLst>
                <a:ext uri="{FF2B5EF4-FFF2-40B4-BE49-F238E27FC236}">
                  <a16:creationId xmlns:a16="http://schemas.microsoft.com/office/drawing/2014/main" id="{94A626C3-CF99-BC4A-8397-F227E5DC65B3}"/>
                </a:ext>
              </a:extLst>
            </p:cNvPr>
            <p:cNvCxnSpPr/>
            <p:nvPr/>
          </p:nvCxnSpPr>
          <p:spPr>
            <a:xfrm>
              <a:off x="1845945" y="3875722"/>
              <a:ext cx="971550" cy="0"/>
            </a:xfrm>
            <a:prstGeom prst="straightConnector1">
              <a:avLst/>
            </a:prstGeom>
            <a:noFill/>
            <a:ln w="603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0" name="Google Shape;99;p5">
              <a:extLst>
                <a:ext uri="{FF2B5EF4-FFF2-40B4-BE49-F238E27FC236}">
                  <a16:creationId xmlns:a16="http://schemas.microsoft.com/office/drawing/2014/main" id="{2945A48C-BE9C-5F4B-8DA2-BE1D075D67C2}"/>
                </a:ext>
              </a:extLst>
            </p:cNvPr>
            <p:cNvCxnSpPr/>
            <p:nvPr/>
          </p:nvCxnSpPr>
          <p:spPr>
            <a:xfrm>
              <a:off x="3848100" y="3875722"/>
              <a:ext cx="971550" cy="0"/>
            </a:xfrm>
            <a:prstGeom prst="straightConnector1">
              <a:avLst/>
            </a:prstGeom>
            <a:noFill/>
            <a:ln w="603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1" name="Google Shape;100;p5">
              <a:extLst>
                <a:ext uri="{FF2B5EF4-FFF2-40B4-BE49-F238E27FC236}">
                  <a16:creationId xmlns:a16="http://schemas.microsoft.com/office/drawing/2014/main" id="{BAD27993-4215-2840-9650-75320E57A54D}"/>
                </a:ext>
              </a:extLst>
            </p:cNvPr>
            <p:cNvCxnSpPr/>
            <p:nvPr/>
          </p:nvCxnSpPr>
          <p:spPr>
            <a:xfrm>
              <a:off x="3848100" y="2228850"/>
              <a:ext cx="872490" cy="1417955"/>
            </a:xfrm>
            <a:prstGeom prst="straightConnector1">
              <a:avLst/>
            </a:prstGeom>
            <a:noFill/>
            <a:ln w="603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2" name="Google Shape;101;p5">
              <a:extLst>
                <a:ext uri="{FF2B5EF4-FFF2-40B4-BE49-F238E27FC236}">
                  <a16:creationId xmlns:a16="http://schemas.microsoft.com/office/drawing/2014/main" id="{D725E229-9683-0640-BAF8-EFD16A08252F}"/>
                </a:ext>
              </a:extLst>
            </p:cNvPr>
            <p:cNvCxnSpPr/>
            <p:nvPr/>
          </p:nvCxnSpPr>
          <p:spPr>
            <a:xfrm rot="10800000" flipH="1">
              <a:off x="3848100" y="4104640"/>
              <a:ext cx="872490" cy="1516062"/>
            </a:xfrm>
            <a:prstGeom prst="straightConnector1">
              <a:avLst/>
            </a:prstGeom>
            <a:noFill/>
            <a:ln w="603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3" name="Google Shape;102;p5">
              <a:extLst>
                <a:ext uri="{FF2B5EF4-FFF2-40B4-BE49-F238E27FC236}">
                  <a16:creationId xmlns:a16="http://schemas.microsoft.com/office/drawing/2014/main" id="{26731E81-9657-6448-850E-390F091FC542}"/>
                </a:ext>
              </a:extLst>
            </p:cNvPr>
            <p:cNvCxnSpPr/>
            <p:nvPr/>
          </p:nvCxnSpPr>
          <p:spPr>
            <a:xfrm>
              <a:off x="6221905" y="3875722"/>
              <a:ext cx="910415" cy="0"/>
            </a:xfrm>
            <a:prstGeom prst="straightConnector1">
              <a:avLst/>
            </a:prstGeom>
            <a:noFill/>
            <a:ln w="603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4" name="Google Shape;103;p5">
              <a:extLst>
                <a:ext uri="{FF2B5EF4-FFF2-40B4-BE49-F238E27FC236}">
                  <a16:creationId xmlns:a16="http://schemas.microsoft.com/office/drawing/2014/main" id="{98328FC9-2917-FF4B-BF16-41692316DD58}"/>
                </a:ext>
              </a:extLst>
            </p:cNvPr>
            <p:cNvCxnSpPr/>
            <p:nvPr/>
          </p:nvCxnSpPr>
          <p:spPr>
            <a:xfrm rot="10800000" flipH="1">
              <a:off x="6789420" y="4104640"/>
              <a:ext cx="430530" cy="887412"/>
            </a:xfrm>
            <a:prstGeom prst="straightConnector1">
              <a:avLst/>
            </a:prstGeom>
            <a:noFill/>
            <a:ln w="603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5" name="Google Shape;104;p5">
              <a:extLst>
                <a:ext uri="{FF2B5EF4-FFF2-40B4-BE49-F238E27FC236}">
                  <a16:creationId xmlns:a16="http://schemas.microsoft.com/office/drawing/2014/main" id="{9BEE273C-89AE-3349-B1F1-3A7B5BB7E5C0}"/>
                </a:ext>
              </a:extLst>
            </p:cNvPr>
            <p:cNvCxnSpPr/>
            <p:nvPr/>
          </p:nvCxnSpPr>
          <p:spPr>
            <a:xfrm rot="10800000" flipH="1">
              <a:off x="5535930" y="4028122"/>
              <a:ext cx="1596390" cy="963930"/>
            </a:xfrm>
            <a:prstGeom prst="straightConnector1">
              <a:avLst/>
            </a:prstGeom>
            <a:noFill/>
            <a:ln w="603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6" name="Google Shape;105;p5">
              <a:extLst>
                <a:ext uri="{FF2B5EF4-FFF2-40B4-BE49-F238E27FC236}">
                  <a16:creationId xmlns:a16="http://schemas.microsoft.com/office/drawing/2014/main" id="{572DE2A1-46EA-9245-9973-4390AED3043C}"/>
                </a:ext>
              </a:extLst>
            </p:cNvPr>
            <p:cNvSpPr txBox="1"/>
            <p:nvPr/>
          </p:nvSpPr>
          <p:spPr>
            <a:xfrm>
              <a:off x="1821181" y="2517591"/>
              <a:ext cx="111632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400" b="0" i="0" u="none" strike="noStrike" cap="none">
                  <a:solidFill>
                    <a:schemeClr val="dk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compilare</a:t>
              </a:r>
              <a:endParaRPr lang="ro-RO" sz="1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  <p:sp>
          <p:nvSpPr>
            <p:cNvPr id="47" name="Google Shape;106;p5">
              <a:extLst>
                <a:ext uri="{FF2B5EF4-FFF2-40B4-BE49-F238E27FC236}">
                  <a16:creationId xmlns:a16="http://schemas.microsoft.com/office/drawing/2014/main" id="{5E90E50D-D16E-A743-B11F-1DE275179686}"/>
                </a:ext>
              </a:extLst>
            </p:cNvPr>
            <p:cNvSpPr txBox="1"/>
            <p:nvPr/>
          </p:nvSpPr>
          <p:spPr>
            <a:xfrm>
              <a:off x="1811658" y="4032884"/>
              <a:ext cx="111632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400">
                  <a:solidFill>
                    <a:schemeClr val="dk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compilare</a:t>
              </a:r>
            </a:p>
          </p:txBody>
        </p:sp>
        <p:sp>
          <p:nvSpPr>
            <p:cNvPr id="48" name="Google Shape;107;p5">
              <a:extLst>
                <a:ext uri="{FF2B5EF4-FFF2-40B4-BE49-F238E27FC236}">
                  <a16:creationId xmlns:a16="http://schemas.microsoft.com/office/drawing/2014/main" id="{50395790-1227-F844-8C95-2AC6D0684790}"/>
                </a:ext>
              </a:extLst>
            </p:cNvPr>
            <p:cNvSpPr txBox="1"/>
            <p:nvPr/>
          </p:nvSpPr>
          <p:spPr>
            <a:xfrm rot="18019682">
              <a:off x="3651886" y="4360656"/>
              <a:ext cx="1116329" cy="321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1600">
                  <a:solidFill>
                    <a:schemeClr val="dk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linking</a:t>
              </a:r>
            </a:p>
          </p:txBody>
        </p:sp>
        <p:sp>
          <p:nvSpPr>
            <p:cNvPr id="49" name="Google Shape;108;p5">
              <a:extLst>
                <a:ext uri="{FF2B5EF4-FFF2-40B4-BE49-F238E27FC236}">
                  <a16:creationId xmlns:a16="http://schemas.microsoft.com/office/drawing/2014/main" id="{6BD947E5-251D-0C41-8902-7BC7B66E7D0D}"/>
                </a:ext>
              </a:extLst>
            </p:cNvPr>
            <p:cNvSpPr txBox="1"/>
            <p:nvPr/>
          </p:nvSpPr>
          <p:spPr>
            <a:xfrm>
              <a:off x="706826" y="5167311"/>
              <a:ext cx="241173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2800">
                  <a:solidFill>
                    <a:schemeClr val="dk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Dezvoltator</a:t>
              </a:r>
            </a:p>
          </p:txBody>
        </p:sp>
        <p:sp>
          <p:nvSpPr>
            <p:cNvPr id="50" name="Google Shape;109;p5">
              <a:extLst>
                <a:ext uri="{FF2B5EF4-FFF2-40B4-BE49-F238E27FC236}">
                  <a16:creationId xmlns:a16="http://schemas.microsoft.com/office/drawing/2014/main" id="{66C3F651-78F0-184D-A3A8-B6E8B6B434E5}"/>
                </a:ext>
              </a:extLst>
            </p:cNvPr>
            <p:cNvSpPr txBox="1"/>
            <p:nvPr/>
          </p:nvSpPr>
          <p:spPr>
            <a:xfrm>
              <a:off x="7132320" y="1890583"/>
              <a:ext cx="241173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-RO" sz="2800">
                  <a:solidFill>
                    <a:schemeClr val="dk1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Utilizator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435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Compilarea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Rectangle 5"/>
          <p:cNvSpPr/>
          <p:nvPr/>
        </p:nvSpPr>
        <p:spPr>
          <a:xfrm>
            <a:off x="304800" y="1295400"/>
            <a:ext cx="2286000" cy="838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Surse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9800" y="2362200"/>
            <a:ext cx="2133600" cy="762000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Surse în asamblare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2400" y="3429000"/>
            <a:ext cx="2133600" cy="762000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Obiecte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7400" y="4419600"/>
            <a:ext cx="2286000" cy="762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Executabil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2438400"/>
            <a:ext cx="1227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Compilator</a:t>
            </a:r>
          </a:p>
        </p:txBody>
      </p:sp>
      <p:cxnSp>
        <p:nvCxnSpPr>
          <p:cNvPr id="16" name="Elbow Connector 15"/>
          <p:cNvCxnSpPr>
            <a:stCxn id="6" idx="2"/>
            <a:endCxn id="7" idx="1"/>
          </p:cNvCxnSpPr>
          <p:nvPr/>
        </p:nvCxnSpPr>
        <p:spPr>
          <a:xfrm rot="16200000" flipH="1">
            <a:off x="1524000" y="2057400"/>
            <a:ext cx="609600" cy="7620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7" idx="2"/>
            <a:endCxn id="8" idx="1"/>
          </p:cNvCxnSpPr>
          <p:nvPr/>
        </p:nvCxnSpPr>
        <p:spPr>
          <a:xfrm rot="16200000" flipH="1">
            <a:off x="3276600" y="3124200"/>
            <a:ext cx="685800" cy="6858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8" idx="2"/>
            <a:endCxn id="9" idx="1"/>
          </p:cNvCxnSpPr>
          <p:nvPr/>
        </p:nvCxnSpPr>
        <p:spPr>
          <a:xfrm rot="16200000" flipH="1">
            <a:off x="5143500" y="4076700"/>
            <a:ext cx="609600" cy="8382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81200" y="3733800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Asamblor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572000"/>
            <a:ext cx="75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err="1"/>
              <a:t>Linker</a:t>
            </a:r>
            <a:endParaRPr lang="ro-RO" dirty="0"/>
          </a:p>
        </p:txBody>
      </p:sp>
      <p:sp>
        <p:nvSpPr>
          <p:cNvPr id="29" name="TextBox 28"/>
          <p:cNvSpPr txBox="1"/>
          <p:nvPr/>
        </p:nvSpPr>
        <p:spPr>
          <a:xfrm>
            <a:off x="2743200" y="1828800"/>
            <a:ext cx="3893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tx2">
                    <a:lumMod val="75000"/>
                  </a:schemeClr>
                </a:solidFill>
              </a:rPr>
              <a:t>Independente de platformă (în general)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514600"/>
            <a:ext cx="3223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rgbClr val="FF6600"/>
                </a:solidFill>
              </a:rPr>
              <a:t>Depind de arhitectura CPU-ului</a:t>
            </a:r>
          </a:p>
          <a:p>
            <a:r>
              <a:rPr lang="ro-RO" dirty="0">
                <a:solidFill>
                  <a:srgbClr val="FF6600"/>
                </a:solidFill>
              </a:rPr>
              <a:t>X86, x64, ARM, ARM64, MIPS, 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9800" y="5181600"/>
            <a:ext cx="221567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accent2">
                    <a:lumMod val="75000"/>
                  </a:schemeClr>
                </a:solidFill>
              </a:rPr>
              <a:t>Depinde de CPU și SO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05000" y="5181600"/>
            <a:ext cx="2057400" cy="685800"/>
          </a:xfrm>
          <a:prstGeom prst="rect">
            <a:avLst/>
          </a:prstGeom>
          <a:solidFill>
            <a:srgbClr val="9537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Biblioteci</a:t>
            </a:r>
          </a:p>
        </p:txBody>
      </p:sp>
      <p:cxnSp>
        <p:nvCxnSpPr>
          <p:cNvPr id="55" name="Elbow Connector 54"/>
          <p:cNvCxnSpPr>
            <a:stCxn id="53" idx="3"/>
            <a:endCxn id="9" idx="1"/>
          </p:cNvCxnSpPr>
          <p:nvPr/>
        </p:nvCxnSpPr>
        <p:spPr>
          <a:xfrm flipV="1">
            <a:off x="3962400" y="4800600"/>
            <a:ext cx="1905000" cy="723900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workswith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5562600"/>
            <a:ext cx="1828800" cy="620003"/>
          </a:xfrm>
          <a:prstGeom prst="rect">
            <a:avLst/>
          </a:prstGeom>
        </p:spPr>
      </p:pic>
      <p:pic>
        <p:nvPicPr>
          <p:cNvPr id="62" name="Picture 61" descr="jav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143000"/>
            <a:ext cx="286774" cy="533400"/>
          </a:xfrm>
          <a:prstGeom prst="rect">
            <a:avLst/>
          </a:prstGeom>
        </p:spPr>
      </p:pic>
      <p:pic>
        <p:nvPicPr>
          <p:cNvPr id="63" name="Picture 62" descr="c_cpp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447800"/>
            <a:ext cx="950975" cy="457200"/>
          </a:xfrm>
          <a:prstGeom prst="rect">
            <a:avLst/>
          </a:prstGeom>
        </p:spPr>
      </p:pic>
      <p:pic>
        <p:nvPicPr>
          <p:cNvPr id="64" name="Picture 63" descr="csharp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066800"/>
            <a:ext cx="544286" cy="609600"/>
          </a:xfrm>
          <a:prstGeom prst="rect">
            <a:avLst/>
          </a:prstGeom>
        </p:spPr>
      </p:pic>
      <p:pic>
        <p:nvPicPr>
          <p:cNvPr id="65" name="Picture 64" descr="pytho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066800"/>
            <a:ext cx="635000" cy="635000"/>
          </a:xfrm>
          <a:prstGeom prst="rect">
            <a:avLst/>
          </a:prstGeom>
        </p:spPr>
      </p:pic>
      <p:pic>
        <p:nvPicPr>
          <p:cNvPr id="66" name="Picture 65" descr="nodejs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219200"/>
            <a:ext cx="762000" cy="465667"/>
          </a:xfrm>
          <a:prstGeom prst="rect">
            <a:avLst/>
          </a:prstGeom>
        </p:spPr>
      </p:pic>
      <p:pic>
        <p:nvPicPr>
          <p:cNvPr id="67" name="Picture 66" descr="scala-logo.gi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219200"/>
            <a:ext cx="1202575" cy="533400"/>
          </a:xfrm>
          <a:prstGeom prst="rect">
            <a:avLst/>
          </a:prstGeom>
        </p:spPr>
      </p:pic>
      <p:pic>
        <p:nvPicPr>
          <p:cNvPr id="68" name="Picture 67" descr="hakell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295400"/>
            <a:ext cx="6350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9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/>
      <p:bldP spid="27" grpId="0"/>
      <p:bldP spid="28" grpId="0"/>
      <p:bldP spid="30" grpId="0"/>
      <p:bldP spid="34" grpId="0"/>
      <p:bldP spid="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E64D-3CDA-284D-B954-BCC10B1B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Link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4AD90-71D8-0541-9AD8-17ED7201D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Se unesc secțiunile</a:t>
            </a:r>
          </a:p>
          <a:p>
            <a:pPr lvl="1"/>
            <a:r>
              <a:rPr lang="ro-RO"/>
              <a:t>.text</a:t>
            </a:r>
          </a:p>
          <a:p>
            <a:pPr lvl="1"/>
            <a:r>
              <a:rPr lang="ro-RO"/>
              <a:t>.data</a:t>
            </a:r>
          </a:p>
          <a:p>
            <a:pPr lvl="1"/>
            <a:r>
              <a:rPr lang="ro-RO"/>
              <a:t>.rodata</a:t>
            </a:r>
          </a:p>
          <a:p>
            <a:r>
              <a:rPr lang="ro-RO"/>
              <a:t>Se alocă spațiu pentru toate secțiunile .bss</a:t>
            </a:r>
          </a:p>
          <a:p>
            <a:r>
              <a:rPr lang="ro-RO"/>
              <a:t>Se realizează legături către biblioteci partajate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C0B3D0-8EC4-784B-953A-613DF288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221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36B9-7808-3E42-A5EF-D10EC200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Linkeditare statică vs dinamică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BB0900-EC80-8B40-B9DC-F7D8A409D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7</a:t>
            </a:fld>
            <a:endParaRPr lang="ro-R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38341-BCA4-0543-A099-F16C8884D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219200"/>
            <a:ext cx="6096000" cy="413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509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6BFA-7F40-D245-8A22-B60DFD64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Relocare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608E0-052C-5A42-8411-E501DA070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/>
              <a:t>Adresa unui simbol nu este cunoscută la compilare</a:t>
            </a:r>
          </a:p>
          <a:p>
            <a:pPr lvl="1"/>
            <a:r>
              <a:rPr lang="rm-CH"/>
              <a:t>executabilul se poate incărca la adrese diferite</a:t>
            </a:r>
          </a:p>
          <a:p>
            <a:pPr lvl="1"/>
            <a:r>
              <a:rPr lang="rm-CH"/>
              <a:t>biblioteci partajate</a:t>
            </a:r>
          </a:p>
          <a:p>
            <a:endParaRPr lang="rm-C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7E4812-49D3-4540-9757-C6E47DBF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8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1273505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1F76-058B-9B42-9052-8E8EBE96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MS-DOS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4A5D80-85C3-554A-88F8-CF84F33796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/>
              <a:t>COM</a:t>
            </a:r>
          </a:p>
          <a:p>
            <a:r>
              <a:rPr lang="ro-RO"/>
              <a:t>EXE (MZ)</a:t>
            </a:r>
          </a:p>
          <a:p>
            <a:endParaRPr lang="ro-RO"/>
          </a:p>
          <a:p>
            <a:endParaRPr lang="ro-RO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25CE01C-3B74-4D40-8874-8331DA8ECC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990" y="2209800"/>
            <a:ext cx="2334419" cy="23344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FAC26-F897-AC45-A643-9BE64444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84959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DB24-5367-2845-A317-81FFD2B4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EDC78-AD0C-BF47-8377-7B08DE2AF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Command File</a:t>
            </a:r>
          </a:p>
          <a:p>
            <a:r>
              <a:rPr lang="ro-RO"/>
              <a:t>Un singur segement (64KB)</a:t>
            </a:r>
          </a:p>
          <a:p>
            <a:pPr lvl="1"/>
            <a:r>
              <a:rPr lang="ro-RO"/>
              <a:t>mai putin 512 bytes pentru PSP</a:t>
            </a:r>
          </a:p>
          <a:p>
            <a:r>
              <a:rPr lang="ro-RO"/>
              <a:t>Instrucțiuni</a:t>
            </a:r>
          </a:p>
          <a:p>
            <a:r>
              <a:rPr lang="ro-RO"/>
              <a:t>Execută de la 0100h</a:t>
            </a:r>
          </a:p>
          <a:p>
            <a:r>
              <a:rPr lang="ro-RO"/>
              <a:t>Executat preferențial față de .exe</a:t>
            </a:r>
          </a:p>
          <a:p>
            <a:r>
              <a:rPr lang="ro-RO"/>
              <a:t>Viruși site .com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4B05F-CC9A-6B4E-9D2B-B9C3A199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1661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B4F4-5ECF-0641-835A-D32CFCE8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 (MZ)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41B11-10C5-C142-94AB-F0933D1434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515" y="1447800"/>
            <a:ext cx="4038600" cy="4525963"/>
          </a:xfrm>
        </p:spPr>
        <p:txBody>
          <a:bodyPr/>
          <a:lstStyle/>
          <a:p>
            <a:r>
              <a:rPr lang="ro-RO" dirty="0"/>
              <a:t>Mark "</a:t>
            </a:r>
            <a:r>
              <a:rPr lang="ro-RO" dirty="0" err="1"/>
              <a:t>Zibo</a:t>
            </a:r>
            <a:r>
              <a:rPr lang="ro-RO" dirty="0"/>
              <a:t>" Joseph </a:t>
            </a:r>
            <a:r>
              <a:rPr lang="ro-RO" dirty="0" err="1"/>
              <a:t>Zbikowski</a:t>
            </a:r>
            <a:endParaRPr lang="ro-RO" dirty="0"/>
          </a:p>
          <a:p>
            <a:r>
              <a:rPr lang="ro-RO" dirty="0"/>
              <a:t>MS-DOS v. 2</a:t>
            </a:r>
          </a:p>
          <a:p>
            <a:r>
              <a:rPr lang="ro-RO" dirty="0"/>
              <a:t>Cod mai mare de un segment</a:t>
            </a:r>
          </a:p>
          <a:p>
            <a:r>
              <a:rPr lang="ro-RO" dirty="0"/>
              <a:t>Relocabil</a:t>
            </a:r>
          </a:p>
          <a:p>
            <a:endParaRPr lang="ro-RO" dirty="0"/>
          </a:p>
          <a:p>
            <a:r>
              <a:rPr lang="ro-RO" dirty="0"/>
              <a:t>paragraf – 16 </a:t>
            </a:r>
            <a:r>
              <a:rPr lang="ro-RO" dirty="0" err="1"/>
              <a:t>bytes</a:t>
            </a:r>
            <a:endParaRPr lang="ro-RO" dirty="0"/>
          </a:p>
          <a:p>
            <a:r>
              <a:rPr lang="ro-RO" dirty="0"/>
              <a:t>pagină – 512 </a:t>
            </a:r>
            <a:r>
              <a:rPr lang="ro-RO" dirty="0" err="1"/>
              <a:t>bytes</a:t>
            </a:r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4A576C1-CCEE-4843-A650-47CCD8C290C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48421147"/>
              </p:ext>
            </p:extLst>
          </p:nvPr>
        </p:nvGraphicFramePr>
        <p:xfrm>
          <a:off x="3962400" y="1083184"/>
          <a:ext cx="4876801" cy="5559996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75307">
                  <a:extLst>
                    <a:ext uri="{9D8B030D-6E8A-4147-A177-3AD203B41FA5}">
                      <a16:colId xmlns:a16="http://schemas.microsoft.com/office/drawing/2014/main" val="1047723762"/>
                    </a:ext>
                  </a:extLst>
                </a:gridCol>
                <a:gridCol w="935108">
                  <a:extLst>
                    <a:ext uri="{9D8B030D-6E8A-4147-A177-3AD203B41FA5}">
                      <a16:colId xmlns:a16="http://schemas.microsoft.com/office/drawing/2014/main" val="106872234"/>
                    </a:ext>
                  </a:extLst>
                </a:gridCol>
                <a:gridCol w="561064">
                  <a:extLst>
                    <a:ext uri="{9D8B030D-6E8A-4147-A177-3AD203B41FA5}">
                      <a16:colId xmlns:a16="http://schemas.microsoft.com/office/drawing/2014/main" val="1620316082"/>
                    </a:ext>
                  </a:extLst>
                </a:gridCol>
                <a:gridCol w="2805322">
                  <a:extLst>
                    <a:ext uri="{9D8B030D-6E8A-4147-A177-3AD203B41FA5}">
                      <a16:colId xmlns:a16="http://schemas.microsoft.com/office/drawing/2014/main" val="2168838044"/>
                    </a:ext>
                  </a:extLst>
                </a:gridCol>
              </a:tblGrid>
              <a:tr h="102458">
                <a:tc>
                  <a:txBody>
                    <a:bodyPr/>
                    <a:lstStyle/>
                    <a:p>
                      <a:r>
                        <a:rPr lang="en-GB" sz="1200" b="1" dirty="0"/>
                        <a:t>Offset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Field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Size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Description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999907064"/>
                  </a:ext>
                </a:extLst>
              </a:tr>
              <a:tr h="182642">
                <a:tc>
                  <a:txBody>
                    <a:bodyPr/>
                    <a:lstStyle/>
                    <a:p>
                      <a:r>
                        <a:rPr lang="en-RO" sz="1200" dirty="0"/>
                        <a:t>0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Signature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0x5A4D (ASCII for 'M' and 'Z')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925842270"/>
                  </a:ext>
                </a:extLst>
              </a:tr>
              <a:tr h="182642">
                <a:tc>
                  <a:txBody>
                    <a:bodyPr/>
                    <a:lstStyle/>
                    <a:p>
                      <a:r>
                        <a:rPr lang="en-RO" sz="1200"/>
                        <a:t>2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Extra bytes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Number of bytes in the last page.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3715349337"/>
                  </a:ext>
                </a:extLst>
              </a:tr>
              <a:tr h="182642">
                <a:tc>
                  <a:txBody>
                    <a:bodyPr/>
                    <a:lstStyle/>
                    <a:p>
                      <a:r>
                        <a:rPr lang="en-RO" sz="1200"/>
                        <a:t>4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Pages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Number of whole/partial pages.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2847525942"/>
                  </a:ext>
                </a:extLst>
              </a:tr>
              <a:tr h="182642">
                <a:tc>
                  <a:txBody>
                    <a:bodyPr/>
                    <a:lstStyle/>
                    <a:p>
                      <a:r>
                        <a:rPr lang="en-RO" sz="1200"/>
                        <a:t>6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Relocation items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Number of entries in the relocation table.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4257490861"/>
                  </a:ext>
                </a:extLst>
              </a:tr>
              <a:tr h="262827">
                <a:tc>
                  <a:txBody>
                    <a:bodyPr/>
                    <a:lstStyle/>
                    <a:p>
                      <a:r>
                        <a:rPr lang="en-RO" sz="1200"/>
                        <a:t>8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Header size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The number of paragraphs taken up by the header.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2607997464"/>
                  </a:ext>
                </a:extLst>
              </a:tr>
              <a:tr h="663748">
                <a:tc>
                  <a:txBody>
                    <a:bodyPr/>
                    <a:lstStyle/>
                    <a:p>
                      <a:r>
                        <a:rPr lang="en-RO" sz="1200"/>
                        <a:t>10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Minimum allocation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The number of paragraphs required by the program, excluding the PSP and program image. If no free block is big enough, the loading stops.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2167876204"/>
                  </a:ext>
                </a:extLst>
              </a:tr>
              <a:tr h="583564">
                <a:tc>
                  <a:txBody>
                    <a:bodyPr/>
                    <a:lstStyle/>
                    <a:p>
                      <a:r>
                        <a:rPr lang="en-RO" sz="1200"/>
                        <a:t>12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Maximum allocation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The number of paragraphs requested by the program. If no free block is big enough, the biggest one possible is allocated.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746145333"/>
                  </a:ext>
                </a:extLst>
              </a:tr>
              <a:tr h="182642">
                <a:tc>
                  <a:txBody>
                    <a:bodyPr/>
                    <a:lstStyle/>
                    <a:p>
                      <a:r>
                        <a:rPr lang="en-RO" sz="1200"/>
                        <a:t>14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Initial SS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Relocatable segment address for SS.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1822756631"/>
                  </a:ext>
                </a:extLst>
              </a:tr>
              <a:tr h="102458">
                <a:tc>
                  <a:txBody>
                    <a:bodyPr/>
                    <a:lstStyle/>
                    <a:p>
                      <a:r>
                        <a:rPr lang="en-RO" sz="1200"/>
                        <a:t>16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Initial SP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Initial value for SP.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4143417437"/>
                  </a:ext>
                </a:extLst>
              </a:tr>
              <a:tr h="423195">
                <a:tc>
                  <a:txBody>
                    <a:bodyPr/>
                    <a:lstStyle/>
                    <a:p>
                      <a:r>
                        <a:rPr lang="en-RO" sz="1200"/>
                        <a:t>18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Checksum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When added to the sum of all other words in the file, the result should be zero.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3286988856"/>
                  </a:ext>
                </a:extLst>
              </a:tr>
              <a:tr h="102458">
                <a:tc>
                  <a:txBody>
                    <a:bodyPr/>
                    <a:lstStyle/>
                    <a:p>
                      <a:r>
                        <a:rPr lang="en-RO" sz="1200"/>
                        <a:t>20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Initial IP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Initial value for IP.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2704705794"/>
                  </a:ext>
                </a:extLst>
              </a:tr>
              <a:tr h="182642">
                <a:tc>
                  <a:txBody>
                    <a:bodyPr/>
                    <a:lstStyle/>
                    <a:p>
                      <a:r>
                        <a:rPr lang="en-RO" sz="1200"/>
                        <a:t>22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Initial CS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Relocatable segment address for CS.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2438271345"/>
                  </a:ext>
                </a:extLst>
              </a:tr>
              <a:tr h="262827">
                <a:tc>
                  <a:txBody>
                    <a:bodyPr/>
                    <a:lstStyle/>
                    <a:p>
                      <a:r>
                        <a:rPr lang="en-RO" sz="1200"/>
                        <a:t>24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Relocation table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The (absolute) offset to the relocation table.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25091188"/>
                  </a:ext>
                </a:extLst>
              </a:tr>
              <a:tr h="423195">
                <a:tc>
                  <a:txBody>
                    <a:bodyPr/>
                    <a:lstStyle/>
                    <a:p>
                      <a:r>
                        <a:rPr lang="en-RO" sz="1200"/>
                        <a:t>26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Overlay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word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Value used for overlay management. If zero, this is the main executable.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2756077098"/>
                  </a:ext>
                </a:extLst>
              </a:tr>
              <a:tr h="503380">
                <a:tc>
                  <a:txBody>
                    <a:bodyPr/>
                    <a:lstStyle/>
                    <a:p>
                      <a:r>
                        <a:rPr lang="en-RO" sz="1200"/>
                        <a:t>28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Overlay information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N/A </a:t>
                      </a:r>
                    </a:p>
                  </a:txBody>
                  <a:tcPr marL="11137" marR="11137" marT="11137" marB="11137"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Files sometimes contain extra information for the main's program overlay management. </a:t>
                      </a:r>
                    </a:p>
                  </a:txBody>
                  <a:tcPr marL="11137" marR="11137" marT="11137" marB="11137" anchor="ctr"/>
                </a:tc>
                <a:extLst>
                  <a:ext uri="{0D108BD9-81ED-4DB2-BD59-A6C34878D82A}">
                    <a16:rowId xmlns:a16="http://schemas.microsoft.com/office/drawing/2014/main" val="325001353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C63B8-B82C-8546-B8FB-04F06BB0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16367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F74B-147B-594D-8285-066B705D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677C2-AEED-8C4E-B13F-7D3DE820F6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EXE (PE)</a:t>
            </a:r>
          </a:p>
          <a:p>
            <a:pPr lvl="1"/>
            <a:r>
              <a:rPr lang="en-US" dirty="0"/>
              <a:t>Portable Executable</a:t>
            </a:r>
          </a:p>
          <a:p>
            <a:endParaRPr lang="en-US" dirty="0"/>
          </a:p>
          <a:p>
            <a:r>
              <a:rPr lang="en-US" dirty="0"/>
              <a:t>EXE (PE+)</a:t>
            </a:r>
          </a:p>
          <a:p>
            <a:pPr lvl="1"/>
            <a:r>
              <a:rPr lang="en-US" dirty="0"/>
              <a:t>64 </a:t>
            </a:r>
            <a:r>
              <a:rPr lang="en-US" dirty="0" err="1"/>
              <a:t>biți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591639-98FC-CC40-84FF-BFAAE3B6B1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133600"/>
            <a:ext cx="3032919" cy="303291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D1DAD-AA1F-ED41-B9E1-B385313C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37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B578-E2DB-F849-A432-F48649CD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86536-D4FD-5B4F-B21F-F201B95B85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 dirty="0"/>
              <a:t>Inspirat din COFF (</a:t>
            </a:r>
            <a:r>
              <a:rPr lang="ro-RO" dirty="0" err="1"/>
              <a:t>a.out</a:t>
            </a:r>
            <a:r>
              <a:rPr lang="ro-RO" dirty="0"/>
              <a:t>)</a:t>
            </a:r>
          </a:p>
          <a:p>
            <a:r>
              <a:rPr lang="ro-RO" dirty="0"/>
              <a:t>Parțial relocabil</a:t>
            </a:r>
          </a:p>
          <a:p>
            <a:pPr lvl="1"/>
            <a:r>
              <a:rPr lang="ro-RO" dirty="0"/>
              <a:t>după relocare nu se mai poate partaja cod</a:t>
            </a:r>
          </a:p>
          <a:p>
            <a:pPr lvl="1"/>
            <a:r>
              <a:rPr lang="ro-RO" dirty="0"/>
              <a:t>penalizare la pornire</a:t>
            </a:r>
          </a:p>
          <a:p>
            <a:r>
              <a:rPr lang="ro-RO" dirty="0"/>
              <a:t>Fiecare biblioteca are o adresă preferată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BE957-A151-D948-A0D5-2C9AD6FC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13</a:t>
            </a:fld>
            <a:endParaRPr lang="ro-RO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8D8C7C0-44B8-7645-A47E-9B6CF32E0C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143000"/>
            <a:ext cx="1593288" cy="5093508"/>
          </a:xfrm>
        </p:spPr>
      </p:pic>
    </p:spTree>
    <p:extLst>
      <p:ext uri="{BB962C8B-B14F-4D97-AF65-F5344CB8AC3E}">
        <p14:creationId xmlns:p14="http://schemas.microsoft.com/office/powerpoint/2010/main" val="3654625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40527-6EC1-6B4B-A021-45EE3C77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D711833-DFF8-6148-9A95-B41E74164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838200"/>
            <a:ext cx="4648200" cy="657121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86D29-5D12-3A49-9460-36FB1DA6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74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47EF-3A8D-254F-9090-4EB217B4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98898-B602-8941-8CB0-C2738D9F4C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ELF</a:t>
            </a:r>
          </a:p>
          <a:p>
            <a:pPr lvl="1"/>
            <a:r>
              <a:rPr lang="en-US" dirty="0"/>
              <a:t>Executable and Linkable Format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2EBAE-AC12-BF47-A539-E3EF95A1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1C13CB1-6A06-B841-A356-A7187D125A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693" y="1600200"/>
            <a:ext cx="3881614" cy="4525963"/>
          </a:xfrm>
        </p:spPr>
      </p:pic>
    </p:spTree>
    <p:extLst>
      <p:ext uri="{BB962C8B-B14F-4D97-AF65-F5344CB8AC3E}">
        <p14:creationId xmlns:p14="http://schemas.microsoft.com/office/powerpoint/2010/main" val="1575105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862D-5FB6-AB45-9E65-AAA87B96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ELF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D8463FF-8F22-F34D-B4CA-D26B92505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9797" y="1600200"/>
            <a:ext cx="4084405" cy="452596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E9401-ACA0-8542-9A03-9F8C72D2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875B2C-23CD-5F4A-A889-226B00975362}"/>
              </a:ext>
            </a:extLst>
          </p:cNvPr>
          <p:cNvSpPr txBox="1"/>
          <p:nvPr/>
        </p:nvSpPr>
        <p:spPr>
          <a:xfrm>
            <a:off x="4114800" y="297469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072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9580B-128F-4F46-B22C-B7B44E67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38B215-167E-3E4C-8662-B461FF864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8034" y="13890"/>
            <a:ext cx="9680067" cy="684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67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8AE2E2-E5EA-9C4C-A71F-E73DC3A9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Relocarea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185782-7044-A446-9406-FEF9AA930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36" y="2125265"/>
            <a:ext cx="8242967" cy="2607469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4D551-9A9B-4F45-9C73-E239ACD3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52557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344F-D32F-564A-B523-C77A24F80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 independent de </a:t>
            </a:r>
            <a:r>
              <a:rPr lang="en-US" dirty="0" err="1"/>
              <a:t>poziție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42FF2-CD9E-104A-8118-2199C1446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Global Offset Table</a:t>
            </a:r>
          </a:p>
          <a:p>
            <a:pPr lvl="1"/>
            <a:r>
              <a:rPr lang="en-US" dirty="0" err="1"/>
              <a:t>secțiunea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GOT</a:t>
            </a:r>
          </a:p>
          <a:p>
            <a:r>
              <a:rPr lang="en-US" dirty="0"/>
              <a:t>Procedure Linkage Table</a:t>
            </a:r>
          </a:p>
          <a:p>
            <a:pPr lvl="1"/>
            <a:r>
              <a:rPr lang="en-US" dirty="0"/>
              <a:t>PLT</a:t>
            </a:r>
          </a:p>
          <a:p>
            <a:r>
              <a:rPr lang="en-US" dirty="0"/>
              <a:t>.</a:t>
            </a:r>
            <a:r>
              <a:rPr lang="en-US" dirty="0" err="1"/>
              <a:t>plt.got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568F0-0E95-2D4B-9F8E-64F383A1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6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3861-8EE2-F443-85A3-10F05B41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Global Offset Table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A7B6FC-35AE-6441-92B8-1D84FD37D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600200"/>
            <a:ext cx="3098800" cy="450734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D009B-8124-6742-93D7-AC8D5E1F3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1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5F5A-ACA1-884C-9E26-E99AFD807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Procedure Linkage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39B6D-6F11-C147-985B-21ECB27C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6358BDE-27B9-0743-9D39-B750F608B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778366"/>
            <a:ext cx="5020676" cy="3301267"/>
          </a:xfrm>
        </p:spPr>
      </p:pic>
    </p:spTree>
    <p:extLst>
      <p:ext uri="{BB962C8B-B14F-4D97-AF65-F5344CB8AC3E}">
        <p14:creationId xmlns:p14="http://schemas.microsoft.com/office/powerpoint/2010/main" val="1899713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5F5A-ACA1-884C-9E26-E99AFD807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Procedure Linkage Table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355CDD-80E3-E744-8070-81446ADB9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0" y="1752600"/>
            <a:ext cx="4343400" cy="366337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39B6D-6F11-C147-985B-21ECB27C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18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BCA5-5F35-B44D-B0E1-63CEC6C7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0B62-E0B8-0F49-A5F4-61282EC1C1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Mach-O</a:t>
            </a:r>
          </a:p>
          <a:p>
            <a:pPr lvl="1"/>
            <a:r>
              <a:rPr lang="en-US" dirty="0"/>
              <a:t>BSD UNIX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ECC5B19-1287-D24E-9F11-CD88A18E01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400" y="2434431"/>
            <a:ext cx="2108200" cy="28575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4F938-1FA1-784A-A7BB-830FFF8F0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49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A18E4-AAD6-3947-875A-0804EB30B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419226-96B6-D94E-94A8-E96EFB6D2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89" y="0"/>
            <a:ext cx="7368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66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o-RO" dirty="0" err="1"/>
              <a:t>Linkeditare</a:t>
            </a:r>
            <a:endParaRPr lang="ro-RO" dirty="0"/>
          </a:p>
          <a:p>
            <a:r>
              <a:rPr lang="ro-RO" dirty="0"/>
              <a:t>Executabil Static</a:t>
            </a:r>
          </a:p>
          <a:p>
            <a:r>
              <a:rPr lang="ro-RO" dirty="0"/>
              <a:t>Executabil Dinamic</a:t>
            </a:r>
          </a:p>
          <a:p>
            <a:r>
              <a:rPr lang="ro-RO" dirty="0"/>
              <a:t>Fișier COM</a:t>
            </a:r>
          </a:p>
          <a:p>
            <a:r>
              <a:rPr lang="ro-RO" dirty="0"/>
              <a:t>Fișier EXE (MZ)</a:t>
            </a:r>
          </a:p>
          <a:p>
            <a:r>
              <a:rPr lang="ro-RO" dirty="0"/>
              <a:t>Fișier EXE (PE)</a:t>
            </a:r>
          </a:p>
          <a:p>
            <a:r>
              <a:rPr lang="ro-RO" dirty="0"/>
              <a:t>Fișier ELF</a:t>
            </a:r>
          </a:p>
          <a:p>
            <a:r>
              <a:rPr lang="ro-RO" dirty="0"/>
              <a:t>Fișier Mach-O</a:t>
            </a:r>
          </a:p>
          <a:p>
            <a:endParaRPr lang="ro-RO" dirty="0"/>
          </a:p>
          <a:p>
            <a:endParaRPr lang="ro-RO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o-RO" dirty="0"/>
              <a:t>Relocare</a:t>
            </a:r>
          </a:p>
          <a:p>
            <a:r>
              <a:rPr lang="ro-RO" dirty="0"/>
              <a:t>GOT</a:t>
            </a:r>
          </a:p>
          <a:p>
            <a:r>
              <a:rPr lang="ro-RO" dirty="0"/>
              <a:t>PLT</a:t>
            </a:r>
          </a:p>
          <a:p>
            <a:endParaRPr lang="ro-RO" dirty="0"/>
          </a:p>
          <a:p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18301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428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14031</TotalTime>
  <Words>589</Words>
  <Application>Microsoft Macintosh PowerPoint</Application>
  <PresentationFormat>On-screen Show (4:3)</PresentationFormat>
  <Paragraphs>209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Work Sans Medium</vt:lpstr>
      <vt:lpstr>Office Theme</vt:lpstr>
      <vt:lpstr>Sisteme de operare</vt:lpstr>
      <vt:lpstr>Cuprins</vt:lpstr>
      <vt:lpstr>Bibliografie</vt:lpstr>
      <vt:lpstr>Compilarea</vt:lpstr>
      <vt:lpstr>Compilarea</vt:lpstr>
      <vt:lpstr>Link</vt:lpstr>
      <vt:lpstr>Linkeditare statică vs dinamică</vt:lpstr>
      <vt:lpstr>Relocare</vt:lpstr>
      <vt:lpstr>MS-DOS</vt:lpstr>
      <vt:lpstr>COM</vt:lpstr>
      <vt:lpstr>EXE (MZ)</vt:lpstr>
      <vt:lpstr>Windows</vt:lpstr>
      <vt:lpstr>PE</vt:lpstr>
      <vt:lpstr>PE</vt:lpstr>
      <vt:lpstr>Linux</vt:lpstr>
      <vt:lpstr>ELF</vt:lpstr>
      <vt:lpstr>PowerPoint Presentation</vt:lpstr>
      <vt:lpstr>Relocarea</vt:lpstr>
      <vt:lpstr>Cod independent de poziție</vt:lpstr>
      <vt:lpstr>Global Offset Table</vt:lpstr>
      <vt:lpstr>Procedure Linkage Table</vt:lpstr>
      <vt:lpstr>Procedure Linkage Table</vt:lpstr>
      <vt:lpstr>Mac OS</vt:lpstr>
      <vt:lpstr>PowerPoint Presentation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1320</cp:revision>
  <dcterms:created xsi:type="dcterms:W3CDTF">2010-02-23T11:53:40Z</dcterms:created>
  <dcterms:modified xsi:type="dcterms:W3CDTF">2022-04-12T12:56:52Z</dcterms:modified>
</cp:coreProperties>
</file>