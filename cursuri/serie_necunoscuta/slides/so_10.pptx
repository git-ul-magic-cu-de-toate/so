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7" r:id="rId2"/>
    <p:sldId id="403" r:id="rId3"/>
    <p:sldId id="466" r:id="rId4"/>
    <p:sldId id="623" r:id="rId5"/>
    <p:sldId id="631" r:id="rId6"/>
    <p:sldId id="569" r:id="rId7"/>
    <p:sldId id="570" r:id="rId8"/>
    <p:sldId id="571" r:id="rId9"/>
    <p:sldId id="572" r:id="rId10"/>
    <p:sldId id="573" r:id="rId11"/>
    <p:sldId id="574" r:id="rId12"/>
    <p:sldId id="575" r:id="rId13"/>
    <p:sldId id="576" r:id="rId14"/>
    <p:sldId id="577" r:id="rId15"/>
    <p:sldId id="578" r:id="rId16"/>
    <p:sldId id="585" r:id="rId17"/>
    <p:sldId id="584" r:id="rId18"/>
    <p:sldId id="586" r:id="rId19"/>
    <p:sldId id="622" r:id="rId20"/>
    <p:sldId id="579" r:id="rId21"/>
    <p:sldId id="580" r:id="rId22"/>
    <p:sldId id="581" r:id="rId23"/>
    <p:sldId id="582" r:id="rId24"/>
    <p:sldId id="587" r:id="rId25"/>
    <p:sldId id="583" r:id="rId26"/>
    <p:sldId id="600" r:id="rId27"/>
    <p:sldId id="601" r:id="rId28"/>
    <p:sldId id="602" r:id="rId29"/>
    <p:sldId id="603" r:id="rId30"/>
    <p:sldId id="604" r:id="rId31"/>
    <p:sldId id="605" r:id="rId32"/>
    <p:sldId id="615" r:id="rId33"/>
    <p:sldId id="608" r:id="rId34"/>
    <p:sldId id="590" r:id="rId35"/>
    <p:sldId id="588" r:id="rId36"/>
    <p:sldId id="589" r:id="rId37"/>
    <p:sldId id="281" r:id="rId38"/>
    <p:sldId id="592" r:id="rId39"/>
    <p:sldId id="593" r:id="rId40"/>
    <p:sldId id="594" r:id="rId41"/>
    <p:sldId id="596" r:id="rId42"/>
    <p:sldId id="599" r:id="rId43"/>
    <p:sldId id="595" r:id="rId44"/>
    <p:sldId id="597" r:id="rId45"/>
    <p:sldId id="598" r:id="rId46"/>
    <p:sldId id="606" r:id="rId47"/>
    <p:sldId id="607" r:id="rId48"/>
    <p:sldId id="609" r:id="rId49"/>
    <p:sldId id="610" r:id="rId50"/>
    <p:sldId id="611" r:id="rId51"/>
    <p:sldId id="616" r:id="rId52"/>
    <p:sldId id="612" r:id="rId53"/>
    <p:sldId id="613" r:id="rId54"/>
    <p:sldId id="614" r:id="rId55"/>
    <p:sldId id="617" r:id="rId56"/>
    <p:sldId id="618" r:id="rId57"/>
    <p:sldId id="619" r:id="rId58"/>
    <p:sldId id="620" r:id="rId59"/>
    <p:sldId id="624" r:id="rId60"/>
    <p:sldId id="621" r:id="rId61"/>
    <p:sldId id="625" r:id="rId62"/>
    <p:sldId id="626" r:id="rId63"/>
    <p:sldId id="627" r:id="rId64"/>
    <p:sldId id="628" r:id="rId65"/>
    <p:sldId id="629" r:id="rId66"/>
    <p:sldId id="630" r:id="rId67"/>
    <p:sldId id="483" r:id="rId68"/>
    <p:sldId id="267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34" autoAdjust="0"/>
    <p:restoredTop sz="85082" autoAdjust="0"/>
  </p:normalViewPr>
  <p:slideViewPr>
    <p:cSldViewPr>
      <p:cViewPr varScale="1">
        <p:scale>
          <a:sx n="108" d="100"/>
          <a:sy n="108" d="100"/>
        </p:scale>
        <p:origin x="208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5/10/22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5/10/22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468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35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8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336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7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43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017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10.05.2022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10.05.2022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10.05.2022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10.05.2022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10.05.2022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10.05.2022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10.05.2022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10.05.2022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10.05.2022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10.05.2022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10.05.2022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10.05.2022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Sincronizare</a:t>
            </a:r>
          </a:p>
        </p:txBody>
      </p:sp>
      <p:pic>
        <p:nvPicPr>
          <p:cNvPr id="11" name="Picture Placeholder 4">
            <a:extLst>
              <a:ext uri="{FF2B5EF4-FFF2-40B4-BE49-F238E27FC236}">
                <a16:creationId xmlns:a16="http://schemas.microsoft.com/office/drawing/2014/main" id="{AED628B3-2EF3-4141-8AAF-9C1297B95C3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  <p:extLst>
      <p:ext uri="{BB962C8B-B14F-4D97-AF65-F5344CB8AC3E}">
        <p14:creationId xmlns:p14="http://schemas.microsoft.com/office/powerpoint/2010/main" val="150517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 dirty="0"/>
              <a:t>cursa</a:t>
            </a:r>
          </a:p>
          <a:p>
            <a:r>
              <a:rPr lang="ro-RO" dirty="0"/>
              <a:t>zona critică</a:t>
            </a:r>
          </a:p>
          <a:p>
            <a:r>
              <a:rPr lang="ro-RO" dirty="0"/>
              <a:t>acțiuni atomice</a:t>
            </a:r>
          </a:p>
          <a:p>
            <a:r>
              <a:rPr lang="ro-RO" dirty="0" err="1"/>
              <a:t>busy</a:t>
            </a:r>
            <a:r>
              <a:rPr lang="ro-RO" dirty="0"/>
              <a:t> </a:t>
            </a:r>
            <a:r>
              <a:rPr lang="ro-RO" dirty="0" err="1"/>
              <a:t>waiting</a:t>
            </a:r>
            <a:endParaRPr lang="ro-RO" dirty="0"/>
          </a:p>
          <a:p>
            <a:r>
              <a:rPr lang="ro-RO" dirty="0"/>
              <a:t>semafor</a:t>
            </a:r>
          </a:p>
          <a:p>
            <a:r>
              <a:rPr lang="ro-RO" dirty="0" err="1"/>
              <a:t>mutex</a:t>
            </a:r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031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/>
              <a:t>Modern Operating Systems</a:t>
            </a:r>
          </a:p>
          <a:p>
            <a:pPr lvl="1"/>
            <a:r>
              <a:rPr lang="ro-RO"/>
              <a:t>Capitolul 4</a:t>
            </a:r>
          </a:p>
          <a:p>
            <a:pPr lvl="2"/>
            <a:r>
              <a:rPr lang="ro-RO"/>
              <a:t>4.4</a:t>
            </a:r>
          </a:p>
          <a:p>
            <a:pPr lvl="2"/>
            <a:r>
              <a:rPr lang="ro-RO"/>
              <a:t>4.5</a:t>
            </a:r>
          </a:p>
          <a:p>
            <a:pPr lvl="2"/>
            <a:r>
              <a:rPr lang="ro-RO"/>
              <a:t>4.6</a:t>
            </a:r>
          </a:p>
          <a:p>
            <a:r>
              <a:rPr lang="ro-RO"/>
              <a:t>Operating Systems Concepts</a:t>
            </a:r>
          </a:p>
          <a:p>
            <a:pPr lvl="1"/>
            <a:r>
              <a:rPr lang="ro-RO"/>
              <a:t>Capitolul 9</a:t>
            </a:r>
          </a:p>
          <a:p>
            <a:pPr lvl="2"/>
            <a:r>
              <a:rPr lang="ro-RO"/>
              <a:t>9.1 – 9.4</a:t>
            </a:r>
          </a:p>
          <a:p>
            <a:pPr lvl="2"/>
            <a:r>
              <a:rPr lang="ro-RO"/>
              <a:t>9.6</a:t>
            </a:r>
          </a:p>
          <a:p>
            <a:pPr lvl="2"/>
            <a:r>
              <a:rPr lang="ro-RO"/>
              <a:t>9.7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08017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5AD4-3716-6345-8D50-E7DAA381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Sincronizare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938D7-E063-F94B-9487-F1E5DAA55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m-CH"/>
              <a:t>Asigurarea accesului corect la date</a:t>
            </a:r>
          </a:p>
          <a:p>
            <a:pPr lvl="1"/>
            <a:r>
              <a:rPr lang="rm-CH"/>
              <a:t>date integre </a:t>
            </a:r>
          </a:p>
          <a:p>
            <a:pPr lvl="1"/>
            <a:r>
              <a:rPr lang="rm-CH"/>
              <a:t>determinism </a:t>
            </a:r>
          </a:p>
          <a:p>
            <a:pPr marL="457200" lvl="1" indent="0">
              <a:buNone/>
            </a:pPr>
            <a:endParaRPr lang="rm-CH"/>
          </a:p>
          <a:p>
            <a:r>
              <a:rPr lang="rm-CH"/>
              <a:t>Acces exclusiv / serializare / atomizare </a:t>
            </a:r>
          </a:p>
          <a:p>
            <a:pPr lvl="1"/>
            <a:r>
              <a:rPr lang="rm-CH"/>
              <a:t>regiune critică</a:t>
            </a:r>
          </a:p>
          <a:p>
            <a:pPr lvl="1"/>
            <a:endParaRPr lang="rm-CH"/>
          </a:p>
          <a:p>
            <a:r>
              <a:rPr lang="rm-CH"/>
              <a:t>Secvențiere / ordonare </a:t>
            </a:r>
          </a:p>
          <a:p>
            <a:pPr lvl="1"/>
            <a:r>
              <a:rPr lang="rm-CH"/>
              <a:t>read after write</a:t>
            </a:r>
          </a:p>
          <a:p>
            <a:pPr lvl="1"/>
            <a:r>
              <a:rPr lang="rm-CH"/>
              <a:t>write after write</a:t>
            </a:r>
          </a:p>
          <a:p>
            <a:pPr lvl="1"/>
            <a:r>
              <a:rPr lang="rm-CH"/>
              <a:t>use after create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05EE-E130-B245-AC78-FCA3D51E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4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326242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B892-0504-A84D-BFA3-6BEDEA2C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Primitive de sincronizare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E098-ACEA-B24D-9696-9567EFE6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Ordonare </a:t>
            </a:r>
          </a:p>
          <a:p>
            <a:pPr lvl="1"/>
            <a:r>
              <a:rPr lang="ro-RO"/>
              <a:t>wait</a:t>
            </a:r>
          </a:p>
          <a:p>
            <a:pPr lvl="1"/>
            <a:r>
              <a:rPr lang="ro-RO"/>
              <a:t>notify </a:t>
            </a:r>
          </a:p>
          <a:p>
            <a:pPr lvl="1"/>
            <a:endParaRPr lang="ro-RO"/>
          </a:p>
          <a:p>
            <a:r>
              <a:rPr lang="ro-RO"/>
              <a:t>Acces exclusiv </a:t>
            </a:r>
          </a:p>
          <a:p>
            <a:pPr lvl="1"/>
            <a:r>
              <a:rPr lang="ro-RO"/>
              <a:t>lock</a:t>
            </a:r>
          </a:p>
          <a:p>
            <a:pPr lvl="1"/>
            <a:r>
              <a:rPr lang="ro-RO"/>
              <a:t>unlock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6906D-5FCC-5D4F-BF75-D6F794B8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0698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BACA8C-94BB-254A-B031-B6F39280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Cursa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6FFB70-C609-5D4C-B192-928ABDA10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93724-8C8E-C144-AC92-D515836D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63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Cursa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shared variable a</a:t>
            </a:r>
          </a:p>
          <a:p>
            <a:pPr marL="0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shared variable a</a:t>
            </a:r>
          </a:p>
          <a:p>
            <a:pPr marL="0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7</a:t>
            </a:fld>
            <a:endParaRPr lang="ro-R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Proces 2</a:t>
            </a:r>
          </a:p>
        </p:txBody>
      </p:sp>
    </p:spTree>
    <p:extLst>
      <p:ext uri="{BB962C8B-B14F-4D97-AF65-F5344CB8AC3E}">
        <p14:creationId xmlns:p14="http://schemas.microsoft.com/office/powerpoint/2010/main" val="2390133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Cursa – varianta secvențială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b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</a:t>
            </a:r>
          </a:p>
          <a:p>
            <a:pPr marL="0" indent="0">
              <a:buNone/>
            </a:pPr>
            <a:endParaRPr lang="ro-RO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b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8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11AD9-9513-7C47-BC44-5CA3FAE987B9}"/>
              </a:ext>
            </a:extLst>
          </p:cNvPr>
          <p:cNvCxnSpPr/>
          <p:nvPr/>
        </p:nvCxnSpPr>
        <p:spPr>
          <a:xfrm>
            <a:off x="457201" y="4114800"/>
            <a:ext cx="83057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8ABBF0-BFE7-6B48-9B91-D58A7EEEA544}"/>
              </a:ext>
            </a:extLst>
          </p:cNvPr>
          <p:cNvSpPr txBox="1"/>
          <p:nvPr/>
        </p:nvSpPr>
        <p:spPr>
          <a:xfrm>
            <a:off x="2209800" y="5910719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9193E2-6DB2-0C42-BDA5-064F50A257C0}"/>
              </a:ext>
            </a:extLst>
          </p:cNvPr>
          <p:cNvSpPr txBox="1"/>
          <p:nvPr/>
        </p:nvSpPr>
        <p:spPr>
          <a:xfrm>
            <a:off x="5753930" y="5863598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4919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Cursa – varianta intercalată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	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b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	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b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9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C1EB2E-DF17-3342-BBDE-C77603BC2BA1}"/>
              </a:ext>
            </a:extLst>
          </p:cNvPr>
          <p:cNvCxnSpPr/>
          <p:nvPr/>
        </p:nvCxnSpPr>
        <p:spPr>
          <a:xfrm>
            <a:off x="457201" y="32004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54E8B7-B7E4-7144-88CB-CC46370DD619}"/>
              </a:ext>
            </a:extLst>
          </p:cNvPr>
          <p:cNvCxnSpPr/>
          <p:nvPr/>
        </p:nvCxnSpPr>
        <p:spPr>
          <a:xfrm>
            <a:off x="457201" y="37338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E214CD-B6B4-7E4B-B1ED-BDBFCAC1BB27}"/>
              </a:ext>
            </a:extLst>
          </p:cNvPr>
          <p:cNvCxnSpPr/>
          <p:nvPr/>
        </p:nvCxnSpPr>
        <p:spPr>
          <a:xfrm>
            <a:off x="457201" y="42672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AE7237-1B13-C349-B417-08D7D290486B}"/>
              </a:ext>
            </a:extLst>
          </p:cNvPr>
          <p:cNvCxnSpPr/>
          <p:nvPr/>
        </p:nvCxnSpPr>
        <p:spPr>
          <a:xfrm>
            <a:off x="458789" y="48768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AB878C-0F01-CE41-A41E-5BF4ADF7C6C2}"/>
              </a:ext>
            </a:extLst>
          </p:cNvPr>
          <p:cNvCxnSpPr/>
          <p:nvPr/>
        </p:nvCxnSpPr>
        <p:spPr>
          <a:xfrm>
            <a:off x="458789" y="56388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8D7BD6-BB1C-C346-A9B1-9D3EE9430A5A}"/>
              </a:ext>
            </a:extLst>
          </p:cNvPr>
          <p:cNvSpPr txBox="1"/>
          <p:nvPr/>
        </p:nvSpPr>
        <p:spPr>
          <a:xfrm>
            <a:off x="2247070" y="596197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256C79-9A47-A84C-92C1-678AD561C6EC}"/>
              </a:ext>
            </a:extLst>
          </p:cNvPr>
          <p:cNvSpPr txBox="1"/>
          <p:nvPr/>
        </p:nvSpPr>
        <p:spPr>
          <a:xfrm>
            <a:off x="5791200" y="591485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2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E8E448-F58C-EA4E-8009-C97F573F457B}"/>
              </a:ext>
            </a:extLst>
          </p:cNvPr>
          <p:cNvCxnSpPr/>
          <p:nvPr/>
        </p:nvCxnSpPr>
        <p:spPr>
          <a:xfrm>
            <a:off x="458789" y="52578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37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Cursa – varianta corectă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	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b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 {	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	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b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10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C1EB2E-DF17-3342-BBDE-C77603BC2BA1}"/>
              </a:ext>
            </a:extLst>
          </p:cNvPr>
          <p:cNvCxnSpPr/>
          <p:nvPr/>
        </p:nvCxnSpPr>
        <p:spPr>
          <a:xfrm>
            <a:off x="457201" y="28956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54E8B7-B7E4-7144-88CB-CC46370DD619}"/>
              </a:ext>
            </a:extLst>
          </p:cNvPr>
          <p:cNvCxnSpPr/>
          <p:nvPr/>
        </p:nvCxnSpPr>
        <p:spPr>
          <a:xfrm>
            <a:off x="457201" y="32004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E214CD-B6B4-7E4B-B1ED-BDBFCAC1BB27}"/>
              </a:ext>
            </a:extLst>
          </p:cNvPr>
          <p:cNvCxnSpPr/>
          <p:nvPr/>
        </p:nvCxnSpPr>
        <p:spPr>
          <a:xfrm>
            <a:off x="458789" y="39624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AE7237-1B13-C349-B417-08D7D290486B}"/>
              </a:ext>
            </a:extLst>
          </p:cNvPr>
          <p:cNvCxnSpPr/>
          <p:nvPr/>
        </p:nvCxnSpPr>
        <p:spPr>
          <a:xfrm>
            <a:off x="457201" y="47244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AB878C-0F01-CE41-A41E-5BF4ADF7C6C2}"/>
              </a:ext>
            </a:extLst>
          </p:cNvPr>
          <p:cNvCxnSpPr/>
          <p:nvPr/>
        </p:nvCxnSpPr>
        <p:spPr>
          <a:xfrm>
            <a:off x="458789" y="51816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DB06F3-421A-4D48-904B-E4A215AF5D42}"/>
              </a:ext>
            </a:extLst>
          </p:cNvPr>
          <p:cNvCxnSpPr/>
          <p:nvPr/>
        </p:nvCxnSpPr>
        <p:spPr>
          <a:xfrm>
            <a:off x="458789" y="5638800"/>
            <a:ext cx="8077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E6F30DB-A94C-814B-A4B9-1D49A68F7B25}"/>
              </a:ext>
            </a:extLst>
          </p:cNvPr>
          <p:cNvSpPr/>
          <p:nvPr/>
        </p:nvSpPr>
        <p:spPr>
          <a:xfrm>
            <a:off x="381000" y="3200400"/>
            <a:ext cx="76201" cy="762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8908FC-BF20-3743-8F57-48482A721BE3}"/>
              </a:ext>
            </a:extLst>
          </p:cNvPr>
          <p:cNvSpPr/>
          <p:nvPr/>
        </p:nvSpPr>
        <p:spPr>
          <a:xfrm>
            <a:off x="4585534" y="3962400"/>
            <a:ext cx="76201" cy="762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B15667-D3D0-8948-8CAA-940AB040DD1D}"/>
              </a:ext>
            </a:extLst>
          </p:cNvPr>
          <p:cNvSpPr/>
          <p:nvPr/>
        </p:nvSpPr>
        <p:spPr>
          <a:xfrm>
            <a:off x="2021154" y="5869325"/>
            <a:ext cx="76201" cy="762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7C5D7-09D4-BC45-8B42-5BD4A0321196}"/>
              </a:ext>
            </a:extLst>
          </p:cNvPr>
          <p:cNvSpPr txBox="1"/>
          <p:nvPr/>
        </p:nvSpPr>
        <p:spPr>
          <a:xfrm>
            <a:off x="2345570" y="6032956"/>
            <a:ext cx="147611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zona critică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02BFCB-818C-F949-A44C-36ADFB5A651C}"/>
              </a:ext>
            </a:extLst>
          </p:cNvPr>
          <p:cNvSpPr txBox="1"/>
          <p:nvPr/>
        </p:nvSpPr>
        <p:spPr>
          <a:xfrm>
            <a:off x="2308142" y="564826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032BB1-E1E5-844A-B149-186744A990B5}"/>
              </a:ext>
            </a:extLst>
          </p:cNvPr>
          <p:cNvSpPr txBox="1"/>
          <p:nvPr/>
        </p:nvSpPr>
        <p:spPr>
          <a:xfrm>
            <a:off x="5852272" y="560114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029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18" grpId="0" animBg="1"/>
      <p:bldP spid="8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57FE4-2778-7144-9250-D55465C36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Zona critică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2BB1CE0-B107-1B43-BB46-B98CF6DBA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o parte de cod care trebuie executată singură</a:t>
            </a:r>
          </a:p>
          <a:p>
            <a:pPr lvl="1"/>
            <a:r>
              <a:rPr lang="ro-RO" dirty="0"/>
              <a:t>accesul la variabile (resurse) trebuie să se execute singur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D8B6F-1799-F443-94C2-F0F13D00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11</a:t>
            </a:fld>
            <a:endParaRPr lang="ro-RO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C4476D-BD2A-884F-B896-37A216C78FF3}"/>
              </a:ext>
            </a:extLst>
          </p:cNvPr>
          <p:cNvSpPr/>
          <p:nvPr/>
        </p:nvSpPr>
        <p:spPr>
          <a:xfrm>
            <a:off x="2057400" y="3733800"/>
            <a:ext cx="2438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	a++;</a:t>
            </a:r>
          </a:p>
          <a:p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547BC7-9D7C-9B46-A022-99ACB80B310D}"/>
              </a:ext>
            </a:extLst>
          </p:cNvPr>
          <p:cNvSpPr/>
          <p:nvPr/>
        </p:nvSpPr>
        <p:spPr>
          <a:xfrm>
            <a:off x="1752601" y="3753090"/>
            <a:ext cx="76200" cy="9233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4E8E38-37F4-D14F-A6BF-E143A939F848}"/>
              </a:ext>
            </a:extLst>
          </p:cNvPr>
          <p:cNvSpPr/>
          <p:nvPr/>
        </p:nvSpPr>
        <p:spPr>
          <a:xfrm>
            <a:off x="5486400" y="4657130"/>
            <a:ext cx="2438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	a--;</a:t>
            </a:r>
          </a:p>
          <a:p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A44511-C484-954C-A4A0-03856A636553}"/>
              </a:ext>
            </a:extLst>
          </p:cNvPr>
          <p:cNvSpPr/>
          <p:nvPr/>
        </p:nvSpPr>
        <p:spPr>
          <a:xfrm>
            <a:off x="5181601" y="4676420"/>
            <a:ext cx="76200" cy="9233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CA3C29-877B-404E-B4B9-25C2A499144A}"/>
              </a:ext>
            </a:extLst>
          </p:cNvPr>
          <p:cNvSpPr txBox="1"/>
          <p:nvPr/>
        </p:nvSpPr>
        <p:spPr>
          <a:xfrm>
            <a:off x="2514600" y="6126164"/>
            <a:ext cx="3322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Motivul este accesul la variabila </a:t>
            </a:r>
            <a:r>
              <a:rPr lang="ro-RO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7690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 animBg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6BEF-781F-B24F-9F2B-C9957E81D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Acțiuni atomice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7C2BD-FBFB-E34E-A990-ABE4F4B9F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382000" cy="4525963"/>
          </a:xfrm>
        </p:spPr>
        <p:txBody>
          <a:bodyPr>
            <a:normAutofit/>
          </a:bodyPr>
          <a:lstStyle/>
          <a:p>
            <a:r>
              <a:rPr lang="ro-RO"/>
              <a:t>O acțiune care se execută fără întreruperi</a:t>
            </a:r>
          </a:p>
          <a:p>
            <a:pPr lvl="1"/>
            <a:endParaRPr lang="ro-RO"/>
          </a:p>
          <a:p>
            <a:r>
              <a:rPr lang="ro-RO"/>
              <a:t>Întreruperi posibile</a:t>
            </a:r>
          </a:p>
          <a:p>
            <a:pPr lvl="1"/>
            <a:r>
              <a:rPr lang="ro-RO"/>
              <a:t>întrerupere sau excepție</a:t>
            </a:r>
          </a:p>
          <a:p>
            <a:pPr lvl="1"/>
            <a:r>
              <a:rPr lang="ro-RO"/>
              <a:t>semnal</a:t>
            </a:r>
          </a:p>
          <a:p>
            <a:pPr lvl="1"/>
            <a:r>
              <a:rPr lang="ro-RO"/>
              <a:t>schimbare de context</a:t>
            </a:r>
          </a:p>
          <a:p>
            <a:endParaRPr lang="ro-RO"/>
          </a:p>
          <a:p>
            <a:r>
              <a:rPr lang="ro-RO"/>
              <a:t>Instrucțiunile CPU sunt atomice (in single core)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3F2BA-AD8C-E549-B0D9-124B05E0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69769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7BEF-99F0-B64B-AD4E-2D517F4D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D2630-3E62-8644-B52B-BDC51A752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491EF-1D83-3C49-BB19-7D318EFB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A82319-0FE2-8C4D-9AEF-DFC8F145862F}"/>
              </a:ext>
            </a:extLst>
          </p:cNvPr>
          <p:cNvSpPr/>
          <p:nvPr/>
        </p:nvSpPr>
        <p:spPr>
          <a:xfrm>
            <a:off x="2037171" y="5042355"/>
            <a:ext cx="513397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sz="2200"/>
              <a:t>Mai multe exemple pe https://godbolt.org/</a:t>
            </a:r>
          </a:p>
        </p:txBody>
      </p:sp>
    </p:spTree>
    <p:extLst>
      <p:ext uri="{BB962C8B-B14F-4D97-AF65-F5344CB8AC3E}">
        <p14:creationId xmlns:p14="http://schemas.microsoft.com/office/powerpoint/2010/main" val="1608343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C63C-2AF4-BF49-A67F-DFA3479CA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– x86-64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29BAE6-BDA3-3949-A0AD-6B1D16B1A4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()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000"/>
          </a:p>
          <a:p>
            <a:endParaRPr lang="ro-RO" sz="20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69E7D-8279-BC49-AC08-9FD4500E1D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; rbp-4 address of variable a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</a:p>
          <a:p>
            <a:pPr marL="0" indent="0">
              <a:buNone/>
            </a:pP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add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5BDA6-A7CE-714A-817D-CA6107582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14</a:t>
            </a:fld>
            <a:endParaRPr lang="ro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11A301-91A3-7949-9CC1-AADFEAF1C971}"/>
              </a:ext>
            </a:extLst>
          </p:cNvPr>
          <p:cNvSpPr/>
          <p:nvPr/>
        </p:nvSpPr>
        <p:spPr>
          <a:xfrm>
            <a:off x="990600" y="2362200"/>
            <a:ext cx="76200" cy="381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77845-6D58-444C-BA2D-4C57D1DB9D9F}"/>
              </a:ext>
            </a:extLst>
          </p:cNvPr>
          <p:cNvSpPr/>
          <p:nvPr/>
        </p:nvSpPr>
        <p:spPr>
          <a:xfrm>
            <a:off x="4582610" y="2310596"/>
            <a:ext cx="76200" cy="381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097EB3-64A1-8A47-A7A0-153CA33D3491}"/>
              </a:ext>
            </a:extLst>
          </p:cNvPr>
          <p:cNvSpPr/>
          <p:nvPr/>
        </p:nvSpPr>
        <p:spPr>
          <a:xfrm>
            <a:off x="990600" y="3112143"/>
            <a:ext cx="76200" cy="381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3178D3-F2EF-5241-B4F2-1ACC568BEB90}"/>
              </a:ext>
            </a:extLst>
          </p:cNvPr>
          <p:cNvSpPr/>
          <p:nvPr/>
        </p:nvSpPr>
        <p:spPr>
          <a:xfrm>
            <a:off x="4582610" y="3048000"/>
            <a:ext cx="76200" cy="381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045B70-2718-634B-9C51-1C56FF7C0664}"/>
              </a:ext>
            </a:extLst>
          </p:cNvPr>
          <p:cNvSpPr txBox="1"/>
          <p:nvPr/>
        </p:nvSpPr>
        <p:spPr>
          <a:xfrm>
            <a:off x="4983730" y="4648200"/>
            <a:ext cx="376866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a++ este atomică pe single </a:t>
            </a:r>
            <a:r>
              <a:rPr lang="ro-RO" sz="2200" dirty="0" err="1"/>
              <a:t>core</a:t>
            </a:r>
            <a:endParaRPr lang="ro-RO" sz="2200" dirty="0"/>
          </a:p>
        </p:txBody>
      </p:sp>
    </p:spTree>
    <p:extLst>
      <p:ext uri="{BB962C8B-B14F-4D97-AF65-F5344CB8AC3E}">
        <p14:creationId xmlns:p14="http://schemas.microsoft.com/office/powerpoint/2010/main" val="2685741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A3952-8944-3A4E-9798-7CB99C18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Exemplu – 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B27C4-9D99-794B-BF05-224110F392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()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000"/>
          </a:p>
          <a:p>
            <a:endParaRPr lang="ro-RO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5B8AA-2D0F-4C48-8F01-0EF6F87CBB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; fp-8 address of variable a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mov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r3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#0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str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r3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[fp, #-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8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]</a:t>
            </a:r>
          </a:p>
          <a:p>
            <a:pPr marL="0" indent="0">
              <a:buNone/>
            </a:pP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ldr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r3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[fp, #-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8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]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add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r3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r3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#1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str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r3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[fp, #-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8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]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AF084-4380-FE4C-BADB-D465BB17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15</a:t>
            </a:fld>
            <a:endParaRPr lang="ro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D4963-1F5E-C841-87FC-6D8051AF57A9}"/>
              </a:ext>
            </a:extLst>
          </p:cNvPr>
          <p:cNvSpPr/>
          <p:nvPr/>
        </p:nvSpPr>
        <p:spPr>
          <a:xfrm>
            <a:off x="990600" y="2362200"/>
            <a:ext cx="76200" cy="381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EE4C3E-7798-3744-A023-73ABE42FA7E6}"/>
              </a:ext>
            </a:extLst>
          </p:cNvPr>
          <p:cNvSpPr/>
          <p:nvPr/>
        </p:nvSpPr>
        <p:spPr>
          <a:xfrm>
            <a:off x="4561390" y="2310596"/>
            <a:ext cx="97420" cy="6858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2BE8EF-1BA1-EC4E-82F1-EDF036CF7349}"/>
              </a:ext>
            </a:extLst>
          </p:cNvPr>
          <p:cNvSpPr/>
          <p:nvPr/>
        </p:nvSpPr>
        <p:spPr>
          <a:xfrm>
            <a:off x="990600" y="3112143"/>
            <a:ext cx="76200" cy="381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9CE0B0-BAD6-0445-909E-F2C08B7D317D}"/>
              </a:ext>
            </a:extLst>
          </p:cNvPr>
          <p:cNvSpPr/>
          <p:nvPr/>
        </p:nvSpPr>
        <p:spPr>
          <a:xfrm>
            <a:off x="4566213" y="3429000"/>
            <a:ext cx="97420" cy="103979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846AA5-C280-E340-B5A7-0B24E1AEA900}"/>
              </a:ext>
            </a:extLst>
          </p:cNvPr>
          <p:cNvSpPr txBox="1"/>
          <p:nvPr/>
        </p:nvSpPr>
        <p:spPr>
          <a:xfrm>
            <a:off x="4876800" y="5251047"/>
            <a:ext cx="24859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/>
              <a:t>a++ nu este atomică</a:t>
            </a:r>
          </a:p>
        </p:txBody>
      </p:sp>
    </p:spTree>
    <p:extLst>
      <p:ext uri="{BB962C8B-B14F-4D97-AF65-F5344CB8AC3E}">
        <p14:creationId xmlns:p14="http://schemas.microsoft.com/office/powerpoint/2010/main" val="3291582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7160-8E3B-1B4C-B032-065B6117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Instrucțiuni pentru sincronizare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E0E7-9E91-0C43-AF40-5B9BAC24D6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(test ==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test =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// do some work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test =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0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0057-89A1-894F-A116-77D3446238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cmp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jne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.L2</a:t>
            </a:r>
          </a:p>
          <a:p>
            <a:pPr marL="0" indent="0">
              <a:buNone/>
            </a:pP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; do some work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.L2: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sz="2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5C300-34FC-5A42-A4D4-EF7EAF33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16</a:t>
            </a:fld>
            <a:endParaRPr lang="ro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03447-48A9-2544-8C1B-3B717CB2AB74}"/>
              </a:ext>
            </a:extLst>
          </p:cNvPr>
          <p:cNvSpPr/>
          <p:nvPr/>
        </p:nvSpPr>
        <p:spPr>
          <a:xfrm>
            <a:off x="4239710" y="1057990"/>
            <a:ext cx="4914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; rbp-4 address of variable test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A3C48-2F2B-1841-B6C7-74664E7334FD}"/>
              </a:ext>
            </a:extLst>
          </p:cNvPr>
          <p:cNvSpPr/>
          <p:nvPr/>
        </p:nvSpPr>
        <p:spPr>
          <a:xfrm>
            <a:off x="304800" y="1600201"/>
            <a:ext cx="76200" cy="160019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A67CB8-9372-4246-AA56-03BB7DAB673A}"/>
              </a:ext>
            </a:extLst>
          </p:cNvPr>
          <p:cNvSpPr/>
          <p:nvPr/>
        </p:nvSpPr>
        <p:spPr>
          <a:xfrm>
            <a:off x="4495800" y="1600201"/>
            <a:ext cx="76200" cy="182879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58DA-946F-5149-A022-105DE4307251}"/>
              </a:ext>
            </a:extLst>
          </p:cNvPr>
          <p:cNvSpPr/>
          <p:nvPr/>
        </p:nvSpPr>
        <p:spPr>
          <a:xfrm>
            <a:off x="304800" y="3947933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2C3066-864A-E74C-BABF-D23C57A6FA34}"/>
              </a:ext>
            </a:extLst>
          </p:cNvPr>
          <p:cNvSpPr/>
          <p:nvPr/>
        </p:nvSpPr>
        <p:spPr>
          <a:xfrm>
            <a:off x="4483261" y="4374269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2AA924-E456-F949-99DB-0AEA8F1A1155}"/>
              </a:ext>
            </a:extLst>
          </p:cNvPr>
          <p:cNvSpPr txBox="1"/>
          <p:nvPr/>
        </p:nvSpPr>
        <p:spPr>
          <a:xfrm>
            <a:off x="3868838" y="5262622"/>
            <a:ext cx="495751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Nu este atomică </a:t>
            </a:r>
          </a:p>
          <a:p>
            <a:r>
              <a:rPr lang="ro-RO" sz="2200" dirty="0">
                <a:solidFill>
                  <a:srgbClr val="FF0000"/>
                </a:solidFill>
              </a:rPr>
              <a:t>Problema TOCTOU </a:t>
            </a:r>
          </a:p>
          <a:p>
            <a:r>
              <a:rPr lang="ro-RO" sz="2200" dirty="0">
                <a:solidFill>
                  <a:srgbClr val="FF0000"/>
                </a:solidFill>
              </a:rPr>
              <a:t>	Time of </a:t>
            </a:r>
            <a:r>
              <a:rPr lang="ro-RO" sz="2200" dirty="0" err="1">
                <a:solidFill>
                  <a:srgbClr val="FF0000"/>
                </a:solidFill>
              </a:rPr>
              <a:t>Check</a:t>
            </a:r>
            <a:r>
              <a:rPr lang="ro-RO" sz="2200" dirty="0">
                <a:solidFill>
                  <a:srgbClr val="FF0000"/>
                </a:solidFill>
              </a:rPr>
              <a:t>, Time of </a:t>
            </a:r>
            <a:r>
              <a:rPr lang="ro-RO" sz="2200" dirty="0" err="1">
                <a:solidFill>
                  <a:srgbClr val="FF0000"/>
                </a:solidFill>
              </a:rPr>
              <a:t>Utilization</a:t>
            </a:r>
            <a:endParaRPr lang="ro-RO" sz="2200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01549A-783B-D849-939A-CF6FA51F2373}"/>
              </a:ext>
            </a:extLst>
          </p:cNvPr>
          <p:cNvSpPr/>
          <p:nvPr/>
        </p:nvSpPr>
        <p:spPr>
          <a:xfrm>
            <a:off x="3728977" y="5263661"/>
            <a:ext cx="76200" cy="52753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5552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12D40-7FA6-D841-8CAE-A5FCE252B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Test </a:t>
            </a:r>
            <a:r>
              <a:rPr lang="ro-RO" dirty="0" err="1"/>
              <a:t>and</a:t>
            </a:r>
            <a:r>
              <a:rPr lang="ro-RO" dirty="0"/>
              <a:t> set / Compare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swap</a:t>
            </a:r>
            <a:endParaRPr lang="ro-RO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B1FD79-04A5-FF44-B17D-D10A461C8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O instrucțiune care</a:t>
            </a:r>
          </a:p>
          <a:p>
            <a:pPr lvl="1"/>
            <a:r>
              <a:rPr lang="ro-RO" dirty="0"/>
              <a:t>Execută o comparație</a:t>
            </a:r>
          </a:p>
          <a:p>
            <a:pPr lvl="1"/>
            <a:r>
              <a:rPr lang="ro-RO" dirty="0"/>
              <a:t>Execută o atribuire în funcție de  comparație</a:t>
            </a:r>
          </a:p>
          <a:p>
            <a:r>
              <a:rPr lang="ro-RO" dirty="0"/>
              <a:t>TSL / CAS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95DEE2-D804-7C4A-B439-2ED313C6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7C26D7-8798-644F-8D45-71AFC6C772C0}"/>
              </a:ext>
            </a:extLst>
          </p:cNvPr>
          <p:cNvSpPr/>
          <p:nvPr/>
        </p:nvSpPr>
        <p:spPr>
          <a:xfrm>
            <a:off x="5272270" y="5427785"/>
            <a:ext cx="19240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tsl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r,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value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cmp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r,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647EA-01FA-A844-9F94-E62459632822}"/>
              </a:ext>
            </a:extLst>
          </p:cNvPr>
          <p:cNvSpPr/>
          <p:nvPr/>
        </p:nvSpPr>
        <p:spPr>
          <a:xfrm>
            <a:off x="5196070" y="5516689"/>
            <a:ext cx="76200" cy="36933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D75994-84FD-9341-841C-916A0811D4B7}"/>
              </a:ext>
            </a:extLst>
          </p:cNvPr>
          <p:cNvSpPr/>
          <p:nvPr/>
        </p:nvSpPr>
        <p:spPr>
          <a:xfrm>
            <a:off x="1676400" y="5410200"/>
            <a:ext cx="21953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tsl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(r, value)</a:t>
            </a:r>
          </a:p>
          <a:p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F62209-FD95-7B46-9FBF-1BFD8F70E843}"/>
              </a:ext>
            </a:extLst>
          </p:cNvPr>
          <p:cNvSpPr/>
          <p:nvPr/>
        </p:nvSpPr>
        <p:spPr>
          <a:xfrm>
            <a:off x="1638300" y="5508223"/>
            <a:ext cx="76200" cy="3778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651B30-0322-1645-B9ED-7FE44CFA219F}"/>
              </a:ext>
            </a:extLst>
          </p:cNvPr>
          <p:cNvSpPr/>
          <p:nvPr/>
        </p:nvSpPr>
        <p:spPr>
          <a:xfrm>
            <a:off x="3200400" y="4282062"/>
            <a:ext cx="2362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r =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value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value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= 1;</a:t>
            </a: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(r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 ...</a:t>
            </a:r>
          </a:p>
          <a:p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</a:p>
        </p:txBody>
      </p:sp>
    </p:spTree>
    <p:extLst>
      <p:ext uri="{BB962C8B-B14F-4D97-AF65-F5344CB8AC3E}">
        <p14:creationId xmlns:p14="http://schemas.microsoft.com/office/powerpoint/2010/main" val="3000054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7160-8E3B-1B4C-B032-065B6117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Instrucțiune pentru sincronizare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E0E7-9E91-0C43-AF40-5B9BAC24D6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tsl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(test,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// do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some</a:t>
            </a: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work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    test =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0057-89A1-894F-A116-77D344623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eax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cmpxchg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PTR 	[</a:t>
            </a: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pPr marL="0" indent="0">
              <a:buNone/>
            </a:pPr>
            <a:r>
              <a:rPr lang="ro-RO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jne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.L2</a:t>
            </a: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; do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some</a:t>
            </a: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work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>
                <a:solidFill>
                  <a:srgbClr val="795E26"/>
                </a:solidFill>
                <a:latin typeface="Menlo" panose="020B0609030804020204" pitchFamily="49" charset="0"/>
              </a:rPr>
              <a:t>.L2: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5C300-34FC-5A42-A4D4-EF7EAF33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18</a:t>
            </a:fld>
            <a:endParaRPr lang="ro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03447-48A9-2544-8C1B-3B717CB2AB74}"/>
              </a:ext>
            </a:extLst>
          </p:cNvPr>
          <p:cNvSpPr/>
          <p:nvPr/>
        </p:nvSpPr>
        <p:spPr>
          <a:xfrm>
            <a:off x="4239710" y="1057990"/>
            <a:ext cx="4914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; rbp-4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address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of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test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A3C48-2F2B-1841-B6C7-74664E7334FD}"/>
              </a:ext>
            </a:extLst>
          </p:cNvPr>
          <p:cNvSpPr/>
          <p:nvPr/>
        </p:nvSpPr>
        <p:spPr>
          <a:xfrm>
            <a:off x="304800" y="1600201"/>
            <a:ext cx="76200" cy="76199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A67CB8-9372-4246-AA56-03BB7DAB673A}"/>
              </a:ext>
            </a:extLst>
          </p:cNvPr>
          <p:cNvSpPr/>
          <p:nvPr/>
        </p:nvSpPr>
        <p:spPr>
          <a:xfrm>
            <a:off x="4495800" y="1600201"/>
            <a:ext cx="76200" cy="152399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58DA-946F-5149-A022-105DE4307251}"/>
              </a:ext>
            </a:extLst>
          </p:cNvPr>
          <p:cNvSpPr/>
          <p:nvPr/>
        </p:nvSpPr>
        <p:spPr>
          <a:xfrm>
            <a:off x="304800" y="3359980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2C3066-864A-E74C-BABF-D23C57A6FA34}"/>
              </a:ext>
            </a:extLst>
          </p:cNvPr>
          <p:cNvSpPr/>
          <p:nvPr/>
        </p:nvSpPr>
        <p:spPr>
          <a:xfrm>
            <a:off x="4495800" y="3973973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2AA924-E456-F949-99DB-0AEA8F1A1155}"/>
              </a:ext>
            </a:extLst>
          </p:cNvPr>
          <p:cNvSpPr txBox="1"/>
          <p:nvPr/>
        </p:nvSpPr>
        <p:spPr>
          <a:xfrm>
            <a:off x="3868838" y="5262622"/>
            <a:ext cx="32857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este atomică pe single </a:t>
            </a:r>
            <a:r>
              <a:rPr lang="ro-RO" sz="2200" dirty="0" err="1"/>
              <a:t>core</a:t>
            </a:r>
            <a:endParaRPr lang="ro-RO" sz="2200" dirty="0"/>
          </a:p>
        </p:txBody>
      </p:sp>
    </p:spTree>
    <p:extLst>
      <p:ext uri="{BB962C8B-B14F-4D97-AF65-F5344CB8AC3E}">
        <p14:creationId xmlns:p14="http://schemas.microsoft.com/office/powerpoint/2010/main" val="80349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7160-8E3B-1B4C-B032-065B6117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Instrucțiune pentru sincronizare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AE0E7-9E91-0C43-AF40-5B9BAC24D6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tsl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(test,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// do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some</a:t>
            </a: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work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    test =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B0057-89A1-894F-A116-77D344623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eax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lock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cmpxchg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PTR 	[</a:t>
            </a: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pPr marL="0" indent="0">
              <a:buNone/>
            </a:pPr>
            <a:r>
              <a:rPr lang="ro-RO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jne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.L2</a:t>
            </a: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; do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some</a:t>
            </a: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work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>
                <a:solidFill>
                  <a:srgbClr val="795E26"/>
                </a:solidFill>
                <a:latin typeface="Menlo" panose="020B0609030804020204" pitchFamily="49" charset="0"/>
              </a:rPr>
              <a:t>.L2: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5C300-34FC-5A42-A4D4-EF7EAF33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19</a:t>
            </a:fld>
            <a:endParaRPr lang="ro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03447-48A9-2544-8C1B-3B717CB2AB74}"/>
              </a:ext>
            </a:extLst>
          </p:cNvPr>
          <p:cNvSpPr/>
          <p:nvPr/>
        </p:nvSpPr>
        <p:spPr>
          <a:xfrm>
            <a:off x="4239710" y="1057990"/>
            <a:ext cx="4914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; rbp-4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address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of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test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DA3C48-2F2B-1841-B6C7-74664E7334FD}"/>
              </a:ext>
            </a:extLst>
          </p:cNvPr>
          <p:cNvSpPr/>
          <p:nvPr/>
        </p:nvSpPr>
        <p:spPr>
          <a:xfrm>
            <a:off x="304800" y="1600201"/>
            <a:ext cx="76200" cy="76199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A67CB8-9372-4246-AA56-03BB7DAB673A}"/>
              </a:ext>
            </a:extLst>
          </p:cNvPr>
          <p:cNvSpPr/>
          <p:nvPr/>
        </p:nvSpPr>
        <p:spPr>
          <a:xfrm>
            <a:off x="4495800" y="1600201"/>
            <a:ext cx="76200" cy="152399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58DA-946F-5149-A022-105DE4307251}"/>
              </a:ext>
            </a:extLst>
          </p:cNvPr>
          <p:cNvSpPr/>
          <p:nvPr/>
        </p:nvSpPr>
        <p:spPr>
          <a:xfrm>
            <a:off x="304800" y="3359980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2C3066-864A-E74C-BABF-D23C57A6FA34}"/>
              </a:ext>
            </a:extLst>
          </p:cNvPr>
          <p:cNvSpPr/>
          <p:nvPr/>
        </p:nvSpPr>
        <p:spPr>
          <a:xfrm>
            <a:off x="4495800" y="3973973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2AA924-E456-F949-99DB-0AEA8F1A1155}"/>
              </a:ext>
            </a:extLst>
          </p:cNvPr>
          <p:cNvSpPr txBox="1"/>
          <p:nvPr/>
        </p:nvSpPr>
        <p:spPr>
          <a:xfrm>
            <a:off x="3868838" y="5262622"/>
            <a:ext cx="36421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este atomică pentru </a:t>
            </a:r>
            <a:r>
              <a:rPr lang="ro-RO" sz="2200" dirty="0" err="1"/>
              <a:t>multicore</a:t>
            </a:r>
            <a:endParaRPr lang="ro-RO" sz="2200" dirty="0"/>
          </a:p>
        </p:txBody>
      </p:sp>
    </p:spTree>
    <p:extLst>
      <p:ext uri="{BB962C8B-B14F-4D97-AF65-F5344CB8AC3E}">
        <p14:creationId xmlns:p14="http://schemas.microsoft.com/office/powerpoint/2010/main" val="271010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41FA-B319-E94B-994D-22BF7562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Primitive cod atomic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E5DC3-0AD2-FE40-B218-B7538A9F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Spinlock</a:t>
            </a:r>
          </a:p>
          <a:p>
            <a:endParaRPr lang="ro-RO"/>
          </a:p>
          <a:p>
            <a:r>
              <a:rPr lang="ro-RO"/>
              <a:t>Semafor</a:t>
            </a:r>
          </a:p>
          <a:p>
            <a:endParaRPr lang="ro-RO"/>
          </a:p>
          <a:p>
            <a:r>
              <a:rPr lang="ro-RO"/>
              <a:t>Mutex</a:t>
            </a:r>
          </a:p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A08DC-0C38-C240-AB18-138A2136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08174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06D3-850B-6A43-88B2-2192B2B5B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/>
              <a:t>Spinlock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204A8-D19F-874C-9414-CD5B471FB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15C64-D789-9C48-A854-A06CD925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07312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E682CF-5577-954B-A28C-C6288E77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Spinlock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BA5C2-C984-5342-8183-FB704990E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(test !=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continue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test 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do some work with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test 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34AEC-523C-7F47-9267-74597E5B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22</a:t>
            </a:fld>
            <a:endParaRPr lang="ro-RO"/>
          </a:p>
        </p:txBody>
      </p:sp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2A12E7F9-4C61-7747-A7E5-F02112DDD741}"/>
              </a:ext>
            </a:extLst>
          </p:cNvPr>
          <p:cNvSpPr/>
          <p:nvPr/>
        </p:nvSpPr>
        <p:spPr>
          <a:xfrm>
            <a:off x="5105400" y="1752600"/>
            <a:ext cx="533400" cy="914400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3889E-005B-0A42-9E1E-5A763BD98AA5}"/>
              </a:ext>
            </a:extLst>
          </p:cNvPr>
          <p:cNvSpPr txBox="1"/>
          <p:nvPr/>
        </p:nvSpPr>
        <p:spPr>
          <a:xfrm>
            <a:off x="5943600" y="2025134"/>
            <a:ext cx="11336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/>
              <a:t>Spinlock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31205-575B-4445-BD94-60B3091F90BA}"/>
              </a:ext>
            </a:extLst>
          </p:cNvPr>
          <p:cNvSpPr txBox="1"/>
          <p:nvPr/>
        </p:nvSpPr>
        <p:spPr>
          <a:xfrm>
            <a:off x="6104303" y="3663089"/>
            <a:ext cx="11221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/>
              <a:t>Atomic?</a:t>
            </a:r>
          </a:p>
        </p:txBody>
      </p:sp>
    </p:spTree>
    <p:extLst>
      <p:ext uri="{BB962C8B-B14F-4D97-AF65-F5344CB8AC3E}">
        <p14:creationId xmlns:p14="http://schemas.microsoft.com/office/powerpoint/2010/main" val="641488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CED9-DD3D-0946-BD07-501953F1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err="1"/>
              <a:t>Spinlock</a:t>
            </a:r>
            <a:r>
              <a:rPr lang="ro-RO" dirty="0"/>
              <a:t> x86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818014-8F73-C442-A9D7-1D03D5EF27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 err="1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(test !=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 dirty="0">
                <a:solidFill>
                  <a:srgbClr val="AF00DB"/>
                </a:solidFill>
                <a:latin typeface="Menlo" panose="020B0609030804020204" pitchFamily="49" charset="0"/>
              </a:rPr>
              <a:t>continue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test =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// do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some</a:t>
            </a: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work</a:t>
            </a: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with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test =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 sz="2000" dirty="0"/>
          </a:p>
          <a:p>
            <a:endParaRPr lang="ro-RO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AA659-7BE4-A54A-802B-3C1DDACBFA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 dirty="0">
                <a:solidFill>
                  <a:srgbClr val="795E26"/>
                </a:solidFill>
                <a:latin typeface="Menlo" panose="020B0609030804020204" pitchFamily="49" charset="0"/>
              </a:rPr>
              <a:t>.L2: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cmp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 err="1">
                <a:solidFill>
                  <a:srgbClr val="0000FF"/>
                </a:solidFill>
                <a:latin typeface="Menlo" panose="020B0609030804020204" pitchFamily="49" charset="0"/>
              </a:rPr>
              <a:t>jne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.L2</a:t>
            </a:r>
          </a:p>
          <a:p>
            <a:pPr marL="0" indent="0">
              <a:buNone/>
            </a:pP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; do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some</a:t>
            </a:r>
            <a:r>
              <a:rPr lang="ro-RO" sz="2000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 err="1">
                <a:solidFill>
                  <a:srgbClr val="008000"/>
                </a:solidFill>
                <a:latin typeface="Menlo" panose="020B0609030804020204" pitchFamily="49" charset="0"/>
              </a:rPr>
              <a:t>work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 dirty="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 dirty="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 dirty="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9E87B-BCDD-CD46-9350-3F4A872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23</a:t>
            </a:fld>
            <a:endParaRPr lang="ro-RO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1C46AE-39B2-4546-B7CC-7BFB7F33482D}"/>
              </a:ext>
            </a:extLst>
          </p:cNvPr>
          <p:cNvSpPr/>
          <p:nvPr/>
        </p:nvSpPr>
        <p:spPr>
          <a:xfrm>
            <a:off x="304800" y="1600201"/>
            <a:ext cx="76200" cy="152399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C6DEE-428D-5F4D-950B-48BA59A9D3FF}"/>
              </a:ext>
            </a:extLst>
          </p:cNvPr>
          <p:cNvSpPr/>
          <p:nvPr/>
        </p:nvSpPr>
        <p:spPr>
          <a:xfrm>
            <a:off x="4495800" y="1600201"/>
            <a:ext cx="76200" cy="190499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097569-403A-9443-B540-B3640A69B7EB}"/>
              </a:ext>
            </a:extLst>
          </p:cNvPr>
          <p:cNvSpPr/>
          <p:nvPr/>
        </p:nvSpPr>
        <p:spPr>
          <a:xfrm>
            <a:off x="304800" y="3947933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9E0A14-4BA4-824D-9EBD-9991FEFE8D7D}"/>
              </a:ext>
            </a:extLst>
          </p:cNvPr>
          <p:cNvSpPr/>
          <p:nvPr/>
        </p:nvSpPr>
        <p:spPr>
          <a:xfrm>
            <a:off x="4483261" y="4374269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F2D9A-EAB8-2249-8AE4-BA4B2B8F8D69}"/>
              </a:ext>
            </a:extLst>
          </p:cNvPr>
          <p:cNvSpPr txBox="1"/>
          <p:nvPr/>
        </p:nvSpPr>
        <p:spPr>
          <a:xfrm>
            <a:off x="3868838" y="5262622"/>
            <a:ext cx="19059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Nu este atomic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AD0DA5-BEE4-4A40-9794-4372E2B0F499}"/>
              </a:ext>
            </a:extLst>
          </p:cNvPr>
          <p:cNvSpPr/>
          <p:nvPr/>
        </p:nvSpPr>
        <p:spPr>
          <a:xfrm>
            <a:off x="4239710" y="1057990"/>
            <a:ext cx="4914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; rbp-4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address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of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test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40B187-71A0-E64D-B02A-F080EF55315A}"/>
              </a:ext>
            </a:extLst>
          </p:cNvPr>
          <p:cNvSpPr/>
          <p:nvPr/>
        </p:nvSpPr>
        <p:spPr>
          <a:xfrm>
            <a:off x="3728977" y="5312509"/>
            <a:ext cx="76200" cy="4786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5082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E682CF-5577-954B-A28C-C6288E77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Spinlock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BA5C2-C984-5342-8183-FB704990E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tsl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(test,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continue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do some work with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test 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34AEC-523C-7F47-9267-74597E5B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24</a:t>
            </a:fld>
            <a:endParaRPr lang="ro-RO"/>
          </a:p>
        </p:txBody>
      </p:sp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2A12E7F9-4C61-7747-A7E5-F02112DDD741}"/>
              </a:ext>
            </a:extLst>
          </p:cNvPr>
          <p:cNvSpPr/>
          <p:nvPr/>
        </p:nvSpPr>
        <p:spPr>
          <a:xfrm>
            <a:off x="5638800" y="1887043"/>
            <a:ext cx="533400" cy="914400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3889E-005B-0A42-9E1E-5A763BD98AA5}"/>
              </a:ext>
            </a:extLst>
          </p:cNvPr>
          <p:cNvSpPr txBox="1"/>
          <p:nvPr/>
        </p:nvSpPr>
        <p:spPr>
          <a:xfrm>
            <a:off x="6477000" y="2159577"/>
            <a:ext cx="11336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/>
              <a:t>Spinlock</a:t>
            </a:r>
          </a:p>
        </p:txBody>
      </p:sp>
    </p:spTree>
    <p:extLst>
      <p:ext uri="{BB962C8B-B14F-4D97-AF65-F5344CB8AC3E}">
        <p14:creationId xmlns:p14="http://schemas.microsoft.com/office/powerpoint/2010/main" val="3933065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CED9-DD3D-0946-BD07-501953F1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Spinlock x86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818014-8F73-C442-A9D7-1D03D5EF27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tsl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(test,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continue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// do some work with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test =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 sz="2000"/>
          </a:p>
          <a:p>
            <a:endParaRPr lang="ro-RO" sz="20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AA659-7BE4-A54A-802B-3C1DDACBF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eax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.L2: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lock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cmpxchg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PTR 	[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jne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.L2</a:t>
            </a: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8000"/>
                </a:solidFill>
                <a:latin typeface="Menlo" panose="020B0609030804020204" pitchFamily="49" charset="0"/>
              </a:rPr>
              <a:t>; do some work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mov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267F99"/>
                </a:solidFill>
                <a:latin typeface="Menlo" panose="020B0609030804020204" pitchFamily="49" charset="0"/>
              </a:rPr>
              <a:t>DWORD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PTR [</a:t>
            </a: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rbp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-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4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],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endParaRPr lang="ro-RO" sz="200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9E87B-BCDD-CD46-9350-3F4A872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25</a:t>
            </a:fld>
            <a:endParaRPr lang="ro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1C46AE-39B2-4546-B7CC-7BFB7F33482D}"/>
              </a:ext>
            </a:extLst>
          </p:cNvPr>
          <p:cNvSpPr/>
          <p:nvPr/>
        </p:nvSpPr>
        <p:spPr>
          <a:xfrm>
            <a:off x="304800" y="1600201"/>
            <a:ext cx="76200" cy="91439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C6DEE-428D-5F4D-950B-48BA59A9D3FF}"/>
              </a:ext>
            </a:extLst>
          </p:cNvPr>
          <p:cNvSpPr/>
          <p:nvPr/>
        </p:nvSpPr>
        <p:spPr>
          <a:xfrm>
            <a:off x="4483261" y="1611423"/>
            <a:ext cx="63661" cy="182879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097569-403A-9443-B540-B3640A69B7EB}"/>
              </a:ext>
            </a:extLst>
          </p:cNvPr>
          <p:cNvSpPr/>
          <p:nvPr/>
        </p:nvSpPr>
        <p:spPr>
          <a:xfrm>
            <a:off x="304800" y="3311770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9E0A14-4BA4-824D-9EBD-9991FEFE8D7D}"/>
              </a:ext>
            </a:extLst>
          </p:cNvPr>
          <p:cNvSpPr/>
          <p:nvPr/>
        </p:nvSpPr>
        <p:spPr>
          <a:xfrm>
            <a:off x="4483261" y="4374269"/>
            <a:ext cx="76200" cy="52664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F2D9A-EAB8-2249-8AE4-BA4B2B8F8D69}"/>
              </a:ext>
            </a:extLst>
          </p:cNvPr>
          <p:cNvSpPr txBox="1"/>
          <p:nvPr/>
        </p:nvSpPr>
        <p:spPr>
          <a:xfrm>
            <a:off x="3868838" y="5262622"/>
            <a:ext cx="15084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/>
              <a:t>Este atomic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AD0DA5-BEE4-4A40-9794-4372E2B0F499}"/>
              </a:ext>
            </a:extLst>
          </p:cNvPr>
          <p:cNvSpPr/>
          <p:nvPr/>
        </p:nvSpPr>
        <p:spPr>
          <a:xfrm>
            <a:off x="4239710" y="1057990"/>
            <a:ext cx="4914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; rbp-4 address of variable test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75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5375-68D4-6044-BDD2-E275DEB86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lock și unlock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8626B0-77C7-4F42-870C-E1694741D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lock</a:t>
            </a:r>
          </a:p>
          <a:p>
            <a:pPr lvl="1"/>
            <a:r>
              <a:rPr lang="ro-RO"/>
              <a:t>acaparează spinlock-ul</a:t>
            </a:r>
          </a:p>
          <a:p>
            <a:endParaRPr lang="ro-RO"/>
          </a:p>
          <a:p>
            <a:r>
              <a:rPr lang="ro-RO"/>
              <a:t>unlock</a:t>
            </a:r>
          </a:p>
          <a:p>
            <a:pPr lvl="1"/>
            <a:r>
              <a:rPr lang="ro-RO"/>
              <a:t>eliberează spinlock-ul</a:t>
            </a:r>
          </a:p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9629F-9CEA-C944-BAD6-B37CCDFB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69308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552D-6748-7B48-ADB4-85BE1E6F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lock și unlock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866DE3-FC4E-D940-8348-BE2384A381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(s)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00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tsl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(s,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));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0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5A70B3-B92B-9248-93F6-E39044C6DA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0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000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 (s)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    s = </a:t>
            </a:r>
            <a:r>
              <a:rPr lang="ro-RO" sz="20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0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1950F-A5E0-A44C-B4D9-D563198A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27</a:t>
            </a:fld>
            <a:endParaRPr lang="ro-R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975287-B237-1C49-BF1C-F92D5425F2B1}"/>
              </a:ext>
            </a:extLst>
          </p:cNvPr>
          <p:cNvSpPr/>
          <p:nvPr/>
        </p:nvSpPr>
        <p:spPr>
          <a:xfrm>
            <a:off x="3048000" y="3896941"/>
            <a:ext cx="2276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s - spinlock</a:t>
            </a:r>
            <a:endParaRPr lang="ro-RO" b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78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Exemplu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28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819E63-1E9E-8C43-8833-15139782098D}"/>
              </a:ext>
            </a:extLst>
          </p:cNvPr>
          <p:cNvSpPr txBox="1"/>
          <p:nvPr/>
        </p:nvSpPr>
        <p:spPr>
          <a:xfrm>
            <a:off x="2308142" y="62714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CD6EC0-852E-5149-A755-AEBDA3C5BF33}"/>
              </a:ext>
            </a:extLst>
          </p:cNvPr>
          <p:cNvSpPr txBox="1"/>
          <p:nvPr/>
        </p:nvSpPr>
        <p:spPr>
          <a:xfrm>
            <a:off x="5852272" y="62243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9973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Exemplu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29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6776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B281-2D70-154C-B06B-11AF87365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Deadlock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7CAE1F-654C-A74A-B2F7-B42F6DC3F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Ce se întâmplă când uită să apelăm </a:t>
            </a:r>
            <a:r>
              <a:rPr lang="ro-RO" dirty="0" err="1"/>
              <a:t>unlock</a:t>
            </a:r>
            <a:r>
              <a:rPr lang="ro-RO" dirty="0"/>
              <a:t>?</a:t>
            </a:r>
          </a:p>
          <a:p>
            <a:endParaRPr lang="ro-RO" dirty="0"/>
          </a:p>
          <a:p>
            <a:pPr marL="0" indent="0">
              <a:buNone/>
            </a:pPr>
            <a:r>
              <a:rPr lang="ro-RO" dirty="0"/>
              <a:t>Ce se întâmplă dacă apelăm </a:t>
            </a:r>
            <a:r>
              <a:rPr lang="ro-RO" dirty="0" err="1"/>
              <a:t>lock</a:t>
            </a:r>
            <a:r>
              <a:rPr lang="ro-RO" dirty="0"/>
              <a:t> de mai multe ori fără </a:t>
            </a:r>
            <a:r>
              <a:rPr lang="ro-RO" dirty="0" err="1"/>
              <a:t>unlock</a:t>
            </a:r>
            <a:r>
              <a:rPr lang="ro-RO" dirty="0"/>
              <a:t>?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Ce se întâmplă dacă un program se oprește înainte de folosi </a:t>
            </a:r>
            <a:r>
              <a:rPr lang="ro-RO" dirty="0" err="1"/>
              <a:t>unlock</a:t>
            </a:r>
            <a:r>
              <a:rPr lang="ro-RO" dirty="0"/>
              <a:t>?</a:t>
            </a:r>
          </a:p>
          <a:p>
            <a:pPr marL="0" indent="0">
              <a:buNone/>
            </a:pP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92864-44A9-B646-8F2C-E488E21D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531769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Uitarea lui </a:t>
            </a:r>
            <a:r>
              <a:rPr lang="ro-RO" dirty="0" err="1"/>
              <a:t>unlock</a:t>
            </a:r>
            <a:endParaRPr lang="ro-RO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...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waits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lot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31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...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66556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Folosirea lui de </a:t>
            </a:r>
            <a:r>
              <a:rPr lang="ro-RO" dirty="0" err="1"/>
              <a:t>lock</a:t>
            </a:r>
            <a:r>
              <a:rPr lang="ro-RO" dirty="0"/>
              <a:t> mai multe ori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...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waits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lot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...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waits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32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...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98791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Oprirea înainte de </a:t>
            </a:r>
            <a:r>
              <a:rPr lang="ro-RO" dirty="0" err="1"/>
              <a:t>unlock</a:t>
            </a:r>
            <a:endParaRPr lang="ro-RO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...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waits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lot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33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...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9378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eroare</a:t>
            </a:r>
          </a:p>
        </p:txBody>
      </p:sp>
    </p:spTree>
    <p:extLst>
      <p:ext uri="{BB962C8B-B14F-4D97-AF65-F5344CB8AC3E}">
        <p14:creationId xmlns:p14="http://schemas.microsoft.com/office/powerpoint/2010/main" val="389405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5C4D6B-14EB-B54B-BCBD-0ACFB966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Semafor</a:t>
            </a:r>
            <a:endParaRPr lang="fr-FR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FAC17D-0393-1C4A-A5FE-68822F3C6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6534B-6807-034E-9ED0-5A741278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8982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E682CF-5577-954B-A28C-C6288E77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Spinlock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BA5C2-C984-5342-8183-FB704990E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tsl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(test,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AF00DB"/>
                </a:solidFill>
                <a:latin typeface="Menlo" panose="020B0609030804020204" pitchFamily="49" charset="0"/>
              </a:rPr>
              <a:t>continue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do some work with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test = </a:t>
            </a:r>
            <a:r>
              <a:rPr lang="ro-RO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34AEC-523C-7F47-9267-74597E5B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35</a:t>
            </a:fld>
            <a:endParaRPr lang="ro-RO"/>
          </a:p>
        </p:txBody>
      </p:sp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2A12E7F9-4C61-7747-A7E5-F02112DDD741}"/>
              </a:ext>
            </a:extLst>
          </p:cNvPr>
          <p:cNvSpPr/>
          <p:nvPr/>
        </p:nvSpPr>
        <p:spPr>
          <a:xfrm>
            <a:off x="5638800" y="1887043"/>
            <a:ext cx="533400" cy="914400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3889E-005B-0A42-9E1E-5A763BD98AA5}"/>
              </a:ext>
            </a:extLst>
          </p:cNvPr>
          <p:cNvSpPr txBox="1"/>
          <p:nvPr/>
        </p:nvSpPr>
        <p:spPr>
          <a:xfrm>
            <a:off x="6477000" y="2159577"/>
            <a:ext cx="11336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/>
              <a:t>Spinlock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8D13AB-A62A-924D-BF49-D66396935206}"/>
              </a:ext>
            </a:extLst>
          </p:cNvPr>
          <p:cNvSpPr txBox="1"/>
          <p:nvPr/>
        </p:nvSpPr>
        <p:spPr>
          <a:xfrm>
            <a:off x="6324600" y="2589818"/>
            <a:ext cx="179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>
                <a:solidFill>
                  <a:srgbClr val="FF0000"/>
                </a:solidFill>
              </a:rPr>
              <a:t>Busy Waiting</a:t>
            </a:r>
          </a:p>
        </p:txBody>
      </p:sp>
    </p:spTree>
    <p:extLst>
      <p:ext uri="{BB962C8B-B14F-4D97-AF65-F5344CB8AC3E}">
        <p14:creationId xmlns:p14="http://schemas.microsoft.com/office/powerpoint/2010/main" val="402167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7457-01E0-FA4F-A410-8F4FC4C21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Busy Waiting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6EEBF-80C0-C945-8758-A6AA367AE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Încarcarea în permanență de a verifica o valoare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CPU execută instrucțiuni inutil</a:t>
            </a:r>
          </a:p>
          <a:p>
            <a:endParaRPr lang="ro-RO"/>
          </a:p>
          <a:p>
            <a:r>
              <a:rPr lang="ro-RO">
                <a:solidFill>
                  <a:srgbClr val="FF0000"/>
                </a:solidFill>
              </a:rPr>
              <a:t>Procesul își va consuma toata cuanta de timp pentu a verifica mereu valoarea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871D3-1BE4-574E-96C2-446D13FA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20683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65BFB18-E231-F745-BC98-29252AE3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Stările proceselor</a:t>
            </a:r>
            <a:endParaRPr lang="ro-RO" dirty="0">
              <a:effectLst/>
            </a:endParaRPr>
          </a:p>
        </p:txBody>
      </p:sp>
      <p:pic>
        <p:nvPicPr>
          <p:cNvPr id="27651" name="Content Placeholder 5" descr="process-state.png">
            <a:extLst>
              <a:ext uri="{FF2B5EF4-FFF2-40B4-BE49-F238E27FC236}">
                <a16:creationId xmlns:a16="http://schemas.microsoft.com/office/drawing/2014/main" id="{48FF0EC9-DBF3-3C4C-8463-E0A72AE71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57406"/>
            <a:ext cx="8229600" cy="3211551"/>
          </a:xfrm>
        </p:spPr>
      </p:pic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3DE9AC13-44E2-3544-8190-4BDC9EB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96A9FA7-8476-5A41-9B63-F137707F09FC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37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rved Left Arrow 4">
            <a:extLst>
              <a:ext uri="{FF2B5EF4-FFF2-40B4-BE49-F238E27FC236}">
                <a16:creationId xmlns:a16="http://schemas.microsoft.com/office/drawing/2014/main" id="{4CC713E2-E9DD-A345-8303-AEBA4C916CDB}"/>
              </a:ext>
            </a:extLst>
          </p:cNvPr>
          <p:cNvSpPr/>
          <p:nvPr/>
        </p:nvSpPr>
        <p:spPr>
          <a:xfrm>
            <a:off x="6629400" y="3231177"/>
            <a:ext cx="533400" cy="914400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30894-0D98-B543-B3B7-45409A5A66CA}"/>
              </a:ext>
            </a:extLst>
          </p:cNvPr>
          <p:cNvSpPr txBox="1"/>
          <p:nvPr/>
        </p:nvSpPr>
        <p:spPr>
          <a:xfrm>
            <a:off x="7239000" y="3295108"/>
            <a:ext cx="11336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 err="1"/>
              <a:t>Spinlock</a:t>
            </a:r>
            <a:endParaRPr lang="ro-RO" sz="2200" dirty="0"/>
          </a:p>
        </p:txBody>
      </p:sp>
    </p:spTree>
    <p:extLst>
      <p:ext uri="{BB962C8B-B14F-4D97-AF65-F5344CB8AC3E}">
        <p14:creationId xmlns:p14="http://schemas.microsoft.com/office/powerpoint/2010/main" val="154907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65BFB18-E231-F745-BC98-29252AE3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Stările proceselor</a:t>
            </a:r>
            <a:endParaRPr lang="ro-RO" dirty="0">
              <a:effectLst/>
            </a:endParaRPr>
          </a:p>
        </p:txBody>
      </p:sp>
      <p:pic>
        <p:nvPicPr>
          <p:cNvPr id="27651" name="Content Placeholder 5" descr="process-state.png">
            <a:extLst>
              <a:ext uri="{FF2B5EF4-FFF2-40B4-BE49-F238E27FC236}">
                <a16:creationId xmlns:a16="http://schemas.microsoft.com/office/drawing/2014/main" id="{48FF0EC9-DBF3-3C4C-8463-E0A72AE71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57406"/>
            <a:ext cx="8229600" cy="3211551"/>
          </a:xfrm>
        </p:spPr>
      </p:pic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3DE9AC13-44E2-3544-8190-4BDC9EB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96A9FA7-8476-5A41-9B63-F137707F09FC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38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F3146-D527-AF48-A83F-BF910F26FB25}"/>
              </a:ext>
            </a:extLst>
          </p:cNvPr>
          <p:cNvSpPr txBox="1"/>
          <p:nvPr/>
        </p:nvSpPr>
        <p:spPr>
          <a:xfrm>
            <a:off x="6312654" y="5007860"/>
            <a:ext cx="28963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Așteptarea unei resurse</a:t>
            </a:r>
          </a:p>
        </p:txBody>
      </p:sp>
      <p:sp>
        <p:nvSpPr>
          <p:cNvPr id="4" name="Left Arrow 3">
            <a:extLst>
              <a:ext uri="{FF2B5EF4-FFF2-40B4-BE49-F238E27FC236}">
                <a16:creationId xmlns:a16="http://schemas.microsoft.com/office/drawing/2014/main" id="{949300F1-B8B7-AC43-ADC4-14BB102D4499}"/>
              </a:ext>
            </a:extLst>
          </p:cNvPr>
          <p:cNvSpPr/>
          <p:nvPr/>
        </p:nvSpPr>
        <p:spPr>
          <a:xfrm>
            <a:off x="5486400" y="5084902"/>
            <a:ext cx="685800" cy="322243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6713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2001F9-C94D-7140-9E10-6CA69021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Semafor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6FE2F-8ADE-794D-B64C-BB3023D27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/>
              <a:t>Obiect al SO</a:t>
            </a:r>
          </a:p>
          <a:p>
            <a:endParaRPr lang="ro-RO"/>
          </a:p>
          <a:p>
            <a:r>
              <a:rPr lang="ro-RO"/>
              <a:t>Partajat între mai multe procese</a:t>
            </a:r>
          </a:p>
          <a:p>
            <a:endParaRPr lang="ro-RO"/>
          </a:p>
          <a:p>
            <a:r>
              <a:rPr lang="ro-RO"/>
              <a:t>Funcții executate atomic</a:t>
            </a:r>
          </a:p>
          <a:p>
            <a:pPr lvl="1"/>
            <a:r>
              <a:rPr lang="ro-RO"/>
              <a:t>P (încearcă) / wait / down</a:t>
            </a:r>
          </a:p>
          <a:p>
            <a:pPr lvl="1"/>
            <a:r>
              <a:rPr lang="ro-RO"/>
              <a:t>V (eliberează) / signal / up</a:t>
            </a:r>
          </a:p>
          <a:p>
            <a:pPr lvl="1"/>
            <a:endParaRPr lang="ro-RO"/>
          </a:p>
          <a:p>
            <a:r>
              <a:rPr lang="ro-RO"/>
              <a:t>Valoare inițială</a:t>
            </a:r>
          </a:p>
          <a:p>
            <a:endParaRPr lang="ro-RO"/>
          </a:p>
          <a:p>
            <a:r>
              <a:rPr lang="ro-RO"/>
              <a:t>Coadă de procese care așteaptă</a:t>
            </a:r>
          </a:p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39197-2A5B-A545-AC97-D39725B0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93078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3203-F117-7743-908C-12975E6FB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Funcțiile semaforului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8CD9C3-27F7-3D42-80FF-24BB044F3C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dirty="0" err="1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(s)</a:t>
            </a:r>
          </a:p>
          <a:p>
            <a:pPr marL="0" indent="0">
              <a:buNone/>
            </a:pP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400" dirty="0" err="1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(s &lt;= </a:t>
            </a:r>
            <a:r>
              <a:rPr lang="ro-RO" sz="2400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ro-RO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    s = s - </a:t>
            </a:r>
            <a:r>
              <a:rPr lang="ro-RO" sz="2400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25922-0FF3-DB4C-920B-2028C6A11C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dirty="0" err="1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 dirty="0">
                <a:solidFill>
                  <a:srgbClr val="795E26"/>
                </a:solidFill>
                <a:latin typeface="Menlo" panose="020B0609030804020204" pitchFamily="49" charset="0"/>
              </a:rPr>
              <a:t>signal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 (s)</a:t>
            </a:r>
          </a:p>
          <a:p>
            <a:pPr marL="0" indent="0">
              <a:buNone/>
            </a:pP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    s = s + </a:t>
            </a:r>
            <a:r>
              <a:rPr lang="ro-RO" sz="2400" dirty="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45396-A8A7-5F42-AD00-4DC3B93D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40</a:t>
            </a:fld>
            <a:endParaRPr lang="ro-RO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6EC9AF-5BB1-2948-B58F-485E03C2FB1D}"/>
              </a:ext>
            </a:extLst>
          </p:cNvPr>
          <p:cNvSpPr/>
          <p:nvPr/>
        </p:nvSpPr>
        <p:spPr>
          <a:xfrm>
            <a:off x="3287777" y="4419600"/>
            <a:ext cx="2416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s -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semaphore</a:t>
            </a:r>
            <a:endParaRPr lang="ro-RO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12BF87-9878-8946-90DE-17B3D829DFE8}"/>
              </a:ext>
            </a:extLst>
          </p:cNvPr>
          <p:cNvSpPr txBox="1"/>
          <p:nvPr/>
        </p:nvSpPr>
        <p:spPr>
          <a:xfrm>
            <a:off x="1676400" y="2895600"/>
            <a:ext cx="13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err="1">
                <a:solidFill>
                  <a:srgbClr val="FF0000"/>
                </a:solidFill>
              </a:rPr>
              <a:t>Busy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ro-RO" dirty="0" err="1">
                <a:solidFill>
                  <a:srgbClr val="FF0000"/>
                </a:solidFill>
              </a:rPr>
              <a:t>waiting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63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DEA9-46FF-B640-8CAE-A440DBA86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Variabilă de condiție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5D113-D9A5-E34C-9CDC-33199D870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 err="1"/>
              <a:t>Object</a:t>
            </a:r>
            <a:r>
              <a:rPr lang="ro-RO" dirty="0"/>
              <a:t> cu două funcții</a:t>
            </a:r>
          </a:p>
          <a:p>
            <a:pPr lvl="1"/>
            <a:r>
              <a:rPr lang="ro-RO" dirty="0" err="1"/>
              <a:t>block</a:t>
            </a:r>
            <a:r>
              <a:rPr lang="ro-RO" dirty="0"/>
              <a:t> / </a:t>
            </a:r>
            <a:r>
              <a:rPr lang="ro-RO" dirty="0" err="1"/>
              <a:t>wait</a:t>
            </a:r>
            <a:endParaRPr lang="ro-RO" dirty="0"/>
          </a:p>
          <a:p>
            <a:pPr lvl="2"/>
            <a:r>
              <a:rPr lang="ro-RO" dirty="0"/>
              <a:t>oprește procesul curent</a:t>
            </a:r>
          </a:p>
          <a:p>
            <a:pPr lvl="3"/>
            <a:r>
              <a:rPr lang="ro-RO" dirty="0"/>
              <a:t>starea WAITING</a:t>
            </a:r>
          </a:p>
          <a:p>
            <a:pPr lvl="1"/>
            <a:endParaRPr lang="ro-RO" dirty="0"/>
          </a:p>
          <a:p>
            <a:pPr lvl="1"/>
            <a:r>
              <a:rPr lang="ro-RO" dirty="0" err="1"/>
              <a:t>wakeup</a:t>
            </a:r>
            <a:r>
              <a:rPr lang="ro-RO" dirty="0"/>
              <a:t> / </a:t>
            </a:r>
            <a:r>
              <a:rPr lang="ro-RO" dirty="0" err="1"/>
              <a:t>notify</a:t>
            </a:r>
            <a:endParaRPr lang="ro-RO" dirty="0"/>
          </a:p>
          <a:p>
            <a:pPr lvl="2"/>
            <a:r>
              <a:rPr lang="ro-RO" dirty="0"/>
              <a:t>oprește toate procesele blocate de această variabilă</a:t>
            </a:r>
          </a:p>
          <a:p>
            <a:pPr lvl="3"/>
            <a:r>
              <a:rPr lang="ro-RO" dirty="0"/>
              <a:t>starea READY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7DA69-A3BF-7047-B9DC-0AFC62D0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544296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65BFB18-E231-F745-BC98-29252AE3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Stările proceselor</a:t>
            </a:r>
            <a:endParaRPr lang="ro-RO" dirty="0">
              <a:effectLst/>
            </a:endParaRPr>
          </a:p>
        </p:txBody>
      </p:sp>
      <p:pic>
        <p:nvPicPr>
          <p:cNvPr id="27651" name="Content Placeholder 5" descr="process-state.png">
            <a:extLst>
              <a:ext uri="{FF2B5EF4-FFF2-40B4-BE49-F238E27FC236}">
                <a16:creationId xmlns:a16="http://schemas.microsoft.com/office/drawing/2014/main" id="{48FF0EC9-DBF3-3C4C-8463-E0A72AE71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57406"/>
            <a:ext cx="8229600" cy="3211551"/>
          </a:xfrm>
        </p:spPr>
      </p:pic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3DE9AC13-44E2-3544-8190-4BDC9EB5E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96A9FA7-8476-5A41-9B63-F137707F09FC}" type="slidenum">
              <a:rPr lang="ro-RO" altLang="ro-RO" smtClean="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42</a:t>
            </a:fld>
            <a:endParaRPr lang="ro-RO" altLang="ro-RO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0A777B-2D04-F840-AA3D-37356986F823}"/>
              </a:ext>
            </a:extLst>
          </p:cNvPr>
          <p:cNvSpPr txBox="1"/>
          <p:nvPr/>
        </p:nvSpPr>
        <p:spPr>
          <a:xfrm>
            <a:off x="5870000" y="4114800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err="1">
                <a:solidFill>
                  <a:srgbClr val="92D050"/>
                </a:solidFill>
              </a:rPr>
              <a:t>block</a:t>
            </a:r>
            <a:endParaRPr lang="ro-RO" dirty="0">
              <a:solidFill>
                <a:srgbClr val="92D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D0E89-4236-9A43-A73B-9174BF0FB7CF}"/>
              </a:ext>
            </a:extLst>
          </p:cNvPr>
          <p:cNvSpPr txBox="1"/>
          <p:nvPr/>
        </p:nvSpPr>
        <p:spPr>
          <a:xfrm>
            <a:off x="2590800" y="4800600"/>
            <a:ext cx="913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err="1">
                <a:solidFill>
                  <a:srgbClr val="92D050"/>
                </a:solidFill>
              </a:rPr>
              <a:t>wakeup</a:t>
            </a:r>
            <a:endParaRPr lang="ro-RO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64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9D1C2-48DE-3F47-BDA5-5EC38273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Funcționarea semaforului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A5F53-D49B-464D-BA49-BF5D7466C6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(s)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40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 &lt;= </a:t>
            </a:r>
            <a:r>
              <a:rPr lang="ro-RO" sz="24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block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s = s - </a:t>
            </a:r>
            <a:r>
              <a:rPr lang="ro-RO" sz="24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3E19C-0433-BB4B-AB67-254B103543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signal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(s)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s = s + </a:t>
            </a:r>
            <a:r>
              <a:rPr lang="ro-RO" sz="24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wakeup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C3BEC-8A8B-834E-BDD9-5BAEC3DF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43</a:t>
            </a:fld>
            <a:endParaRPr lang="ro-R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FD50AD-AA4F-4644-BDF0-391005EFD8B5}"/>
              </a:ext>
            </a:extLst>
          </p:cNvPr>
          <p:cNvSpPr/>
          <p:nvPr/>
        </p:nvSpPr>
        <p:spPr>
          <a:xfrm>
            <a:off x="3287777" y="4419600"/>
            <a:ext cx="2416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s - semaphore</a:t>
            </a:r>
            <a:endParaRPr lang="ro-RO" b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4111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5DC2E-F58E-4D4B-8398-81BDD85A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Tipuri de semafoare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4D6B1D-CD48-7E4B-A53B-5742EED0C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binare</a:t>
            </a:r>
          </a:p>
          <a:p>
            <a:pPr lvl="1"/>
            <a:r>
              <a:rPr lang="ro-RO"/>
              <a:t>valoarea poate fi doar 0 sau 1</a:t>
            </a:r>
          </a:p>
          <a:p>
            <a:endParaRPr lang="ro-RO"/>
          </a:p>
          <a:p>
            <a:r>
              <a:rPr lang="ro-RO"/>
              <a:t>contor</a:t>
            </a:r>
          </a:p>
          <a:p>
            <a:pPr lvl="1"/>
            <a:r>
              <a:rPr lang="ro-RO"/>
              <a:t>naloare poate fi orice număr întreg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F7E04-A288-CA47-880A-F3BB2A75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6697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9D1C2-48DE-3F47-BDA5-5EC38273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Semafor binar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A5F53-D49B-464D-BA49-BF5D7466C6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(s)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400">
                <a:solidFill>
                  <a:srgbClr val="AF00DB"/>
                </a:solidFill>
                <a:latin typeface="Menlo" panose="020B0609030804020204" pitchFamily="49" charset="0"/>
              </a:rPr>
              <a:t>while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 == </a:t>
            </a:r>
            <a:r>
              <a:rPr lang="ro-RO" sz="24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block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s = </a:t>
            </a:r>
            <a:r>
              <a:rPr lang="ro-RO" sz="240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3E19C-0433-BB4B-AB67-254B103543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signal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(s)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s = </a:t>
            </a:r>
            <a:r>
              <a:rPr lang="ro-RO" sz="2400">
                <a:solidFill>
                  <a:srgbClr val="09885A"/>
                </a:solidFill>
                <a:latin typeface="Menlo" panose="020B0609030804020204" pitchFamily="49" charset="0"/>
              </a:rPr>
              <a:t>1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 sz="2400">
                <a:solidFill>
                  <a:srgbClr val="795E26"/>
                </a:solidFill>
                <a:latin typeface="Menlo" panose="020B0609030804020204" pitchFamily="49" charset="0"/>
              </a:rPr>
              <a:t>wakeup</a:t>
            </a: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sz="240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C3BEC-8A8B-834E-BDD9-5BAEC3DF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45</a:t>
            </a:fld>
            <a:endParaRPr lang="ro-R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FD50AD-AA4F-4644-BDF0-391005EFD8B5}"/>
              </a:ext>
            </a:extLst>
          </p:cNvPr>
          <p:cNvSpPr/>
          <p:nvPr/>
        </p:nvSpPr>
        <p:spPr>
          <a:xfrm>
            <a:off x="3287777" y="4419600"/>
            <a:ext cx="2416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s - semaphore</a:t>
            </a:r>
            <a:endParaRPr lang="ro-RO" b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682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Exemplu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>
                <a:solidFill>
                  <a:srgbClr val="795E26"/>
                </a:solidFill>
                <a:latin typeface="Menlo" panose="020B0609030804020204" pitchFamily="49" charset="0"/>
              </a:rPr>
              <a:t>signal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>
                <a:solidFill>
                  <a:srgbClr val="795E26"/>
                </a:solidFill>
                <a:latin typeface="Menlo" panose="020B0609030804020204" pitchFamily="49" charset="0"/>
              </a:rPr>
              <a:t>signal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46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819E63-1E9E-8C43-8833-15139782098D}"/>
              </a:ext>
            </a:extLst>
          </p:cNvPr>
          <p:cNvSpPr txBox="1"/>
          <p:nvPr/>
        </p:nvSpPr>
        <p:spPr>
          <a:xfrm>
            <a:off x="2308142" y="62714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CD6EC0-852E-5149-A755-AEBDA3C5BF33}"/>
              </a:ext>
            </a:extLst>
          </p:cNvPr>
          <p:cNvSpPr txBox="1"/>
          <p:nvPr/>
        </p:nvSpPr>
        <p:spPr>
          <a:xfrm>
            <a:off x="5852272" y="62243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2254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Exemplu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>
                <a:solidFill>
                  <a:srgbClr val="795E26"/>
                </a:solidFill>
                <a:latin typeface="Menlo" panose="020B0609030804020204" pitchFamily="49" charset="0"/>
              </a:rPr>
              <a:t>signal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>
                <a:solidFill>
                  <a:srgbClr val="795E26"/>
                </a:solidFill>
                <a:latin typeface="Menlo" panose="020B0609030804020204" pitchFamily="49" charset="0"/>
              </a:rPr>
              <a:t>signal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47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6721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B281-2D70-154C-B06B-11AF87365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Deadlock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7CAE1F-654C-A74A-B2F7-B42F6DC3F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Ce se întâmplă dacă uită să folosim signal?</a:t>
            </a:r>
          </a:p>
          <a:p>
            <a:endParaRPr lang="ro-RO" dirty="0"/>
          </a:p>
          <a:p>
            <a:pPr marL="0" indent="0">
              <a:buNone/>
            </a:pPr>
            <a:r>
              <a:rPr lang="ro-RO" dirty="0"/>
              <a:t>Ce se întâmplă dacă folosim de mai multe ori </a:t>
            </a:r>
            <a:r>
              <a:rPr lang="ro-RO" dirty="0" err="1"/>
              <a:t>wait</a:t>
            </a:r>
            <a:r>
              <a:rPr lang="ro-RO" dirty="0"/>
              <a:t> fără signal?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r>
              <a:rPr lang="ro-RO" dirty="0"/>
              <a:t>Ce se întâmplă daca un program se termină fără să apeleze signal?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92864-44A9-B646-8F2C-E488E21D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775669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Uitarea lui signal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...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waits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lot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49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...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69353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 dirty="0"/>
              <a:t>Folosirea lui wait de mai multe ori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m-CH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m-CH" dirty="0">
                <a:solidFill>
                  <a:srgbClr val="008000"/>
                </a:solidFill>
                <a:latin typeface="Menlo" panose="020B0609030804020204" pitchFamily="49" charset="0"/>
              </a:rPr>
              <a:t>// shared variables a and s</a:t>
            </a: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m-CH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m-CH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m-CH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m-CH" dirty="0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m-CH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... waits a lot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m-CH" dirty="0">
                <a:solidFill>
                  <a:srgbClr val="008000"/>
                </a:solidFill>
                <a:latin typeface="Menlo" panose="020B0609030804020204" pitchFamily="49" charset="0"/>
              </a:rPr>
              <a:t>// shared variables a and s</a:t>
            </a: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m-CH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m-CH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m-CH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m-CH" dirty="0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m-CH" dirty="0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m-CH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m-CH" dirty="0">
                <a:solidFill>
                  <a:srgbClr val="000000"/>
                </a:solidFill>
                <a:latin typeface="Menlo" panose="020B0609030804020204" pitchFamily="49" charset="0"/>
              </a:rPr>
              <a:t>...waits a 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50</a:t>
            </a:fld>
            <a:endParaRPr lang="rm-CH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m-CH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m-CH" sz="2200" dirty="0"/>
              <a:t>...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m-CH" sz="22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8476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Oprirea înainte de signal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... </a:t>
            </a:r>
            <a:r>
              <a:rPr lang="ro-RO" dirty="0" err="1">
                <a:solidFill>
                  <a:srgbClr val="000000"/>
                </a:solidFill>
                <a:latin typeface="Menlo" panose="020B0609030804020204" pitchFamily="49" charset="0"/>
              </a:rPr>
              <a:t>waits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lot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wait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51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2004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96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...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9378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eroare</a:t>
            </a:r>
          </a:p>
        </p:txBody>
      </p:sp>
    </p:spTree>
    <p:extLst>
      <p:ext uri="{BB962C8B-B14F-4D97-AF65-F5344CB8AC3E}">
        <p14:creationId xmlns:p14="http://schemas.microsoft.com/office/powerpoint/2010/main" val="317706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24C94F7-D36B-E543-9307-51ACAB32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Mutex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9771CC-59A3-6247-BA72-1D878969E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A49AA-1DC3-6E47-8547-7B9EDA68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545993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9753E2-6E5A-EA4D-AA20-BD82E8AC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Mutex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361D1-0A4B-C345-B68E-9AF08805D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i="1"/>
              <a:t>Mut</a:t>
            </a:r>
            <a:r>
              <a:rPr lang="ro-RO"/>
              <a:t>ual </a:t>
            </a:r>
            <a:r>
              <a:rPr lang="ro-RO" i="1"/>
              <a:t>Ex</a:t>
            </a:r>
            <a:r>
              <a:rPr lang="ro-RO"/>
              <a:t>clusion</a:t>
            </a:r>
          </a:p>
          <a:p>
            <a:endParaRPr lang="ro-RO"/>
          </a:p>
          <a:p>
            <a:r>
              <a:rPr lang="ro-RO"/>
              <a:t>Similar cu un semafor binar</a:t>
            </a:r>
          </a:p>
          <a:p>
            <a:endParaRPr lang="ro-RO"/>
          </a:p>
          <a:p>
            <a:r>
              <a:rPr lang="ro-RO"/>
              <a:t>Utilizat pentru thread-uri (în aceelași proces)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497E2-F1E1-1346-8F2C-8DE44D1F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864800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677D-8314-B047-A4B4-6815683D4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lock și unlock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EF5A1-65EA-4D40-9EBD-B7F3B06C0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m-CH"/>
              <a:t>lock</a:t>
            </a:r>
          </a:p>
          <a:p>
            <a:pPr lvl="1"/>
            <a:r>
              <a:rPr lang="rm-CH"/>
              <a:t>acaparează mutex-ul și reține TID-ul care l-a acaparat</a:t>
            </a:r>
          </a:p>
          <a:p>
            <a:pPr lvl="2"/>
            <a:r>
              <a:rPr lang="rm-CH"/>
              <a:t>funcția lock este re-entrantă</a:t>
            </a:r>
          </a:p>
          <a:p>
            <a:pPr lvl="1"/>
            <a:endParaRPr lang="rm-CH"/>
          </a:p>
          <a:p>
            <a:endParaRPr lang="rm-CH"/>
          </a:p>
          <a:p>
            <a:r>
              <a:rPr lang="rm-CH"/>
              <a:t>unlock </a:t>
            </a:r>
          </a:p>
          <a:p>
            <a:pPr lvl="1"/>
            <a:r>
              <a:rPr lang="rm-CH"/>
              <a:t>eliberează mutex-ul</a:t>
            </a:r>
          </a:p>
          <a:p>
            <a:pPr lvl="2"/>
            <a:r>
              <a:rPr lang="rm-CH"/>
              <a:t>la terminare (thread) mutex-ul este eliberat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10FE9-AB3D-1643-B360-18C9ACC4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54</a:t>
            </a:fld>
            <a:endParaRPr lang="rm-CH"/>
          </a:p>
        </p:txBody>
      </p:sp>
    </p:spTree>
    <p:extLst>
      <p:ext uri="{BB962C8B-B14F-4D97-AF65-F5344CB8AC3E}">
        <p14:creationId xmlns:p14="http://schemas.microsoft.com/office/powerpoint/2010/main" val="22363539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B281-2D70-154C-B06B-11AF87365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Deadlock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7CAE1F-654C-A74A-B2F7-B42F6DC3F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ro-RO"/>
          </a:p>
          <a:p>
            <a:pPr marL="0" indent="0">
              <a:buNone/>
            </a:pPr>
            <a:r>
              <a:rPr lang="ro-RO"/>
              <a:t>Ce se întâmplă dacă uită să folosim unlock?</a:t>
            </a:r>
          </a:p>
          <a:p>
            <a:endParaRPr lang="ro-RO"/>
          </a:p>
          <a:p>
            <a:pPr marL="0" indent="0">
              <a:buNone/>
            </a:pPr>
            <a:r>
              <a:rPr lang="ro-RO"/>
              <a:t>Ce se întâmplă dacă folosim de mai multe ori lock fără unlock?</a:t>
            </a:r>
          </a:p>
          <a:p>
            <a:pPr marL="0" indent="0">
              <a:buNone/>
            </a:pPr>
            <a:endParaRPr lang="ro-RO"/>
          </a:p>
          <a:p>
            <a:pPr marL="0" indent="0">
              <a:buNone/>
            </a:pPr>
            <a:r>
              <a:rPr lang="ro-RO"/>
              <a:t>Ce se întâmplă daca un program se termină fără să apeleze unlock?</a:t>
            </a:r>
          </a:p>
          <a:p>
            <a:pPr marL="0" indent="0">
              <a:buNone/>
            </a:pPr>
            <a:endParaRPr lang="ro-RO"/>
          </a:p>
          <a:p>
            <a:pPr marL="0" indent="0">
              <a:buNone/>
            </a:pPr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92864-44A9-B646-8F2C-E488E21D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976483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Uitarea lui </a:t>
            </a:r>
            <a:r>
              <a:rPr lang="ro-RO" dirty="0" err="1"/>
              <a:t>unlock</a:t>
            </a:r>
            <a:endParaRPr lang="ro-RO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mutex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mutex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795E26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56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124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344489" y="45720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65449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Folosirea lui </a:t>
            </a:r>
            <a:r>
              <a:rPr lang="ro-RO" dirty="0" err="1"/>
              <a:t>lock</a:t>
            </a:r>
            <a:r>
              <a:rPr lang="ro-RO" dirty="0"/>
              <a:t> de mai multe ori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4"/>
            <a:ext cx="4040188" cy="39512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mutex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mutex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57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124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17290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6C42AE-CD96-3147-8DC3-5D707FCB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Oprirea înainte de </a:t>
            </a:r>
            <a:r>
              <a:rPr lang="ro-RO" dirty="0" err="1"/>
              <a:t>unlock</a:t>
            </a:r>
            <a:endParaRPr lang="ro-RO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0033F9-3A57-0C43-B1E4-20E9C5EAC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Proces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0529F8-9CF4-8644-AD9E-878AF34C0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mutex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printf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"%d</a:t>
            </a:r>
            <a:r>
              <a:rPr lang="ro-RO" dirty="0">
                <a:solidFill>
                  <a:srgbClr val="FF0000"/>
                </a:solidFill>
                <a:latin typeface="Menlo" panose="020B0609030804020204" pitchFamily="49" charset="0"/>
              </a:rPr>
              <a:t>\n</a:t>
            </a:r>
            <a:r>
              <a:rPr lang="ro-RO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, a);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7B93E7-0906-5048-B847-D94DC369DD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shared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variables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a </a:t>
            </a:r>
            <a:r>
              <a:rPr lang="ro-RO" dirty="0" err="1">
                <a:solidFill>
                  <a:srgbClr val="008000"/>
                </a:solidFill>
                <a:latin typeface="Menlo" panose="020B0609030804020204" pitchFamily="49" charset="0"/>
              </a:rPr>
              <a:t>and</a:t>
            </a:r>
            <a:r>
              <a:rPr lang="ro-RO" dirty="0">
                <a:solidFill>
                  <a:srgbClr val="008000"/>
                </a:solidFill>
                <a:latin typeface="Menlo" panose="020B0609030804020204" pitchFamily="49" charset="0"/>
              </a:rPr>
              <a:t> s</a:t>
            </a: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0000FF"/>
                </a:solidFill>
                <a:latin typeface="Menlo" panose="020B0609030804020204" pitchFamily="49" charset="0"/>
              </a:rPr>
              <a:t>mutex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s;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(s);</a:t>
            </a:r>
          </a:p>
          <a:p>
            <a:pPr marL="0" indent="0">
              <a:buNone/>
            </a:pPr>
            <a:r>
              <a:rPr lang="ro-RO" dirty="0" err="1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 (a == </a:t>
            </a:r>
            <a:r>
              <a:rPr lang="ro-RO" dirty="0">
                <a:solidFill>
                  <a:srgbClr val="09885A"/>
                </a:solidFill>
                <a:latin typeface="Menlo" panose="020B0609030804020204" pitchFamily="49" charset="0"/>
              </a:rPr>
              <a:t>0</a:t>
            </a: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    a++;</a:t>
            </a:r>
          </a:p>
          <a:p>
            <a:pPr marL="0" indent="0">
              <a:buNone/>
            </a:pPr>
            <a:r>
              <a:rPr lang="ro-RO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ro-RO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4124D-50F8-C64A-856C-E708DC7D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58</a:t>
            </a:fld>
            <a:endParaRPr lang="ro-RO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DA1D7E5-C612-5F45-A743-3280803CA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dirty="0"/>
              <a:t>Proces 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BAC9FD-1E65-534D-B37B-CC44FBC2EF19}"/>
              </a:ext>
            </a:extLst>
          </p:cNvPr>
          <p:cNvCxnSpPr>
            <a:cxnSpLocks/>
          </p:cNvCxnSpPr>
          <p:nvPr/>
        </p:nvCxnSpPr>
        <p:spPr>
          <a:xfrm>
            <a:off x="381000" y="31242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9E5503F-1A6B-AB40-AE48-535A73EEA41C}"/>
              </a:ext>
            </a:extLst>
          </p:cNvPr>
          <p:cNvCxnSpPr>
            <a:cxnSpLocks/>
          </p:cNvCxnSpPr>
          <p:nvPr/>
        </p:nvCxnSpPr>
        <p:spPr>
          <a:xfrm>
            <a:off x="419100" y="4495800"/>
            <a:ext cx="830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0BBB28-C859-3245-9244-54C0E57500FA}"/>
              </a:ext>
            </a:extLst>
          </p:cNvPr>
          <p:cNvSpPr txBox="1"/>
          <p:nvPr/>
        </p:nvSpPr>
        <p:spPr>
          <a:xfrm>
            <a:off x="2308142" y="62714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49D3E5-289C-AE43-87D0-B137BB833891}"/>
              </a:ext>
            </a:extLst>
          </p:cNvPr>
          <p:cNvSpPr txBox="1"/>
          <p:nvPr/>
        </p:nvSpPr>
        <p:spPr>
          <a:xfrm>
            <a:off x="5852272" y="6224332"/>
            <a:ext cx="93782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200" dirty="0"/>
              <a:t>eroare</a:t>
            </a:r>
          </a:p>
        </p:txBody>
      </p:sp>
    </p:spTree>
    <p:extLst>
      <p:ext uri="{BB962C8B-B14F-4D97-AF65-F5344CB8AC3E}">
        <p14:creationId xmlns:p14="http://schemas.microsoft.com/office/powerpoint/2010/main" val="134117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D4BD-8868-F54A-969C-CAF775508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err="1"/>
              <a:t>Spinlock</a:t>
            </a:r>
            <a:r>
              <a:rPr lang="ro-RO" dirty="0"/>
              <a:t> </a:t>
            </a:r>
            <a:r>
              <a:rPr lang="ro-RO" dirty="0" err="1"/>
              <a:t>vs</a:t>
            </a:r>
            <a:r>
              <a:rPr lang="ro-RO" dirty="0"/>
              <a:t> semafor/</a:t>
            </a:r>
            <a:r>
              <a:rPr lang="ro-RO" dirty="0" err="1"/>
              <a:t>mutex</a:t>
            </a:r>
            <a:endParaRPr lang="ro-R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D7CD78-EBE8-5247-965F-E5280A490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Spinlock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CE38E78-122C-094A-99F1-50B1C8FDFC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o-RO" dirty="0">
                <a:solidFill>
                  <a:srgbClr val="92D050"/>
                </a:solidFill>
              </a:rPr>
              <a:t>Implementat în </a:t>
            </a:r>
            <a:r>
              <a:rPr lang="ro-RO" dirty="0" err="1">
                <a:solidFill>
                  <a:srgbClr val="92D050"/>
                </a:solidFill>
              </a:rPr>
              <a:t>user</a:t>
            </a:r>
            <a:r>
              <a:rPr lang="ro-RO" dirty="0">
                <a:solidFill>
                  <a:srgbClr val="92D050"/>
                </a:solidFill>
              </a:rPr>
              <a:t> </a:t>
            </a:r>
            <a:r>
              <a:rPr lang="ro-RO" dirty="0" err="1">
                <a:solidFill>
                  <a:srgbClr val="92D050"/>
                </a:solidFill>
              </a:rPr>
              <a:t>space</a:t>
            </a:r>
            <a:endParaRPr lang="ro-RO" dirty="0">
              <a:solidFill>
                <a:srgbClr val="92D050"/>
              </a:solidFill>
            </a:endParaRPr>
          </a:p>
          <a:p>
            <a:r>
              <a:rPr lang="ro-RO" dirty="0" err="1">
                <a:solidFill>
                  <a:srgbClr val="FF0000"/>
                </a:solidFill>
              </a:rPr>
              <a:t>Busy</a:t>
            </a:r>
            <a:r>
              <a:rPr lang="ro-RO" dirty="0">
                <a:solidFill>
                  <a:srgbClr val="FF0000"/>
                </a:solidFill>
              </a:rPr>
              <a:t> </a:t>
            </a:r>
            <a:r>
              <a:rPr lang="ro-RO" dirty="0" err="1">
                <a:solidFill>
                  <a:srgbClr val="FF0000"/>
                </a:solidFill>
              </a:rPr>
              <a:t>waiting</a:t>
            </a:r>
            <a:endParaRPr lang="ro-RO" dirty="0">
              <a:solidFill>
                <a:srgbClr val="FF0000"/>
              </a:solidFill>
            </a:endParaRPr>
          </a:p>
          <a:p>
            <a:r>
              <a:rPr lang="ro-RO" dirty="0">
                <a:solidFill>
                  <a:srgbClr val="FF0000"/>
                </a:solidFill>
              </a:rPr>
              <a:t>Uitarea lui </a:t>
            </a:r>
            <a:r>
              <a:rPr lang="ro-RO" dirty="0" err="1">
                <a:solidFill>
                  <a:srgbClr val="FF0000"/>
                </a:solidFill>
              </a:rPr>
              <a:t>unlock</a:t>
            </a:r>
            <a:endParaRPr lang="ro-RO" dirty="0">
              <a:solidFill>
                <a:srgbClr val="FF0000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CF22A3-F882-C048-BBD0-FCB92FF74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Semafor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0EC4CB7-711B-2549-989E-FCC0B06167D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o-RO">
                <a:solidFill>
                  <a:srgbClr val="FF0000"/>
                </a:solidFill>
              </a:rPr>
              <a:t>Implementat în kernel</a:t>
            </a:r>
          </a:p>
          <a:p>
            <a:r>
              <a:rPr lang="ro-RO">
                <a:solidFill>
                  <a:srgbClr val="92D050"/>
                </a:solidFill>
              </a:rPr>
              <a:t>Blochează procese</a:t>
            </a:r>
          </a:p>
          <a:p>
            <a:r>
              <a:rPr lang="ro-RO">
                <a:solidFill>
                  <a:srgbClr val="FFC000"/>
                </a:solidFill>
              </a:rPr>
              <a:t>Uitarea lui notify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D748A-F416-B548-BFC1-AB3A10A7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231349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41C5-213D-374B-96A1-BCCE44FCC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Sincronizarea în Java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2921FD-FBE7-FC48-BBD7-17F9E9FB0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class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Run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private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Object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public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synchronized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runAlone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run some work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b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public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267F99"/>
                </a:solidFill>
                <a:latin typeface="Menlo" panose="020B0609030804020204" pitchFamily="49" charset="0"/>
              </a:rPr>
              <a:t>void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ro-RO">
                <a:solidFill>
                  <a:srgbClr val="795E26"/>
                </a:solidFill>
                <a:latin typeface="Menlo" panose="020B0609030804020204" pitchFamily="49" charset="0"/>
              </a:rPr>
              <a:t>run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</a:t>
            </a:r>
            <a:r>
              <a:rPr lang="ro-RO">
                <a:solidFill>
                  <a:srgbClr val="0000FF"/>
                </a:solidFill>
                <a:latin typeface="Menlo" panose="020B0609030804020204" pitchFamily="49" charset="0"/>
              </a:rPr>
              <a:t>synchronized</a:t>
            </a: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 (a)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{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    </a:t>
            </a:r>
            <a:r>
              <a:rPr lang="ro-RO">
                <a:solidFill>
                  <a:srgbClr val="008000"/>
                </a:solidFill>
                <a:latin typeface="Menlo" panose="020B0609030804020204" pitchFamily="49" charset="0"/>
              </a:rPr>
              <a:t>// run some work using the variable a</a:t>
            </a:r>
            <a:endParaRPr lang="ro-RO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    }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    }</a:t>
            </a:r>
          </a:p>
          <a:p>
            <a:pPr marL="0" indent="0">
              <a:buNone/>
            </a:pPr>
            <a:r>
              <a:rPr lang="ro-RO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9338E-17E8-6646-B947-C7E7B3A5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602183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2318-C392-284C-AEDB-A28E1018A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Producător / Consumator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2F511-C47F-C648-B57A-5D01025E7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zonă comună partajată</a:t>
            </a:r>
          </a:p>
          <a:p>
            <a:pPr lvl="1"/>
            <a:r>
              <a:rPr lang="ro-RO"/>
              <a:t>unul sau mai mulți scriitori (producători) </a:t>
            </a:r>
          </a:p>
          <a:p>
            <a:pPr lvl="1"/>
            <a:r>
              <a:rPr lang="ro-RO"/>
              <a:t>unul sau mai mulți cititori (consumatori) </a:t>
            </a:r>
          </a:p>
          <a:p>
            <a:pPr lvl="1"/>
            <a:r>
              <a:rPr lang="ro-RO"/>
              <a:t>buffer/zonă cu mai multe celule </a:t>
            </a:r>
          </a:p>
          <a:p>
            <a:pPr lvl="2"/>
            <a:r>
              <a:rPr lang="ro-RO"/>
              <a:t>diferență de viteză producători/consumatori </a:t>
            </a:r>
          </a:p>
          <a:p>
            <a:pPr lvl="2"/>
            <a:r>
              <a:rPr lang="ro-RO"/>
              <a:t>networking, I/O, message passing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5CC63-E7A5-094C-8D47-1FC61337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77890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572B-4910-EB43-B09D-2D18AA75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Buffer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233C5A-A4A6-1E4C-AA20-61555D892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5600" y="2264392"/>
            <a:ext cx="3352800" cy="319757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C5C5F-D537-3044-B62B-CE237CAE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4C6E70-82BC-F048-91E8-1CD737ECEDC4}"/>
              </a:ext>
            </a:extLst>
          </p:cNvPr>
          <p:cNvSpPr/>
          <p:nvPr/>
        </p:nvSpPr>
        <p:spPr>
          <a:xfrm>
            <a:off x="2590801" y="568180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blog.grijjy.com</a:t>
            </a:r>
            <a:r>
              <a:rPr lang="en-US" dirty="0"/>
              <a:t>/2017/01/12/expand-your-collections-collection-part-2-a-generic-ring-buffer/</a:t>
            </a:r>
          </a:p>
        </p:txBody>
      </p:sp>
    </p:spTree>
    <p:extLst>
      <p:ext uri="{BB962C8B-B14F-4D97-AF65-F5344CB8AC3E}">
        <p14:creationId xmlns:p14="http://schemas.microsoft.com/office/powerpoint/2010/main" val="36143742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572B-4910-EB43-B09D-2D18AA75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Consumare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233C5A-A4A6-1E4C-AA20-61555D892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95600" y="2436770"/>
            <a:ext cx="3352800" cy="285282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C5C5F-D537-3044-B62B-CE237CAE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63</a:t>
            </a:fld>
            <a:endParaRPr lang="ro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176FA0-62B7-5147-B03E-1AA61784A947}"/>
              </a:ext>
            </a:extLst>
          </p:cNvPr>
          <p:cNvSpPr/>
          <p:nvPr/>
        </p:nvSpPr>
        <p:spPr>
          <a:xfrm>
            <a:off x="2590801" y="568180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blog.grijjy.com</a:t>
            </a:r>
            <a:r>
              <a:rPr lang="en-US" dirty="0"/>
              <a:t>/2017/01/12/expand-your-collections-collection-part-2-a-generic-ring-buffer/</a:t>
            </a:r>
          </a:p>
        </p:txBody>
      </p:sp>
    </p:spTree>
    <p:extLst>
      <p:ext uri="{BB962C8B-B14F-4D97-AF65-F5344CB8AC3E}">
        <p14:creationId xmlns:p14="http://schemas.microsoft.com/office/powerpoint/2010/main" val="25249207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572B-4910-EB43-B09D-2D18AA75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Producere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5233C5A-A4A6-1E4C-AA20-61555D892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0" y="2133600"/>
            <a:ext cx="3352800" cy="320312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C5C5F-D537-3044-B62B-CE237CAE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64</a:t>
            </a:fld>
            <a:endParaRPr lang="ro-RO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CF9723-2ED2-944D-A34C-4A0B1DEFA583}"/>
              </a:ext>
            </a:extLst>
          </p:cNvPr>
          <p:cNvSpPr/>
          <p:nvPr/>
        </p:nvSpPr>
        <p:spPr>
          <a:xfrm>
            <a:off x="2590801" y="568180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blog.grijjy.com</a:t>
            </a:r>
            <a:r>
              <a:rPr lang="en-US" dirty="0"/>
              <a:t>/2017/01/12/expand-your-collections-collection-part-2-a-generic-ring-buffer/</a:t>
            </a:r>
          </a:p>
        </p:txBody>
      </p:sp>
    </p:spTree>
    <p:extLst>
      <p:ext uri="{BB962C8B-B14F-4D97-AF65-F5344CB8AC3E}">
        <p14:creationId xmlns:p14="http://schemas.microsoft.com/office/powerpoint/2010/main" val="331025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BA5FA-3307-4B4B-95ED-48BD2EB4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Producător / Consumator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1BC58F-1892-9840-849A-C6AC684D8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Producător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15AB97-8295-BC4C-B588-FC9B3CBB9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14799" cy="3951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(mutex);</a:t>
            </a:r>
          </a:p>
          <a:p>
            <a:pPr marL="0" indent="0">
              <a:buNone/>
            </a:pPr>
            <a:r>
              <a:rPr lang="ro-RO" sz="14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is_buffer_full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()) </a:t>
            </a:r>
          </a:p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   wait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(buffer_not_full,mutex); </a:t>
            </a:r>
          </a:p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produce_item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(); </a:t>
            </a:r>
          </a:p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signal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(buffer_not_empty); </a:t>
            </a:r>
          </a:p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(mutex);</a:t>
            </a:r>
          </a:p>
          <a:p>
            <a:pPr marL="0" indent="0">
              <a:buNone/>
            </a:pPr>
            <a:endParaRPr lang="ro-RO" sz="14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6D6313-CA77-FC47-9458-6062F4FDE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/>
              <a:t>Consumator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E6DFF0-82C6-7A49-8F91-81128798C3C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lock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(mutex); </a:t>
            </a:r>
          </a:p>
          <a:p>
            <a:pPr marL="0" indent="0">
              <a:buNone/>
            </a:pPr>
            <a:r>
              <a:rPr lang="ro-RO" sz="140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is_buffer_empty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()) </a:t>
            </a:r>
          </a:p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    wait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(buffer_not_empty, mutex); </a:t>
            </a:r>
          </a:p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consume_item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(); </a:t>
            </a:r>
          </a:p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signal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(buffer_not_full); </a:t>
            </a:r>
          </a:p>
          <a:p>
            <a:pPr marL="0" indent="0">
              <a:buNone/>
            </a:pPr>
            <a:r>
              <a:rPr lang="ro-RO" sz="1400">
                <a:solidFill>
                  <a:srgbClr val="795E26"/>
                </a:solidFill>
                <a:latin typeface="Menlo" panose="020B0609030804020204" pitchFamily="49" charset="0"/>
              </a:rPr>
              <a:t>unlock</a:t>
            </a:r>
            <a:r>
              <a:rPr lang="ro-RO" sz="1400">
                <a:solidFill>
                  <a:srgbClr val="000000"/>
                </a:solidFill>
                <a:latin typeface="Menlo" panose="020B0609030804020204" pitchFamily="49" charset="0"/>
              </a:rPr>
              <a:t>(mutex);</a:t>
            </a:r>
          </a:p>
          <a:p>
            <a:pPr marL="0" indent="0">
              <a:buNone/>
            </a:pPr>
            <a:endParaRPr lang="ro-RO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8B925-5EB7-5947-843F-D368193E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909421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F27D-D362-F346-BF94-228B6074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Sincronizare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E5126B-C5EF-C241-AF25-102460A4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o-RO" dirty="0"/>
              <a:t>necesită suport hardware </a:t>
            </a:r>
          </a:p>
          <a:p>
            <a:pPr lvl="1"/>
            <a:r>
              <a:rPr lang="ro-RO" dirty="0"/>
              <a:t>test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lock</a:t>
            </a:r>
            <a:r>
              <a:rPr lang="ro-RO" dirty="0"/>
              <a:t> / compare </a:t>
            </a:r>
            <a:r>
              <a:rPr lang="ro-RO" dirty="0" err="1"/>
              <a:t>and</a:t>
            </a:r>
            <a:r>
              <a:rPr lang="ro-RO" dirty="0"/>
              <a:t> </a:t>
            </a:r>
            <a:r>
              <a:rPr lang="ro-RO" dirty="0" err="1"/>
              <a:t>swap</a:t>
            </a:r>
            <a:r>
              <a:rPr lang="ro-RO" dirty="0"/>
              <a:t> (TSL/CAS) </a:t>
            </a:r>
          </a:p>
          <a:p>
            <a:pPr lvl="1"/>
            <a:endParaRPr lang="ro-RO" dirty="0"/>
          </a:p>
          <a:p>
            <a:r>
              <a:rPr lang="ro-RO" dirty="0"/>
              <a:t>acces exclusiv / serial </a:t>
            </a:r>
          </a:p>
          <a:p>
            <a:pPr lvl="1"/>
            <a:r>
              <a:rPr lang="ro-RO" dirty="0" err="1"/>
              <a:t>spinlock</a:t>
            </a:r>
            <a:r>
              <a:rPr lang="ro-RO" dirty="0"/>
              <a:t> </a:t>
            </a:r>
          </a:p>
          <a:p>
            <a:pPr lvl="1"/>
            <a:r>
              <a:rPr lang="ro-RO" dirty="0" err="1"/>
              <a:t>mutex</a:t>
            </a:r>
            <a:r>
              <a:rPr lang="ro-RO" dirty="0"/>
              <a:t> </a:t>
            </a:r>
          </a:p>
          <a:p>
            <a:pPr lvl="1"/>
            <a:endParaRPr lang="ro-RO" dirty="0"/>
          </a:p>
          <a:p>
            <a:r>
              <a:rPr lang="ro-RO" dirty="0" err="1"/>
              <a:t>secvențiere</a:t>
            </a:r>
            <a:r>
              <a:rPr lang="ro-RO" dirty="0"/>
              <a:t> / determinism / ordonare </a:t>
            </a:r>
          </a:p>
          <a:p>
            <a:pPr lvl="1"/>
            <a:r>
              <a:rPr lang="ro-RO" dirty="0"/>
              <a:t>semafoare </a:t>
            </a:r>
          </a:p>
          <a:p>
            <a:pPr lvl="2"/>
            <a:r>
              <a:rPr lang="ro-RO" dirty="0"/>
              <a:t>cozi de așteptare </a:t>
            </a:r>
          </a:p>
          <a:p>
            <a:pPr lvl="1"/>
            <a:r>
              <a:rPr lang="ro-RO" dirty="0"/>
              <a:t>variabile condiție </a:t>
            </a:r>
          </a:p>
          <a:p>
            <a:pPr lvl="1"/>
            <a:r>
              <a:rPr lang="ro-RO" dirty="0"/>
              <a:t>monitoare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04384-D0AF-9747-8505-2A24E570F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025422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6B73-C1D8-6E4E-960E-A5F8AEE19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Cuvinte cheie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A09-3FE2-C24B-BBE4-875AD97C2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>
            <a:normAutofit fontScale="85000" lnSpcReduction="20000"/>
          </a:bodyPr>
          <a:lstStyle/>
          <a:p>
            <a:r>
              <a:rPr lang="ro-RO"/>
              <a:t>sincronizare </a:t>
            </a:r>
          </a:p>
          <a:p>
            <a:r>
              <a:rPr lang="ro-RO"/>
              <a:t>multi core </a:t>
            </a:r>
          </a:p>
          <a:p>
            <a:r>
              <a:rPr lang="ro-RO"/>
              <a:t>determinism </a:t>
            </a:r>
          </a:p>
          <a:p>
            <a:r>
              <a:rPr lang="ro-RO"/>
              <a:t>condiție de cursă</a:t>
            </a:r>
          </a:p>
          <a:p>
            <a:r>
              <a:rPr lang="ro-RO"/>
              <a:t>TOCTOU </a:t>
            </a:r>
          </a:p>
          <a:p>
            <a:r>
              <a:rPr lang="ro-RO"/>
              <a:t>acces exclusiv </a:t>
            </a:r>
          </a:p>
          <a:p>
            <a:r>
              <a:rPr lang="ro-RO"/>
              <a:t>busy waiting</a:t>
            </a:r>
          </a:p>
          <a:p>
            <a:r>
              <a:rPr lang="ro-RO"/>
              <a:t>variabilă de condiție </a:t>
            </a:r>
          </a:p>
          <a:p>
            <a:r>
              <a:rPr lang="ro-RO"/>
              <a:t>secvențiere </a:t>
            </a:r>
          </a:p>
          <a:p>
            <a:r>
              <a:rPr lang="ro-RO"/>
              <a:t>acțiuni atomice </a:t>
            </a:r>
          </a:p>
          <a:p>
            <a:r>
              <a:rPr lang="ro-RO"/>
              <a:t>mutex </a:t>
            </a:r>
          </a:p>
          <a:p>
            <a:r>
              <a:rPr lang="ro-RO"/>
              <a:t>spinlock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0EF27B-A32E-9D4E-80A0-865F8996C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600201"/>
            <a:ext cx="4038600" cy="4525963"/>
          </a:xfrm>
        </p:spPr>
        <p:txBody>
          <a:bodyPr>
            <a:normAutofit fontScale="85000" lnSpcReduction="20000"/>
          </a:bodyPr>
          <a:lstStyle/>
          <a:p>
            <a:r>
              <a:rPr lang="ro-RO"/>
              <a:t>TSL (test and lock)</a:t>
            </a:r>
          </a:p>
          <a:p>
            <a:r>
              <a:rPr lang="ro-RO"/>
              <a:t>CAS (compare and swap) </a:t>
            </a:r>
          </a:p>
          <a:p>
            <a:r>
              <a:rPr lang="ro-RO"/>
              <a:t>cmpxchg</a:t>
            </a:r>
          </a:p>
          <a:p>
            <a:r>
              <a:rPr lang="ro-RO"/>
              <a:t>lock</a:t>
            </a:r>
          </a:p>
          <a:p>
            <a:r>
              <a:rPr lang="ro-RO"/>
              <a:t>unlock</a:t>
            </a:r>
          </a:p>
          <a:p>
            <a:r>
              <a:rPr lang="ro-RO"/>
              <a:t>signal </a:t>
            </a:r>
          </a:p>
          <a:p>
            <a:r>
              <a:rPr lang="ro-RO"/>
              <a:t>wait </a:t>
            </a:r>
          </a:p>
          <a:p>
            <a:r>
              <a:rPr lang="ro-RO"/>
              <a:t>locking pe magistrală</a:t>
            </a:r>
          </a:p>
          <a:p>
            <a:r>
              <a:rPr lang="ro-RO"/>
              <a:t>per-cpu variables </a:t>
            </a:r>
          </a:p>
          <a:p>
            <a:r>
              <a:rPr lang="ro-RO"/>
              <a:t>ring buffer </a:t>
            </a:r>
          </a:p>
          <a:p>
            <a:r>
              <a:rPr lang="ro-RO"/>
              <a:t>producător-consumator </a:t>
            </a:r>
          </a:p>
          <a:p>
            <a:r>
              <a:rPr lang="ro-RO"/>
              <a:t>overhead de sincronizare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111B-0DD8-2549-A040-29FA546D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7038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68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428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14293</TotalTime>
  <Words>2909</Words>
  <Application>Microsoft Macintosh PowerPoint</Application>
  <PresentationFormat>On-screen Show (4:3)</PresentationFormat>
  <Paragraphs>1048</Paragraphs>
  <Slides>68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Arial</vt:lpstr>
      <vt:lpstr>Calibri</vt:lpstr>
      <vt:lpstr>Menlo</vt:lpstr>
      <vt:lpstr>Office Theme</vt:lpstr>
      <vt:lpstr>Sisteme de operare</vt:lpstr>
      <vt:lpstr>Cuprins</vt:lpstr>
      <vt:lpstr>Bibliografie</vt:lpstr>
      <vt:lpstr>Sincronizare</vt:lpstr>
      <vt:lpstr>Primitive de sincronizare</vt:lpstr>
      <vt:lpstr>Cursa</vt:lpstr>
      <vt:lpstr>Cursa</vt:lpstr>
      <vt:lpstr>Cursa – varianta secvențială</vt:lpstr>
      <vt:lpstr>Cursa – varianta intercalată</vt:lpstr>
      <vt:lpstr>Cursa – varianta corectă</vt:lpstr>
      <vt:lpstr>Zona critică</vt:lpstr>
      <vt:lpstr>Acțiuni atomice</vt:lpstr>
      <vt:lpstr>Exemplu</vt:lpstr>
      <vt:lpstr>Exemplu – x86-64</vt:lpstr>
      <vt:lpstr>Exemplu – ARM</vt:lpstr>
      <vt:lpstr>Instrucțiuni pentru sincronizare</vt:lpstr>
      <vt:lpstr>Test and set / Compare and swap</vt:lpstr>
      <vt:lpstr>Instrucțiune pentru sincronizare</vt:lpstr>
      <vt:lpstr>Instrucțiune pentru sincronizare</vt:lpstr>
      <vt:lpstr>Primitive cod atomic</vt:lpstr>
      <vt:lpstr>Spinlock</vt:lpstr>
      <vt:lpstr>Spinlock</vt:lpstr>
      <vt:lpstr>Spinlock x86</vt:lpstr>
      <vt:lpstr>Spinlock</vt:lpstr>
      <vt:lpstr>Spinlock x86</vt:lpstr>
      <vt:lpstr>lock și unlock</vt:lpstr>
      <vt:lpstr>lock și unlock</vt:lpstr>
      <vt:lpstr>Exemplu</vt:lpstr>
      <vt:lpstr>Exemplu</vt:lpstr>
      <vt:lpstr>Deadlock</vt:lpstr>
      <vt:lpstr>Uitarea lui unlock</vt:lpstr>
      <vt:lpstr>Folosirea lui de lock mai multe ori</vt:lpstr>
      <vt:lpstr>Oprirea înainte de unlock</vt:lpstr>
      <vt:lpstr>Semafor</vt:lpstr>
      <vt:lpstr>Spinlock</vt:lpstr>
      <vt:lpstr>Busy Waiting</vt:lpstr>
      <vt:lpstr>Stările proceselor</vt:lpstr>
      <vt:lpstr>Stările proceselor</vt:lpstr>
      <vt:lpstr>Semafor</vt:lpstr>
      <vt:lpstr>Funcțiile semaforului</vt:lpstr>
      <vt:lpstr>Variabilă de condiție</vt:lpstr>
      <vt:lpstr>Stările proceselor</vt:lpstr>
      <vt:lpstr>Funcționarea semaforului</vt:lpstr>
      <vt:lpstr>Tipuri de semafoare</vt:lpstr>
      <vt:lpstr>Semafor binar</vt:lpstr>
      <vt:lpstr>Exemplu</vt:lpstr>
      <vt:lpstr>Exemplu</vt:lpstr>
      <vt:lpstr>Deadlock</vt:lpstr>
      <vt:lpstr>Uitarea lui signal</vt:lpstr>
      <vt:lpstr>Folosirea lui wait de mai multe ori</vt:lpstr>
      <vt:lpstr>Oprirea înainte de signal</vt:lpstr>
      <vt:lpstr>Mutex</vt:lpstr>
      <vt:lpstr>Mutex</vt:lpstr>
      <vt:lpstr>lock și unlock</vt:lpstr>
      <vt:lpstr>Deadlock</vt:lpstr>
      <vt:lpstr>Uitarea lui unlock</vt:lpstr>
      <vt:lpstr>Folosirea lui lock de mai multe ori</vt:lpstr>
      <vt:lpstr>Oprirea înainte de unlock</vt:lpstr>
      <vt:lpstr>Spinlock vs semafor/mutex</vt:lpstr>
      <vt:lpstr>Sincronizarea în Java</vt:lpstr>
      <vt:lpstr>Producător / Consumator</vt:lpstr>
      <vt:lpstr>Buffer</vt:lpstr>
      <vt:lpstr>Consumare</vt:lpstr>
      <vt:lpstr>Producere</vt:lpstr>
      <vt:lpstr>Producător / Consumator</vt:lpstr>
      <vt:lpstr>Sincronizare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1493</cp:revision>
  <cp:lastPrinted>2020-04-27T10:10:11Z</cp:lastPrinted>
  <dcterms:created xsi:type="dcterms:W3CDTF">2010-02-23T11:53:40Z</dcterms:created>
  <dcterms:modified xsi:type="dcterms:W3CDTF">2022-05-10T10:47:32Z</dcterms:modified>
</cp:coreProperties>
</file>