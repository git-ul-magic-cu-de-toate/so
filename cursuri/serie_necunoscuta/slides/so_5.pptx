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57" r:id="rId2"/>
    <p:sldId id="403" r:id="rId3"/>
    <p:sldId id="466" r:id="rId4"/>
    <p:sldId id="585" r:id="rId5"/>
    <p:sldId id="586" r:id="rId6"/>
    <p:sldId id="584" r:id="rId7"/>
    <p:sldId id="486" r:id="rId8"/>
    <p:sldId id="286" r:id="rId9"/>
    <p:sldId id="541" r:id="rId10"/>
    <p:sldId id="542" r:id="rId11"/>
    <p:sldId id="543" r:id="rId12"/>
    <p:sldId id="545" r:id="rId13"/>
    <p:sldId id="546" r:id="rId14"/>
    <p:sldId id="547" r:id="rId15"/>
    <p:sldId id="544" r:id="rId16"/>
    <p:sldId id="583" r:id="rId17"/>
    <p:sldId id="540" r:id="rId18"/>
    <p:sldId id="548" r:id="rId19"/>
    <p:sldId id="549" r:id="rId20"/>
    <p:sldId id="550" r:id="rId21"/>
    <p:sldId id="552" r:id="rId22"/>
    <p:sldId id="551" r:id="rId23"/>
    <p:sldId id="553" r:id="rId24"/>
    <p:sldId id="554" r:id="rId25"/>
    <p:sldId id="555" r:id="rId26"/>
    <p:sldId id="556" r:id="rId27"/>
    <p:sldId id="557" r:id="rId28"/>
    <p:sldId id="558" r:id="rId29"/>
    <p:sldId id="559" r:id="rId30"/>
    <p:sldId id="562" r:id="rId31"/>
    <p:sldId id="560" r:id="rId32"/>
    <p:sldId id="561" r:id="rId33"/>
    <p:sldId id="563" r:id="rId34"/>
    <p:sldId id="564" r:id="rId35"/>
    <p:sldId id="565" r:id="rId36"/>
    <p:sldId id="566" r:id="rId37"/>
    <p:sldId id="567" r:id="rId38"/>
    <p:sldId id="568" r:id="rId39"/>
    <p:sldId id="571" r:id="rId40"/>
    <p:sldId id="569" r:id="rId41"/>
    <p:sldId id="570" r:id="rId42"/>
    <p:sldId id="572" r:id="rId43"/>
    <p:sldId id="573" r:id="rId44"/>
    <p:sldId id="574" r:id="rId45"/>
    <p:sldId id="575" r:id="rId46"/>
    <p:sldId id="576" r:id="rId47"/>
    <p:sldId id="577" r:id="rId48"/>
    <p:sldId id="578" r:id="rId49"/>
    <p:sldId id="579" r:id="rId50"/>
    <p:sldId id="580" r:id="rId51"/>
    <p:sldId id="581" r:id="rId52"/>
    <p:sldId id="582" r:id="rId53"/>
    <p:sldId id="483" r:id="rId54"/>
    <p:sldId id="267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14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46" autoAdjust="0"/>
    <p:restoredTop sz="85087" autoAdjust="0"/>
  </p:normalViewPr>
  <p:slideViewPr>
    <p:cSldViewPr>
      <p:cViewPr varScale="1">
        <p:scale>
          <a:sx n="110" d="100"/>
          <a:sy n="110" d="100"/>
        </p:scale>
        <p:origin x="200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8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18"/>
    </p:cViewPr>
  </p:sorterViewPr>
  <p:notesViewPr>
    <p:cSldViewPr>
      <p:cViewPr varScale="1">
        <p:scale>
          <a:sx n="69" d="100"/>
          <a:sy n="69" d="100"/>
        </p:scale>
        <p:origin x="-2790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1A42E-C745-4D52-ACD7-4CA427CF4F78}" type="datetimeFigureOut">
              <a:rPr lang="en-US" smtClean="0"/>
              <a:pPr/>
              <a:t>3/16/20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0CB2F-E359-427D-B4C1-80D122151B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10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110FA-B3C3-4C93-B177-7D383B68ACCB}" type="datetimeFigureOut">
              <a:rPr lang="en-US" smtClean="0"/>
              <a:pPr/>
              <a:t>3/16/20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096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191000"/>
            <a:ext cx="54864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301EB-536E-459D-BF26-B7AF0B3C1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5981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381000"/>
            <a:ext cx="48768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468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923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017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400" y="2438400"/>
            <a:ext cx="4648200" cy="106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600" y="3886200"/>
            <a:ext cx="4495800" cy="533400"/>
          </a:xfrm>
        </p:spPr>
        <p:txBody>
          <a:bodyPr>
            <a:no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E80A-9FA1-D94C-9AC8-2DFDB75B3324}" type="datetime1">
              <a:rPr lang="ro-RO" smtClean="0"/>
              <a:t>16.03.2020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81000" y="1828800"/>
            <a:ext cx="3352800" cy="3276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162800" cy="5635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69270-5514-9246-900B-ED888FCCAE8F}" type="datetime1">
              <a:rPr lang="ro-RO" smtClean="0"/>
              <a:t>16.03.2020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3BC7-FB55-9845-80D6-BD0683244A6F}" type="datetime1">
              <a:rPr lang="ro-RO" smtClean="0"/>
              <a:t>16.03.2020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D13-A941-B64F-A884-37CF169C52DA}" type="datetime1">
              <a:rPr lang="ro-RO" smtClean="0"/>
              <a:t>16.03.2020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D384-E5A5-3B4C-AD13-366CF706A15D}" type="datetime1">
              <a:rPr lang="ro-RO" smtClean="0"/>
              <a:t>16.03.2020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910C-8865-0A4C-AE0D-9CBC416F8CC4}" type="datetime1">
              <a:rPr lang="ro-RO" smtClean="0"/>
              <a:t>16.03.2020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3ABE3-8843-4443-8D05-18EF7E1F058A}" type="datetime1">
              <a:rPr lang="ro-RO" smtClean="0"/>
              <a:t>16.03.2020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43F9-D243-B946-B36A-E4C465AE7595}" type="datetime1">
              <a:rPr lang="ro-RO" smtClean="0"/>
              <a:t>16.03.2020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F6018-3745-8847-AB04-EDAB368A0BAF}" type="datetime1">
              <a:rPr lang="ro-RO" smtClean="0"/>
              <a:t>16.03.2020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83E6-3D2B-B144-96B3-0591C89AACD2}" type="datetime1">
              <a:rPr lang="ro-RO" smtClean="0"/>
              <a:t>16.03.2020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5110F-C4CB-6649-9BAC-7584921789EB}" type="datetime1">
              <a:rPr lang="ro-RO" smtClean="0"/>
              <a:t>16.03.2020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7467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70BE0-75C7-0E48-86F9-13113292EB8F}" type="datetime1">
              <a:rPr lang="ro-RO" smtClean="0"/>
              <a:t>16.03.2020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499DE6-865C-8F49-845D-89F89C77661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74646" y="152400"/>
            <a:ext cx="905346" cy="4363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00000"/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FFC000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B050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o-RO" b="1"/>
              <a:t>Sisteme de operare</a:t>
            </a:r>
            <a:endParaRPr lang="ro-RO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/>
              <a:t>Gestiunea memoriei</a:t>
            </a:r>
          </a:p>
        </p:txBody>
      </p:sp>
      <p:pic>
        <p:nvPicPr>
          <p:cNvPr id="11" name="Picture Placeholder 4">
            <a:extLst>
              <a:ext uri="{FF2B5EF4-FFF2-40B4-BE49-F238E27FC236}">
                <a16:creationId xmlns:a16="http://schemas.microsoft.com/office/drawing/2014/main" id="{AED628B3-2EF3-4141-8AAF-9C1297B95C3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268" b="-51268"/>
          <a:stretch/>
        </p:blipFill>
        <p:spPr/>
      </p:pic>
    </p:spTree>
    <p:extLst>
      <p:ext uri="{BB962C8B-B14F-4D97-AF65-F5344CB8AC3E}">
        <p14:creationId xmlns:p14="http://schemas.microsoft.com/office/powerpoint/2010/main" val="1505175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572000" cy="4525963"/>
          </a:xfrm>
        </p:spPr>
        <p:txBody>
          <a:bodyPr>
            <a:normAutofit/>
          </a:bodyPr>
          <a:lstStyle/>
          <a:p>
            <a:r>
              <a:rPr lang="ro-RO"/>
              <a:t>Memorie</a:t>
            </a:r>
          </a:p>
          <a:p>
            <a:r>
              <a:rPr lang="ro-RO"/>
              <a:t>Adresă de memorie</a:t>
            </a:r>
          </a:p>
          <a:p>
            <a:r>
              <a:rPr lang="ro-RO"/>
              <a:t>Spațiul de adresare</a:t>
            </a:r>
          </a:p>
          <a:p>
            <a:r>
              <a:rPr lang="ro-RO"/>
              <a:t>Protecție memoriei</a:t>
            </a:r>
          </a:p>
          <a:p>
            <a:pPr lvl="1"/>
            <a:r>
              <a:rPr lang="ro-RO"/>
              <a:t>Alocare contiguă</a:t>
            </a:r>
          </a:p>
          <a:p>
            <a:pPr lvl="1"/>
            <a:r>
              <a:rPr lang="ro-RO"/>
              <a:t>Segmentare</a:t>
            </a:r>
          </a:p>
          <a:p>
            <a:pPr lvl="1"/>
            <a:r>
              <a:rPr lang="ro-RO"/>
              <a:t>Paginare</a:t>
            </a:r>
          </a:p>
          <a:p>
            <a:endParaRPr lang="ro-RO"/>
          </a:p>
        </p:txBody>
      </p:sp>
      <p:pic>
        <p:nvPicPr>
          <p:cNvPr id="6" name="Content Placeholder 5" descr="checklist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5372100" y="2434431"/>
            <a:ext cx="2590800" cy="28575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A1572-7B95-894A-BCE2-FBE8C5D5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41206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Bibliografie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Modern Operating Systems</a:t>
            </a:r>
          </a:p>
          <a:p>
            <a:pPr lvl="1"/>
            <a:r>
              <a:rPr lang="ro-RO"/>
              <a:t>Capitolul 4</a:t>
            </a:r>
          </a:p>
          <a:p>
            <a:pPr lvl="2"/>
            <a:r>
              <a:rPr lang="ro-RO"/>
              <a:t>4.1</a:t>
            </a:r>
          </a:p>
          <a:p>
            <a:pPr lvl="2"/>
            <a:r>
              <a:rPr lang="ro-RO"/>
              <a:t>4.3</a:t>
            </a:r>
          </a:p>
          <a:p>
            <a:pPr lvl="2"/>
            <a:r>
              <a:rPr lang="ro-RO"/>
              <a:t>4.8</a:t>
            </a:r>
          </a:p>
          <a:p>
            <a:r>
              <a:rPr lang="ro-RO"/>
              <a:t>Operating Systems Concepts</a:t>
            </a:r>
          </a:p>
          <a:p>
            <a:pPr lvl="1"/>
            <a:r>
              <a:rPr lang="ro-RO"/>
              <a:t>Capitolul 8</a:t>
            </a:r>
          </a:p>
          <a:p>
            <a:pPr lvl="2"/>
            <a:r>
              <a:rPr lang="ro-RO"/>
              <a:t>8.1 – 8.5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7CAAA-57D9-064F-A3FB-02529212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38050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Arhitecturi de sisteme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/>
              <a:t>Von Neumann</a:t>
            </a:r>
          </a:p>
        </p:txBody>
      </p:sp>
      <p:pic>
        <p:nvPicPr>
          <p:cNvPr id="11" name="Content Placeholder 10" descr="510px-Von_Neumann_Architecture.svg.png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539" b="-34539"/>
          <a:stretch>
            <a:fillRect/>
          </a:stretch>
        </p:blipFill>
        <p:spPr/>
      </p:pic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Harvard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14" name="Content Placeholder 13" descr="harvard_architecture.jpg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3002" b="-3300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71898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Memoria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/>
              <a:t>Von Neumann</a:t>
            </a:r>
          </a:p>
        </p:txBody>
      </p:sp>
      <p:pic>
        <p:nvPicPr>
          <p:cNvPr id="9" name="Content Placeholder 8" descr="program_in_memory2.png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73" b="-1473"/>
          <a:stretch>
            <a:fillRect/>
          </a:stretch>
        </p:blipFill>
        <p:spPr/>
      </p:pic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Harvard</a:t>
            </a:r>
          </a:p>
        </p:txBody>
      </p:sp>
      <p:pic>
        <p:nvPicPr>
          <p:cNvPr id="10" name="Content Placeholder 9" descr="microcontroller_memory_layout.gif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083" b="-15083"/>
          <a:stretch>
            <a:fillRect/>
          </a:stretch>
        </p:blipFill>
        <p:spPr/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63768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CA2057-D137-214B-B11D-10F4B59C5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Memoria</a:t>
            </a:r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89DE74-42BF-9849-945F-E17BC51CF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8238B-32B9-7746-82A0-6ECA680A4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3593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467152-606C-DA45-9F58-52F606A7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Ierarhia de memorie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9CB550C-ACE4-964E-9446-ACFA225E9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50" y="1913731"/>
            <a:ext cx="5245100" cy="3898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76296-484D-004A-BB75-8E0D3B5A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560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E4DAE793-A0F4-AA46-8F69-634170B4F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 dirty="0"/>
              <a:t>Memorie</a:t>
            </a:r>
          </a:p>
        </p:txBody>
      </p:sp>
      <p:pic>
        <p:nvPicPr>
          <p:cNvPr id="45058" name="Content Placeholder 3" descr="OSCE-memory-performance.png">
            <a:extLst>
              <a:ext uri="{FF2B5EF4-FFF2-40B4-BE49-F238E27FC236}">
                <a16:creationId xmlns:a16="http://schemas.microsoft.com/office/drawing/2014/main" id="{CA0B2F28-A31D-2042-9214-76EA87B08A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2166938"/>
            <a:ext cx="8229600" cy="3392487"/>
          </a:xfrm>
        </p:spPr>
      </p:pic>
      <p:sp>
        <p:nvSpPr>
          <p:cNvPr id="45059" name="TextBox 4">
            <a:extLst>
              <a:ext uri="{FF2B5EF4-FFF2-40B4-BE49-F238E27FC236}">
                <a16:creationId xmlns:a16="http://schemas.microsoft.com/office/drawing/2014/main" id="{BDF5ADC7-0DAC-A746-A792-32FB8539E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6019800"/>
            <a:ext cx="2227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 dirty="0"/>
              <a:t>OSCE, fig. 1.11, </a:t>
            </a:r>
            <a:r>
              <a:rPr lang="ro-RO" altLang="ro-RO" sz="1800" dirty="0" err="1"/>
              <a:t>pg</a:t>
            </a:r>
            <a:r>
              <a:rPr lang="ro-RO" altLang="ro-RO" sz="1800" dirty="0"/>
              <a:t>. 28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46C04F-8D85-EE42-BA44-2023EDC6C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154012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FBA08-947F-EB44-B197-EEF34DD78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Arhitecturi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E947C-18CF-F14C-B67D-F436F24BC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Load/Store</a:t>
            </a:r>
          </a:p>
          <a:p>
            <a:pPr lvl="1"/>
            <a:r>
              <a:rPr lang="ro-RO"/>
              <a:t>RISC</a:t>
            </a:r>
          </a:p>
          <a:p>
            <a:pPr lvl="2"/>
            <a:r>
              <a:rPr lang="ro-RO"/>
              <a:t>ARM</a:t>
            </a:r>
          </a:p>
          <a:p>
            <a:endParaRPr lang="ro-RO"/>
          </a:p>
          <a:p>
            <a:r>
              <a:rPr lang="ro-RO"/>
              <a:t>Register Memory</a:t>
            </a:r>
          </a:p>
          <a:p>
            <a:pPr lvl="1"/>
            <a:r>
              <a:rPr lang="ro-RO"/>
              <a:t>CISC</a:t>
            </a:r>
          </a:p>
          <a:p>
            <a:pPr lvl="2"/>
            <a:r>
              <a:rPr lang="ro-RO"/>
              <a:t>Intel x86</a:t>
            </a:r>
          </a:p>
          <a:p>
            <a:pPr lvl="2"/>
            <a:r>
              <a:rPr lang="ro-RO"/>
              <a:t>AMD64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9FF55-B5D1-DE4F-8BA2-B5DDBDED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71914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9E54-3B76-9A40-B5DA-E4445C46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Load/Store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841D7-B42A-8D40-AF90-F9E512872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/>
              <a:t>Operații</a:t>
            </a:r>
          </a:p>
          <a:p>
            <a:pPr lvl="1"/>
            <a:r>
              <a:rPr lang="ro-RO" b="1"/>
              <a:t>load</a:t>
            </a:r>
          </a:p>
          <a:p>
            <a:pPr lvl="1"/>
            <a:r>
              <a:rPr lang="ro-RO" b="1"/>
              <a:t>store</a:t>
            </a:r>
          </a:p>
          <a:p>
            <a:endParaRPr lang="ro-RO"/>
          </a:p>
          <a:p>
            <a:r>
              <a:rPr lang="ro-RO"/>
              <a:t>CPU lucrează doar cu date din registre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080E6-5617-A54B-92BB-4FD8C3E25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74826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C2745-7912-CD4F-997F-A9CCBD6D6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Register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D3C83-A634-2042-A83D-57C4F126D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Operații</a:t>
            </a:r>
          </a:p>
          <a:p>
            <a:pPr lvl="1"/>
            <a:r>
              <a:rPr lang="ro-RO" b="1"/>
              <a:t>toate operațiile</a:t>
            </a:r>
          </a:p>
          <a:p>
            <a:endParaRPr lang="ro-RO"/>
          </a:p>
          <a:p>
            <a:r>
              <a:rPr lang="ro-RO"/>
              <a:t>CPU lucrează cu date din registre și memorie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4770C-E79F-4F4E-B491-D790802F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73121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DCAA5-B22E-3846-9721-C693AE0CF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Memoria Cache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BEC7E45-48A1-1C4E-8F5B-CBC635766B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618" y="2087562"/>
            <a:ext cx="5758764" cy="35512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8C8EA-3C10-5744-9E42-24752EFB5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75968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4C36-2E1B-4841-89A9-34CF38EEE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Memoria Cache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DF63AF7-9A18-3E4A-84DF-4846B5710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700" y="1600200"/>
            <a:ext cx="3994599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24D65-8E53-B54E-8117-546673E08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19080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F32C-293A-6B46-B4A8-6B784FEEF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Parametrii memoriei cache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DF9F-4068-614C-A723-9725F9D32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>
                <a:solidFill>
                  <a:srgbClr val="92D050"/>
                </a:solidFill>
              </a:rPr>
              <a:t>cache hit</a:t>
            </a:r>
          </a:p>
          <a:p>
            <a:pPr lvl="1"/>
            <a:r>
              <a:rPr lang="ro-RO"/>
              <a:t>numărul de accesuri pentru care datele s-au aflat in cache</a:t>
            </a:r>
          </a:p>
          <a:p>
            <a:endParaRPr lang="ro-RO"/>
          </a:p>
          <a:p>
            <a:r>
              <a:rPr lang="ro-RO">
                <a:solidFill>
                  <a:srgbClr val="FF0000"/>
                </a:solidFill>
              </a:rPr>
              <a:t>cache miss</a:t>
            </a:r>
          </a:p>
          <a:p>
            <a:pPr lvl="1"/>
            <a:r>
              <a:rPr lang="ro-RO"/>
              <a:t>numărul de accesuri pentru care datele nu s-au aflat in cache</a:t>
            </a:r>
          </a:p>
          <a:p>
            <a:endParaRPr lang="ro-RO"/>
          </a:p>
          <a:p>
            <a:r>
              <a:rPr lang="ro-RO"/>
              <a:t>cache hit / cache miss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56F9C-8112-4B44-BC7E-8B63FB0FB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92888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E231-B379-D845-BF8B-4629C808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Accesul de memorie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A6F1B5-7594-0B4C-A1BF-DC7AA85F5D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658547"/>
            <a:ext cx="8229600" cy="240926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7450A-2E70-D24B-88B8-8BC91EBEB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51785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2BFABC-10A5-DB4E-9DAD-1F7D74202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Adresarea memoriei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49E68B-8541-3C41-91F9-A664629C1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89D1A-0033-B944-A2B2-8772AB46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35900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B2806-E695-F742-BCDD-2D2B740B6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Adresa de memorie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35816-2F4B-9447-8B89-C13D273FE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Un număr</a:t>
            </a:r>
          </a:p>
          <a:p>
            <a:r>
              <a:rPr lang="ro-RO"/>
              <a:t>Depinde de numărul de biți</a:t>
            </a:r>
          </a:p>
          <a:p>
            <a:pPr lvl="1"/>
            <a:r>
              <a:rPr lang="ro-RO"/>
              <a:t>4 bytes pe CPU 32 biți</a:t>
            </a:r>
          </a:p>
          <a:p>
            <a:pPr lvl="1"/>
            <a:r>
              <a:rPr lang="ro-RO"/>
              <a:t>8 bytes pe CPU 64 biți</a:t>
            </a:r>
          </a:p>
          <a:p>
            <a:endParaRPr lang="ro-RO"/>
          </a:p>
          <a:p>
            <a:r>
              <a:rPr lang="ro-RO"/>
              <a:t>Adresa maximă</a:t>
            </a:r>
          </a:p>
          <a:p>
            <a:pPr lvl="1"/>
            <a:r>
              <a:rPr lang="ro-RO"/>
              <a:t>2</a:t>
            </a:r>
            <a:r>
              <a:rPr lang="ro-RO" baseline="30000"/>
              <a:t>n</a:t>
            </a:r>
            <a:r>
              <a:rPr lang="ro-RO"/>
              <a:t> bytes</a:t>
            </a:r>
          </a:p>
          <a:p>
            <a:pPr lvl="2"/>
            <a:r>
              <a:rPr lang="ro-RO"/>
              <a:t>n numărul de biți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F2C03-224D-7B4D-AC24-97851EFBB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54037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0C98-E4B6-B741-BA9A-A42DC85BC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Stabilirea adreselor de memorie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F3407-9C24-4343-A877-359DEB160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Procesul prin care se alocă fiecărei variabile o adresă de memorie</a:t>
            </a:r>
          </a:p>
          <a:p>
            <a:endParaRPr lang="ro-RO" dirty="0"/>
          </a:p>
          <a:p>
            <a:r>
              <a:rPr lang="ro-RO" dirty="0"/>
              <a:t>Cine face asta?</a:t>
            </a:r>
          </a:p>
          <a:p>
            <a:pPr lvl="1"/>
            <a:r>
              <a:rPr lang="ro-RO" dirty="0"/>
              <a:t>compilatorul</a:t>
            </a:r>
          </a:p>
          <a:p>
            <a:pPr lvl="2"/>
            <a:r>
              <a:rPr lang="ro-RO" dirty="0"/>
              <a:t>fișier .</a:t>
            </a:r>
            <a:r>
              <a:rPr lang="ro-RO" dirty="0" err="1"/>
              <a:t>com</a:t>
            </a:r>
            <a:endParaRPr lang="ro-RO" dirty="0"/>
          </a:p>
          <a:p>
            <a:pPr lvl="1"/>
            <a:r>
              <a:rPr lang="ro-RO" dirty="0" err="1"/>
              <a:t>loader-ul</a:t>
            </a:r>
            <a:r>
              <a:rPr lang="ro-RO" dirty="0"/>
              <a:t> SO</a:t>
            </a:r>
          </a:p>
          <a:p>
            <a:pPr lvl="2"/>
            <a:r>
              <a:rPr lang="ro-RO" dirty="0"/>
              <a:t>fișier executabil cu cod relocabil (</a:t>
            </a:r>
            <a:r>
              <a:rPr lang="ro-RO" dirty="0" err="1"/>
              <a:t>relocatable</a:t>
            </a:r>
            <a:r>
              <a:rPr lang="ro-RO" dirty="0"/>
              <a:t>)</a:t>
            </a:r>
          </a:p>
          <a:p>
            <a:pPr lvl="1"/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4C6BD-5950-B541-8B1E-CB4BC1DE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40398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4ABFD-0878-A543-B72F-63EDBF6D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Stabilirea adreselor de memorie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6C64DE3-CFF7-F94C-88BD-70C2CB121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910" y="1600200"/>
            <a:ext cx="2438180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CDB92-EF06-6743-AFBA-18919BD69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32683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A8162-1051-D449-9E93-6A52C3F0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Spațiul</a:t>
            </a:r>
            <a:r>
              <a:rPr lang="fr-FR" dirty="0"/>
              <a:t> de </a:t>
            </a:r>
            <a:r>
              <a:rPr lang="fr-FR" dirty="0" err="1"/>
              <a:t>adresare</a:t>
            </a:r>
            <a:endParaRPr lang="fr-FR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964F9AD-460D-8944-B81B-C70DFDFCD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5630B-951B-1840-9861-24C9B391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7322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B3E7-0318-0F4E-AB57-57DEE80C0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Spațiul de adrese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CF048B-6D63-414F-B6B2-98B382E4C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Toate adresele disponibile ale unui proces</a:t>
            </a:r>
          </a:p>
          <a:p>
            <a:endParaRPr lang="ro-RO"/>
          </a:p>
          <a:p>
            <a:pPr lvl="1"/>
            <a:r>
              <a:rPr lang="ro-RO"/>
              <a:t>Nu trebuie neapărat să înceapă de la adresa 0</a:t>
            </a:r>
          </a:p>
          <a:p>
            <a:pPr marL="457200" lvl="1" indent="0">
              <a:buNone/>
            </a:pPr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8D880-1198-114D-B276-9F245280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7000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C65D1E-CA0B-FA46-BE1D-531A731C8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Sistemul ideal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A5597-7329-DC41-80E6-B78828F97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22</a:t>
            </a:fld>
            <a:endParaRPr lang="ro-RO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8D1AA40-5746-A84D-A8F1-37FFD91097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/>
              <a:t>fiecare proces are partea sa de memorie</a:t>
            </a:r>
          </a:p>
          <a:p>
            <a:endParaRPr lang="ro-RO"/>
          </a:p>
          <a:p>
            <a:r>
              <a:rPr lang="ro-RO">
                <a:solidFill>
                  <a:srgbClr val="92D050"/>
                </a:solidFill>
              </a:rPr>
              <a:t>un proces poate accesa doar memoria sa</a:t>
            </a:r>
          </a:p>
          <a:p>
            <a:endParaRPr lang="ro-RO">
              <a:solidFill>
                <a:srgbClr val="92D050"/>
              </a:solidFill>
            </a:endParaRPr>
          </a:p>
          <a:p>
            <a:r>
              <a:rPr lang="ro-RO"/>
              <a:t>spațiul pentru kernel (SO) trebuie protejat</a:t>
            </a:r>
          </a:p>
          <a:p>
            <a:endParaRPr lang="ro-RO"/>
          </a:p>
          <a:p>
            <a:r>
              <a:rPr lang="ro-RO"/>
              <a:t>Ce este spațiul de adresare?</a:t>
            </a:r>
          </a:p>
        </p:txBody>
      </p:sp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4968D675-8AF7-4143-9EA9-543CF5B01B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682337"/>
            <a:ext cx="4038600" cy="4361688"/>
          </a:xfrm>
        </p:spPr>
      </p:pic>
    </p:spTree>
    <p:extLst>
      <p:ext uri="{BB962C8B-B14F-4D97-AF65-F5344CB8AC3E}">
        <p14:creationId xmlns:p14="http://schemas.microsoft.com/office/powerpoint/2010/main" val="482314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8AB75-7867-1C41-B954-78515B850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Moduri de funcționare (x86)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3171D-935E-8944-B035-68DA4738F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Real Mode</a:t>
            </a:r>
          </a:p>
          <a:p>
            <a:pPr lvl="1"/>
            <a:r>
              <a:rPr lang="ro-RO">
                <a:solidFill>
                  <a:srgbClr val="FF0000"/>
                </a:solidFill>
              </a:rPr>
              <a:t>spațiul de adresare este toată memoria RAM</a:t>
            </a:r>
          </a:p>
          <a:p>
            <a:pPr lvl="1"/>
            <a:r>
              <a:rPr lang="ro-RO">
                <a:solidFill>
                  <a:srgbClr val="FF0000"/>
                </a:solidFill>
              </a:rPr>
              <a:t>fără protecții</a:t>
            </a:r>
          </a:p>
          <a:p>
            <a:endParaRPr lang="ro-RO"/>
          </a:p>
          <a:p>
            <a:r>
              <a:rPr lang="ro-RO"/>
              <a:t>Protected Mode</a:t>
            </a:r>
          </a:p>
          <a:p>
            <a:pPr lvl="1"/>
            <a:r>
              <a:rPr lang="ro-RO">
                <a:solidFill>
                  <a:srgbClr val="92D050"/>
                </a:solidFill>
              </a:rPr>
              <a:t>spațiul de adresare este limitat de CPU (MMU)</a:t>
            </a:r>
          </a:p>
          <a:p>
            <a:pPr lvl="1"/>
            <a:r>
              <a:rPr lang="ro-RO">
                <a:solidFill>
                  <a:srgbClr val="92D050"/>
                </a:solidFill>
              </a:rPr>
              <a:t>sisteme de protecție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49316-F7F5-134E-A880-047DE445E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0040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B44D-C44E-2748-BB0B-0C83E20EA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Protecția memoriei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16BA2-0AD7-9843-99DF-1C8C2838E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Memory Management Unit (MMU)</a:t>
            </a:r>
          </a:p>
          <a:p>
            <a:pPr lvl="1"/>
            <a:r>
              <a:rPr lang="ro-RO"/>
              <a:t>adresă fizică (după MMU)</a:t>
            </a:r>
          </a:p>
          <a:p>
            <a:pPr lvl="1"/>
            <a:r>
              <a:rPr lang="ro-RO"/>
              <a:t>adresă logică (înainte de MMU)</a:t>
            </a:r>
          </a:p>
          <a:p>
            <a:endParaRPr lang="ro-RO"/>
          </a:p>
          <a:p>
            <a:r>
              <a:rPr lang="ro-RO"/>
              <a:t>Metode de protecție</a:t>
            </a:r>
          </a:p>
          <a:p>
            <a:pPr lvl="1"/>
            <a:r>
              <a:rPr lang="ro-RO"/>
              <a:t>alocare contiguă</a:t>
            </a:r>
          </a:p>
          <a:p>
            <a:pPr lvl="1"/>
            <a:r>
              <a:rPr lang="ro-RO"/>
              <a:t>segmentare </a:t>
            </a:r>
          </a:p>
          <a:p>
            <a:pPr lvl="1"/>
            <a:r>
              <a:rPr lang="ro-RO"/>
              <a:t>paginare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CB497-12D1-E14A-B6EF-43FA4C129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14877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031D1-2465-9545-8C59-2F17A8DA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Protecția de memorie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AED979-7A6C-8A43-8BC1-6AC674999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51432"/>
            <a:ext cx="8229600" cy="402349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EC3A5-E0EE-C441-B5D5-84092C1E5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54806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A800A46-7303-0840-8744-A0BF6A6BA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Memorie</a:t>
            </a:r>
            <a:r>
              <a:rPr lang="fr-FR" dirty="0"/>
              <a:t> </a:t>
            </a:r>
            <a:r>
              <a:rPr lang="fr-FR" dirty="0" err="1"/>
              <a:t>contiguă</a:t>
            </a:r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028F69-C7E1-0248-8145-C1A98D1C1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7B40C-EC23-4F4F-9483-C58E0F494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0074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AD7774-03F7-F446-A406-502F6AE63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Memorie contiguă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481272B-E970-8244-BCDE-E97EFDCD88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o-RO">
                <a:solidFill>
                  <a:srgbClr val="92D050"/>
                </a:solidFill>
              </a:rPr>
              <a:t>Simplu de implmentat</a:t>
            </a:r>
          </a:p>
          <a:p>
            <a:endParaRPr lang="ro-RO"/>
          </a:p>
          <a:p>
            <a:r>
              <a:rPr lang="ro-RO">
                <a:solidFill>
                  <a:srgbClr val="FF0000"/>
                </a:solidFill>
              </a:rPr>
              <a:t>Trebuie estimată memoria necesară fiecărui proces</a:t>
            </a:r>
          </a:p>
          <a:p>
            <a:endParaRPr lang="ro-RO">
              <a:solidFill>
                <a:srgbClr val="FF0000"/>
              </a:solidFill>
            </a:endParaRPr>
          </a:p>
          <a:p>
            <a:r>
              <a:rPr lang="ro-RO">
                <a:solidFill>
                  <a:srgbClr val="FF0000"/>
                </a:solidFill>
              </a:rPr>
              <a:t>Fragmentare</a:t>
            </a:r>
          </a:p>
          <a:p>
            <a:pPr lvl="1"/>
            <a:r>
              <a:rPr lang="ro-RO">
                <a:solidFill>
                  <a:srgbClr val="FF0000"/>
                </a:solidFill>
              </a:rPr>
              <a:t>este posibil să nu avem suficient spațiu liber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6C29D-0652-0949-BE14-AE33D43E5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27</a:t>
            </a:fld>
            <a:endParaRPr lang="ro-RO"/>
          </a:p>
        </p:txBody>
      </p:sp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9D243540-85B6-BA46-BA0B-FFDBE86D44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682337"/>
            <a:ext cx="4038600" cy="4361688"/>
          </a:xfrm>
        </p:spPr>
      </p:pic>
    </p:spTree>
    <p:extLst>
      <p:ext uri="{BB962C8B-B14F-4D97-AF65-F5344CB8AC3E}">
        <p14:creationId xmlns:p14="http://schemas.microsoft.com/office/powerpoint/2010/main" val="3201096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1A0B6-324C-2647-A369-0AF607157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Implementare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559934-2C7F-D74A-BB62-B143F6A84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Două registre</a:t>
            </a:r>
          </a:p>
          <a:p>
            <a:pPr lvl="1"/>
            <a:r>
              <a:rPr lang="ro-RO" dirty="0"/>
              <a:t>relocare</a:t>
            </a:r>
          </a:p>
          <a:p>
            <a:pPr lvl="1"/>
            <a:r>
              <a:rPr lang="ro-RO" dirty="0"/>
              <a:t>limita</a:t>
            </a:r>
          </a:p>
          <a:p>
            <a:endParaRPr lang="ro-RO" dirty="0"/>
          </a:p>
          <a:p>
            <a:r>
              <a:rPr lang="ro-RO" dirty="0"/>
              <a:t>Adrese</a:t>
            </a:r>
          </a:p>
          <a:p>
            <a:pPr lvl="1"/>
            <a:r>
              <a:rPr lang="ro-RO" dirty="0"/>
              <a:t>adresa fizică = adresa logică + relocare</a:t>
            </a:r>
          </a:p>
          <a:p>
            <a:pPr lvl="1"/>
            <a:r>
              <a:rPr lang="ro-RO" dirty="0"/>
              <a:t>adresa logică &lt;= limita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58DCC-1D8F-954E-B0F3-8D854785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453159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D5542-5B45-9241-B9C6-ED77F1C85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Implementare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76AEA-0760-8640-B47C-F755E9844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29</a:t>
            </a:fld>
            <a:endParaRPr lang="ro-RO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2BF74A6F-E3F8-1F44-9339-4821A7B59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51432"/>
            <a:ext cx="8229600" cy="4023499"/>
          </a:xfrm>
        </p:spPr>
      </p:pic>
    </p:spTree>
    <p:extLst>
      <p:ext uri="{BB962C8B-B14F-4D97-AF65-F5344CB8AC3E}">
        <p14:creationId xmlns:p14="http://schemas.microsoft.com/office/powerpoint/2010/main" val="2082682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C1C65-0D17-ED4F-8B92-A5B90DF21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Algoritmi de alocare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538E-FC7C-FD4E-85E9-33FCF3482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>
                <a:solidFill>
                  <a:srgbClr val="92D050"/>
                </a:solidFill>
              </a:rPr>
              <a:t>First Fit</a:t>
            </a:r>
          </a:p>
          <a:p>
            <a:pPr lvl="1"/>
            <a:r>
              <a:rPr lang="ro-RO"/>
              <a:t>Primul spațiu disponibil</a:t>
            </a:r>
          </a:p>
          <a:p>
            <a:endParaRPr lang="ro-RO"/>
          </a:p>
          <a:p>
            <a:r>
              <a:rPr lang="ro-RO">
                <a:solidFill>
                  <a:srgbClr val="92D050"/>
                </a:solidFill>
              </a:rPr>
              <a:t>Best Fit</a:t>
            </a:r>
          </a:p>
          <a:p>
            <a:pPr lvl="1"/>
            <a:r>
              <a:rPr lang="ro-RO"/>
              <a:t>Cel mai mic spațiu disponibil</a:t>
            </a:r>
          </a:p>
          <a:p>
            <a:endParaRPr lang="ro-RO"/>
          </a:p>
          <a:p>
            <a:r>
              <a:rPr lang="ro-RO">
                <a:solidFill>
                  <a:srgbClr val="FF0000"/>
                </a:solidFill>
              </a:rPr>
              <a:t>Worst Fit</a:t>
            </a:r>
          </a:p>
          <a:p>
            <a:pPr lvl="1"/>
            <a:r>
              <a:rPr lang="ro-RO"/>
              <a:t>Cel mai mare spațiu disponibil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1A677-E251-4143-9AB9-B7DDB7B6B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27036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0D980-8F0B-5943-AEBF-45FDB2724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Fragmentare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698D7-C0EE-8840-A7CA-781EA4F5D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Avem memorie disponibilă, dar nu contiguă</a:t>
            </a:r>
          </a:p>
          <a:p>
            <a:pPr lvl="1"/>
            <a:r>
              <a:rPr lang="ro-RO"/>
              <a:t>soluția: defragmentare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E881B-6E4B-E949-A704-71E73D32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31</a:t>
            </a:fld>
            <a:endParaRPr lang="ro-RO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CED866-369A-9B4A-B27B-84C8DF77B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600" y="3331244"/>
            <a:ext cx="4292600" cy="278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5294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4D8A07-E5A3-1345-B053-41EA24F1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Segmentarea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725936-0638-2E4C-860D-557536394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30641-C066-ED46-A4F6-5BC79C49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918908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B7B9991-9107-A14E-9A6D-DE24615A4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Segmentarea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D58055-108D-094E-B964-E90EF39B5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/>
              <a:t>Imaginea programatorului</a:t>
            </a:r>
          </a:p>
          <a:p>
            <a:endParaRPr lang="ro-RO"/>
          </a:p>
          <a:p>
            <a:r>
              <a:rPr lang="ro-RO"/>
              <a:t>Memoria este impărțită în segmente</a:t>
            </a:r>
          </a:p>
          <a:p>
            <a:pPr lvl="1"/>
            <a:r>
              <a:rPr lang="ro-RO"/>
              <a:t>baza</a:t>
            </a:r>
          </a:p>
          <a:p>
            <a:pPr lvl="1"/>
            <a:r>
              <a:rPr lang="ro-RO"/>
              <a:t>limita</a:t>
            </a:r>
          </a:p>
          <a:p>
            <a:pPr lvl="1"/>
            <a:r>
              <a:rPr lang="ro-RO"/>
              <a:t>informații despre protecție</a:t>
            </a:r>
          </a:p>
          <a:p>
            <a:endParaRPr lang="ro-RO"/>
          </a:p>
          <a:p>
            <a:r>
              <a:rPr lang="ro-RO"/>
              <a:t>Pot să se suprapună (overlap)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59239-E998-7A46-8DD5-06AFE8C9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973017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C79D-9D94-8249-8613-57BDE60C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95" y="274638"/>
            <a:ext cx="7892005" cy="563562"/>
          </a:xfrm>
        </p:spPr>
        <p:txBody>
          <a:bodyPr>
            <a:normAutofit fontScale="90000"/>
          </a:bodyPr>
          <a:lstStyle/>
          <a:p>
            <a:r>
              <a:rPr lang="ro-RO"/>
              <a:t>Adresarea memoriei (segmentare)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8F0FA-A83C-F846-B595-1998E8B0A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/>
              <a:t>selector</a:t>
            </a:r>
          </a:p>
          <a:p>
            <a:pPr lvl="1"/>
            <a:r>
              <a:rPr lang="ro-RO"/>
              <a:t>numărul segmentului</a:t>
            </a:r>
          </a:p>
          <a:p>
            <a:endParaRPr lang="ro-RO"/>
          </a:p>
          <a:p>
            <a:r>
              <a:rPr lang="ro-RO"/>
              <a:t>offset</a:t>
            </a:r>
          </a:p>
          <a:p>
            <a:pPr lvl="1"/>
            <a:r>
              <a:rPr lang="ro-RO"/>
              <a:t>adresa în interiorul segmentului</a:t>
            </a:r>
          </a:p>
          <a:p>
            <a:pPr lvl="1"/>
            <a:endParaRPr lang="ro-RO"/>
          </a:p>
          <a:p>
            <a:r>
              <a:rPr lang="ro-RO"/>
              <a:t>adresa</a:t>
            </a:r>
          </a:p>
          <a:p>
            <a:pPr lvl="1"/>
            <a:r>
              <a:rPr lang="ro-RO"/>
              <a:t>adresa fizică = </a:t>
            </a:r>
            <a:r>
              <a:rPr lang="ro-RO" i="1"/>
              <a:t>segment_base</a:t>
            </a:r>
            <a:r>
              <a:rPr lang="ro-RO"/>
              <a:t> (selector) + 					offset</a:t>
            </a:r>
          </a:p>
          <a:p>
            <a:pPr lvl="1"/>
            <a:r>
              <a:rPr lang="ro-RO"/>
              <a:t>offset &lt;= </a:t>
            </a:r>
            <a:r>
              <a:rPr lang="ro-RO" i="1"/>
              <a:t>segment_limit</a:t>
            </a:r>
            <a:r>
              <a:rPr lang="ro-RO"/>
              <a:t> (selector)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5299B-19CD-1244-9ECE-BEB1FBDF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089599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0BBD9-DC73-0349-899A-8EE54C633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Transformarea adresei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6E7D24C-D770-B042-9ABF-76BC3F9226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00" y="1600200"/>
            <a:ext cx="7565199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67EB6-322F-6D4C-B7ED-ADD0E273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836738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CD221-07E0-DA4E-B102-793A044C1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Exemple de segmente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8852E1-2591-D941-9397-0CD66F5B2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735" y="1600200"/>
            <a:ext cx="5172529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A4F14-05C3-B94A-A3B4-639844E30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701148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5D353-B516-7D41-BAF6-A790A06D7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0"/>
            <a:ext cx="7467600" cy="685800"/>
          </a:xfrm>
        </p:spPr>
        <p:txBody>
          <a:bodyPr>
            <a:normAutofit fontScale="90000"/>
          </a:bodyPr>
          <a:lstStyle/>
          <a:p>
            <a:r>
              <a:rPr lang="ro-RO"/>
              <a:t>Descriptor de segment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2D9DBC-5124-DE40-B234-52EA573345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/>
          <a:p>
            <a:r>
              <a:rPr lang="ro-RO"/>
              <a:t>Base</a:t>
            </a:r>
          </a:p>
          <a:p>
            <a:endParaRPr lang="ro-RO"/>
          </a:p>
          <a:p>
            <a:r>
              <a:rPr lang="ro-RO"/>
              <a:t>Limit</a:t>
            </a:r>
          </a:p>
          <a:p>
            <a:endParaRPr lang="ro-RO"/>
          </a:p>
          <a:p>
            <a:r>
              <a:rPr lang="ro-RO"/>
              <a:t>Protection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2070C-6BB4-C447-93FC-1A293ABB4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</p:spPr>
        <p:txBody>
          <a:bodyPr/>
          <a:lstStyle/>
          <a:p>
            <a:fld id="{C355EE2D-F026-4E21-871A-E6BCBAD13C3B}" type="slidenum">
              <a:rPr lang="ro-RO" smtClean="0"/>
              <a:pPr/>
              <a:t>37</a:t>
            </a:fld>
            <a:endParaRPr lang="ro-RO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62845AA7-CBE5-D64D-A698-7CB3C07FB7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600201"/>
            <a:ext cx="3375152" cy="2636838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999FC14-DE0B-5B4C-88EA-5619B9430775}"/>
              </a:ext>
            </a:extLst>
          </p:cNvPr>
          <p:cNvSpPr txBox="1"/>
          <p:nvPr/>
        </p:nvSpPr>
        <p:spPr>
          <a:xfrm>
            <a:off x="5486400" y="4343400"/>
            <a:ext cx="2054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/>
              <a:t>exemple pentru x86</a:t>
            </a:r>
          </a:p>
        </p:txBody>
      </p:sp>
    </p:spTree>
    <p:extLst>
      <p:ext uri="{BB962C8B-B14F-4D97-AF65-F5344CB8AC3E}">
        <p14:creationId xmlns:p14="http://schemas.microsoft.com/office/powerpoint/2010/main" val="26581562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B7CE9-7107-3042-8E6F-6F4A18738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Adresă lineară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0228564-616C-F642-B338-8D8021B222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88" y="1600200"/>
            <a:ext cx="7451624" cy="4525963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E76732-94C9-A34B-9191-29CE887E5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820942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0D980-8F0B-5943-AEBF-45FDB2724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Fragmentarea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698D7-C0EE-8840-A7CA-781EA4F5D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Externă</a:t>
            </a:r>
          </a:p>
          <a:p>
            <a:pPr lvl="1"/>
            <a:r>
              <a:rPr lang="ro-RO" dirty="0"/>
              <a:t>avem destulă memorie liberă, însă nu contiguă, deci nu putem aloca un segment</a:t>
            </a:r>
          </a:p>
          <a:p>
            <a:pPr lvl="2"/>
            <a:r>
              <a:rPr lang="ro-RO" dirty="0"/>
              <a:t>soluția: defragmentarea, segmente mai mici</a:t>
            </a:r>
          </a:p>
          <a:p>
            <a:endParaRPr lang="ro-RO" dirty="0"/>
          </a:p>
          <a:p>
            <a:r>
              <a:rPr lang="ro-RO" dirty="0"/>
              <a:t>Internă</a:t>
            </a:r>
          </a:p>
          <a:p>
            <a:pPr lvl="1"/>
            <a:r>
              <a:rPr lang="ro-RO" dirty="0"/>
              <a:t>procesul are destulă memorie în segment pentru alocare, dar nu contiguă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E881B-6E4B-E949-A704-71E73D32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130876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CBACA8C-94BB-254A-B031-B6F39280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Paginarea</a:t>
            </a:r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6FFB70-C609-5D4C-B192-928ABDA10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93724-8C8E-C144-AC92-D515836D4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16334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6C42AE-CD96-3147-8DC3-5D707FC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Paginarea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529F8-9CF4-8644-AD9E-878AF34C0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o-RO"/>
              <a:t>Memoria e impărțită în pagini</a:t>
            </a:r>
          </a:p>
          <a:p>
            <a:pPr lvl="1"/>
            <a:r>
              <a:rPr lang="ro-RO"/>
              <a:t>în general 4 KB</a:t>
            </a:r>
          </a:p>
          <a:p>
            <a:endParaRPr lang="ro-RO"/>
          </a:p>
          <a:p>
            <a:r>
              <a:rPr lang="ro-RO"/>
              <a:t>Pagini/Cadre</a:t>
            </a:r>
          </a:p>
          <a:p>
            <a:pPr lvl="1"/>
            <a:r>
              <a:rPr lang="ro-RO"/>
              <a:t>virtuale (pagini - pages)</a:t>
            </a:r>
          </a:p>
          <a:p>
            <a:pPr lvl="1"/>
            <a:r>
              <a:rPr lang="ro-RO"/>
              <a:t>fizice (cadre - frames)</a:t>
            </a:r>
          </a:p>
          <a:p>
            <a:endParaRPr lang="ro-RO"/>
          </a:p>
          <a:p>
            <a:r>
              <a:rPr lang="ro-RO"/>
              <a:t>Tabelul de pagini</a:t>
            </a:r>
          </a:p>
          <a:p>
            <a:pPr lvl="1"/>
            <a:r>
              <a:rPr lang="ro-RO"/>
              <a:t>fiecare proces are un tabel de pagini</a:t>
            </a:r>
          </a:p>
          <a:p>
            <a:endParaRPr lang="ro-RO"/>
          </a:p>
          <a:p>
            <a:r>
              <a:rPr lang="ro-RO"/>
              <a:t>Adrese </a:t>
            </a:r>
          </a:p>
          <a:p>
            <a:pPr lvl="1"/>
            <a:r>
              <a:rPr lang="ro-RO"/>
              <a:t>adresa fizică = page index + offset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124D-50F8-C64A-856C-E708DC7D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009820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0E21-2451-4543-86D8-F61532FB3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Tabelul de pagini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C5FC90-3087-5A4A-917C-6778BEDAF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097" y="1600200"/>
            <a:ext cx="4919805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18B98-4FEA-E34E-851D-330F80C4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563673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DFCD3-48C1-0E4D-9B0E-5F6098EA9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Transformarea adresei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7857631-491A-8145-A708-166BE30710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605" y="1600200"/>
            <a:ext cx="7586790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75554-369F-A14E-B4D2-3BD1D3D8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088665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60237-DA30-DA4B-A207-87D8078AE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Transformarea adresei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BCD4F-02E5-2443-A2E6-B864EB7B0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Pentru a accesa o adresă</a:t>
            </a:r>
          </a:p>
          <a:p>
            <a:pPr lvl="1"/>
            <a:r>
              <a:rPr lang="ro-RO" dirty="0"/>
              <a:t>Acces în tabel (în memorie)</a:t>
            </a:r>
          </a:p>
          <a:p>
            <a:pPr lvl="1"/>
            <a:r>
              <a:rPr lang="ro-RO" dirty="0"/>
              <a:t>Acces în memorie</a:t>
            </a:r>
          </a:p>
          <a:p>
            <a:endParaRPr lang="ro-RO" dirty="0"/>
          </a:p>
          <a:p>
            <a:r>
              <a:rPr lang="ro-RO" dirty="0"/>
              <a:t>Acces dublu</a:t>
            </a:r>
          </a:p>
          <a:p>
            <a:pPr lvl="1"/>
            <a:r>
              <a:rPr lang="ro-RO" dirty="0"/>
              <a:t>lent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9D0E5-EB62-804F-AD2F-06506551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44</a:t>
            </a:fld>
            <a:endParaRPr lang="ro-RO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E9183A41-9C1F-4247-A5DB-B8E41B2AC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895600"/>
            <a:ext cx="4164618" cy="248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9627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6BFDE-2E6D-354D-9B20-6308EECFA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Translation Lookaside Buffer (TLB)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46BD4-5568-7B4B-8500-FB5B7D6A1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/>
              <a:t>Memorie cache specială</a:t>
            </a:r>
          </a:p>
          <a:p>
            <a:pPr lvl="1"/>
            <a:r>
              <a:rPr lang="ro-RO"/>
              <a:t>256 de intrări</a:t>
            </a:r>
          </a:p>
          <a:p>
            <a:endParaRPr lang="ro-RO"/>
          </a:p>
          <a:p>
            <a:r>
              <a:rPr lang="ro-RO"/>
              <a:t>Folosită per proces</a:t>
            </a:r>
          </a:p>
          <a:p>
            <a:endParaRPr lang="ro-RO"/>
          </a:p>
          <a:p>
            <a:r>
              <a:rPr lang="ro-RO"/>
              <a:t>Schimbarea de context</a:t>
            </a:r>
          </a:p>
          <a:p>
            <a:pPr lvl="1"/>
            <a:r>
              <a:rPr lang="ro-RO"/>
              <a:t>Se schimbă tabelul de pagini</a:t>
            </a:r>
          </a:p>
          <a:p>
            <a:pPr lvl="1"/>
            <a:r>
              <a:rPr lang="ro-RO"/>
              <a:t>TLB flush (mai puțin partea pentru kernel)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03EB5-79D1-A74D-AE40-2CBF22C2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313223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F0304-5060-0B4E-8638-D769FD00F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467600" cy="563562"/>
          </a:xfrm>
        </p:spPr>
        <p:txBody>
          <a:bodyPr>
            <a:normAutofit fontScale="90000"/>
          </a:bodyPr>
          <a:lstStyle/>
          <a:p>
            <a:r>
              <a:rPr lang="ro-RO"/>
              <a:t>Transformarea adresei folosind TLB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366DC93-A101-3448-A4EE-A4A78E1076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692" y="1600200"/>
            <a:ext cx="6004615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0019D-1EF5-494B-87A5-6E589DA25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2324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4B690-8E64-6749-B3EC-FCB2935F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Protecția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21B1A9-AF45-9B42-99CA-63245AB471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520" y="1600200"/>
            <a:ext cx="5188959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B656A-619C-0F4C-9550-40B5C6E6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736890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01E63-FC7C-C440-AE7F-E61565803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Intrare în tabelul de pagini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971837-A79B-3343-ABC4-ED9C2B2389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o-RO" dirty="0"/>
              <a:t>Numărul cadrului</a:t>
            </a:r>
          </a:p>
          <a:p>
            <a:endParaRPr lang="ro-RO" dirty="0"/>
          </a:p>
          <a:p>
            <a:r>
              <a:rPr lang="ro-RO" dirty="0"/>
              <a:t>Drepturi de acces</a:t>
            </a:r>
          </a:p>
          <a:p>
            <a:pPr lvl="1"/>
            <a:r>
              <a:rPr lang="ro-RO" dirty="0"/>
              <a:t>nici unul</a:t>
            </a:r>
          </a:p>
          <a:p>
            <a:pPr lvl="1"/>
            <a:r>
              <a:rPr lang="ro-RO" dirty="0"/>
              <a:t>citire</a:t>
            </a:r>
          </a:p>
          <a:p>
            <a:pPr lvl="1"/>
            <a:r>
              <a:rPr lang="ro-RO" dirty="0"/>
              <a:t>scriere</a:t>
            </a:r>
          </a:p>
          <a:p>
            <a:endParaRPr lang="ro-RO" dirty="0"/>
          </a:p>
          <a:p>
            <a:r>
              <a:rPr lang="ro-RO" dirty="0"/>
              <a:t>Valabilă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5B6BBD3-875F-2C4C-8A05-F339F61FA4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900" y="2531021"/>
            <a:ext cx="4038600" cy="136302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1F54D-E5EA-B54C-AF51-2FF0CA8A0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48</a:t>
            </a:fld>
            <a:endParaRPr lang="ro-RO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D72DC7-F3B3-6245-9651-9BA790D714C1}"/>
              </a:ext>
            </a:extLst>
          </p:cNvPr>
          <p:cNvSpPr txBox="1"/>
          <p:nvPr/>
        </p:nvSpPr>
        <p:spPr>
          <a:xfrm>
            <a:off x="5562600" y="4191000"/>
            <a:ext cx="1710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/>
              <a:t>exemple sur x86</a:t>
            </a:r>
          </a:p>
        </p:txBody>
      </p:sp>
    </p:spTree>
    <p:extLst>
      <p:ext uri="{BB962C8B-B14F-4D97-AF65-F5344CB8AC3E}">
        <p14:creationId xmlns:p14="http://schemas.microsoft.com/office/powerpoint/2010/main" val="10849225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1F515-6DFC-214B-9683-0BCAAA4E6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Partajarea memoriei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012BABA-73E9-F344-BBD8-E92E3AE014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784" y="1600200"/>
            <a:ext cx="4512432" cy="4525963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2A5E6D-5A1E-2C48-BDB1-64D634BAE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52304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0E017-116B-4748-91FB-0256F829C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4638"/>
            <a:ext cx="7467600" cy="563562"/>
          </a:xfrm>
        </p:spPr>
        <p:txBody>
          <a:bodyPr>
            <a:normAutofit fontScale="90000"/>
          </a:bodyPr>
          <a:lstStyle/>
          <a:p>
            <a:r>
              <a:rPr lang="rm-CH"/>
              <a:t>Dimensiunea tabelului de memorie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49384-6E13-174D-A6F5-95EE850BA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m-CH"/>
              <a:t>32 biți - 4 GB Memorie</a:t>
            </a:r>
          </a:p>
          <a:p>
            <a:pPr lvl="1"/>
            <a:r>
              <a:rPr lang="rm-CH"/>
              <a:t>dimensiunea paginii = 4 KB</a:t>
            </a:r>
          </a:p>
          <a:p>
            <a:pPr lvl="1"/>
            <a:r>
              <a:rPr lang="rm-CH"/>
              <a:t>2</a:t>
            </a:r>
            <a:r>
              <a:rPr lang="rm-CH" baseline="30000"/>
              <a:t>20</a:t>
            </a:r>
            <a:r>
              <a:rPr lang="rm-CH"/>
              <a:t> pagini de memorie</a:t>
            </a:r>
          </a:p>
          <a:p>
            <a:pPr lvl="1"/>
            <a:r>
              <a:rPr lang="rm-CH"/>
              <a:t>intrare în tabelul de memorie = 4 B</a:t>
            </a:r>
          </a:p>
          <a:p>
            <a:endParaRPr lang="rm-CH"/>
          </a:p>
          <a:p>
            <a:r>
              <a:rPr lang="rm-CH"/>
              <a:t>Dimensiune 4 * 2</a:t>
            </a:r>
            <a:r>
              <a:rPr lang="rm-CH" baseline="30000"/>
              <a:t>20</a:t>
            </a:r>
            <a:r>
              <a:rPr lang="rm-CH"/>
              <a:t> = 4 MB / proces</a:t>
            </a:r>
          </a:p>
          <a:p>
            <a:endParaRPr lang="rm-CH" baseline="30000"/>
          </a:p>
          <a:p>
            <a:r>
              <a:rPr lang="rm-CH"/>
              <a:t>64 biți?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7F0FE-2C8F-1E4D-ACEF-CFC5B3233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50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16492937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BABDC-E53B-DA44-97BF-4EC04F6AD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Paginare ierarhică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1F477F-80DB-DC45-9AB8-461F2CCB9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69401"/>
            <a:ext cx="8229600" cy="338756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22DB4-91D7-2E40-919B-BD8E8043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012326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EA4F7-25A7-0541-BCAC-08BD6D9E3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Segmentare sau paginare?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CE61B-8F6A-4C49-80A8-CE2971725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Se folosește paginarea</a:t>
            </a:r>
          </a:p>
          <a:p>
            <a:endParaRPr lang="ro-RO"/>
          </a:p>
          <a:p>
            <a:r>
              <a:rPr lang="ro-RO"/>
              <a:t>Amandouă</a:t>
            </a:r>
          </a:p>
          <a:p>
            <a:pPr lvl="1"/>
            <a:r>
              <a:rPr lang="ro-RO"/>
              <a:t>x86 </a:t>
            </a:r>
          </a:p>
          <a:p>
            <a:pPr lvl="2"/>
            <a:r>
              <a:rPr lang="ro-RO"/>
              <a:t>segmente și adresă logică</a:t>
            </a:r>
          </a:p>
          <a:p>
            <a:pPr lvl="2"/>
            <a:r>
              <a:rPr lang="ro-RO"/>
              <a:t>registre de segment</a:t>
            </a:r>
          </a:p>
          <a:p>
            <a:pPr lvl="1"/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EA6B3-7487-064A-A637-C72297C9E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52</a:t>
            </a:fld>
            <a:endParaRPr lang="ro-RO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D515FA-39FC-8F41-8A6C-14FD69C95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828367"/>
            <a:ext cx="8077200" cy="129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8087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26B73-C1D8-6E4E-960E-A5F8AEE19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Cuvinte cheie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C9A09-3FE2-C24B-BBE4-875AD97C24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/>
              <a:t>Adresă logică</a:t>
            </a:r>
          </a:p>
          <a:p>
            <a:r>
              <a:rPr lang="ro-RO"/>
              <a:t>Adresă fizică</a:t>
            </a:r>
          </a:p>
          <a:p>
            <a:r>
              <a:rPr lang="ro-RO"/>
              <a:t>Spațiul de adresare</a:t>
            </a:r>
          </a:p>
          <a:p>
            <a:r>
              <a:rPr lang="ro-RO"/>
              <a:t>Alocarea de adrese</a:t>
            </a:r>
          </a:p>
          <a:p>
            <a:r>
              <a:rPr lang="ro-RO"/>
              <a:t>Load</a:t>
            </a:r>
          </a:p>
          <a:p>
            <a:r>
              <a:rPr lang="ro-RO"/>
              <a:t>Store</a:t>
            </a:r>
          </a:p>
          <a:p>
            <a:r>
              <a:rPr lang="ro-RO"/>
              <a:t>Register Memory</a:t>
            </a:r>
          </a:p>
          <a:p>
            <a:r>
              <a:rPr lang="ro-RO"/>
              <a:t>Memorie Cache</a:t>
            </a:r>
          </a:p>
          <a:p>
            <a:r>
              <a:rPr lang="ro-RO"/>
              <a:t>Real Mode</a:t>
            </a:r>
          </a:p>
          <a:p>
            <a:r>
              <a:rPr lang="ro-RO"/>
              <a:t>Protected Mode</a:t>
            </a:r>
          </a:p>
          <a:p>
            <a:endParaRPr lang="ro-RO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0EF27B-A32E-9D4E-80A0-865F8996C9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/>
              <a:t>Memorie contiguă</a:t>
            </a:r>
          </a:p>
          <a:p>
            <a:r>
              <a:rPr lang="ro-RO"/>
              <a:t>Fragmentare</a:t>
            </a:r>
          </a:p>
          <a:p>
            <a:r>
              <a:rPr lang="ro-RO"/>
              <a:t>Base</a:t>
            </a:r>
          </a:p>
          <a:p>
            <a:r>
              <a:rPr lang="ro-RO"/>
              <a:t>Limit</a:t>
            </a:r>
          </a:p>
          <a:p>
            <a:r>
              <a:rPr lang="ro-RO"/>
              <a:t>Selector</a:t>
            </a:r>
          </a:p>
          <a:p>
            <a:r>
              <a:rPr lang="ro-RO"/>
              <a:t>Offset</a:t>
            </a:r>
          </a:p>
          <a:p>
            <a:r>
              <a:rPr lang="ro-RO"/>
              <a:t>Segmentare</a:t>
            </a:r>
          </a:p>
          <a:p>
            <a:r>
              <a:rPr lang="ro-RO"/>
              <a:t>Paginare</a:t>
            </a:r>
          </a:p>
          <a:p>
            <a:r>
              <a:rPr lang="ro-RO"/>
              <a:t>TLB</a:t>
            </a:r>
          </a:p>
          <a:p>
            <a:r>
              <a:rPr lang="ro-RO"/>
              <a:t>Tabel de pagini</a:t>
            </a:r>
          </a:p>
          <a:p>
            <a:endParaRPr lang="ro-RO"/>
          </a:p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1111B-0DD8-2549-A040-29FA546D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183016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Întrebări</a:t>
            </a:r>
          </a:p>
        </p:txBody>
      </p:sp>
      <p:pic>
        <p:nvPicPr>
          <p:cNvPr id="6" name="Content Placeholder 5" descr="questionMarkIcon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834384" y="3134709"/>
            <a:ext cx="1475232" cy="145694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17490-7D10-5848-8514-BF8A22DF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74288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13887</TotalTime>
  <Words>779</Words>
  <Application>Microsoft Macintosh PowerPoint</Application>
  <PresentationFormat>On-screen Show (4:3)</PresentationFormat>
  <Paragraphs>314</Paragraphs>
  <Slides>54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Sisteme de operare</vt:lpstr>
      <vt:lpstr>Cuprins</vt:lpstr>
      <vt:lpstr>Bibliografie</vt:lpstr>
      <vt:lpstr>Arhitecturi de sisteme</vt:lpstr>
      <vt:lpstr>Memoria</vt:lpstr>
      <vt:lpstr>Memoria</vt:lpstr>
      <vt:lpstr>Ierarhia de memorie</vt:lpstr>
      <vt:lpstr>Memorie</vt:lpstr>
      <vt:lpstr>Arhitecturi</vt:lpstr>
      <vt:lpstr>Load/Store</vt:lpstr>
      <vt:lpstr>Register Memory</vt:lpstr>
      <vt:lpstr>Memoria Cache</vt:lpstr>
      <vt:lpstr>Memoria Cache</vt:lpstr>
      <vt:lpstr>Parametrii memoriei cache</vt:lpstr>
      <vt:lpstr>Accesul de memorie</vt:lpstr>
      <vt:lpstr>Adresarea memoriei</vt:lpstr>
      <vt:lpstr>Adresa de memorie</vt:lpstr>
      <vt:lpstr>Stabilirea adreselor de memorie</vt:lpstr>
      <vt:lpstr>Stabilirea adreselor de memorie</vt:lpstr>
      <vt:lpstr>Spațiul de adresare</vt:lpstr>
      <vt:lpstr>Spațiul de adrese</vt:lpstr>
      <vt:lpstr>Sistemul ideal</vt:lpstr>
      <vt:lpstr>Moduri de funcționare (x86)</vt:lpstr>
      <vt:lpstr>Protecția memoriei</vt:lpstr>
      <vt:lpstr>Protecția de memorie</vt:lpstr>
      <vt:lpstr>Memorie contiguă</vt:lpstr>
      <vt:lpstr>Memorie contiguă</vt:lpstr>
      <vt:lpstr>Implementare</vt:lpstr>
      <vt:lpstr>Implementare</vt:lpstr>
      <vt:lpstr>Algoritmi de alocare</vt:lpstr>
      <vt:lpstr>Fragmentare</vt:lpstr>
      <vt:lpstr>Segmentarea</vt:lpstr>
      <vt:lpstr>Segmentarea</vt:lpstr>
      <vt:lpstr>Adresarea memoriei (segmentare)</vt:lpstr>
      <vt:lpstr>Transformarea adresei</vt:lpstr>
      <vt:lpstr>Exemple de segmente</vt:lpstr>
      <vt:lpstr>Descriptor de segment</vt:lpstr>
      <vt:lpstr>Adresă lineară</vt:lpstr>
      <vt:lpstr>Fragmentarea</vt:lpstr>
      <vt:lpstr>Paginarea</vt:lpstr>
      <vt:lpstr>Paginarea</vt:lpstr>
      <vt:lpstr>Tabelul de pagini</vt:lpstr>
      <vt:lpstr>Transformarea adresei</vt:lpstr>
      <vt:lpstr>Transformarea adresei</vt:lpstr>
      <vt:lpstr>Translation Lookaside Buffer (TLB)</vt:lpstr>
      <vt:lpstr>Transformarea adresei folosind TLB</vt:lpstr>
      <vt:lpstr>Protecția</vt:lpstr>
      <vt:lpstr>Intrare în tabelul de pagini</vt:lpstr>
      <vt:lpstr>Partajarea memoriei</vt:lpstr>
      <vt:lpstr>Dimensiunea tabelului de memorie</vt:lpstr>
      <vt:lpstr>Paginare ierarhică</vt:lpstr>
      <vt:lpstr>Segmentare sau paginare?</vt:lpstr>
      <vt:lpstr>Cuvinte cheie</vt:lpstr>
      <vt:lpstr>Întrebări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Alex</dc:creator>
  <cp:lastModifiedBy>Alexandru Radovici</cp:lastModifiedBy>
  <cp:revision>1283</cp:revision>
  <dcterms:created xsi:type="dcterms:W3CDTF">2010-02-23T11:53:40Z</dcterms:created>
  <dcterms:modified xsi:type="dcterms:W3CDTF">2020-03-16T10:29:57Z</dcterms:modified>
</cp:coreProperties>
</file>