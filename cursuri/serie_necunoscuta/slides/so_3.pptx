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57" r:id="rId2"/>
    <p:sldId id="403" r:id="rId3"/>
    <p:sldId id="466" r:id="rId4"/>
    <p:sldId id="264" r:id="rId5"/>
    <p:sldId id="497" r:id="rId6"/>
    <p:sldId id="258" r:id="rId7"/>
    <p:sldId id="317" r:id="rId8"/>
    <p:sldId id="316" r:id="rId9"/>
    <p:sldId id="498" r:id="rId10"/>
    <p:sldId id="500" r:id="rId11"/>
    <p:sldId id="265" r:id="rId12"/>
    <p:sldId id="319" r:id="rId13"/>
    <p:sldId id="318" r:id="rId14"/>
    <p:sldId id="266" r:id="rId15"/>
    <p:sldId id="509" r:id="rId16"/>
    <p:sldId id="499" r:id="rId17"/>
    <p:sldId id="510" r:id="rId18"/>
    <p:sldId id="511" r:id="rId19"/>
    <p:sldId id="270" r:id="rId20"/>
    <p:sldId id="272" r:id="rId21"/>
    <p:sldId id="275" r:id="rId22"/>
    <p:sldId id="536" r:id="rId23"/>
    <p:sldId id="286" r:id="rId24"/>
    <p:sldId id="287" r:id="rId25"/>
    <p:sldId id="296" r:id="rId26"/>
    <p:sldId id="514" r:id="rId27"/>
    <p:sldId id="515" r:id="rId28"/>
    <p:sldId id="516" r:id="rId29"/>
    <p:sldId id="517" r:id="rId30"/>
    <p:sldId id="518" r:id="rId31"/>
    <p:sldId id="521" r:id="rId32"/>
    <p:sldId id="522" r:id="rId33"/>
    <p:sldId id="523" r:id="rId34"/>
    <p:sldId id="519" r:id="rId35"/>
    <p:sldId id="524" r:id="rId36"/>
    <p:sldId id="520" r:id="rId37"/>
    <p:sldId id="525" r:id="rId38"/>
    <p:sldId id="528" r:id="rId39"/>
    <p:sldId id="289" r:id="rId40"/>
    <p:sldId id="527" r:id="rId41"/>
    <p:sldId id="529" r:id="rId42"/>
    <p:sldId id="291" r:id="rId43"/>
    <p:sldId id="530" r:id="rId44"/>
    <p:sldId id="531" r:id="rId45"/>
    <p:sldId id="293" r:id="rId46"/>
    <p:sldId id="313" r:id="rId47"/>
    <p:sldId id="532" r:id="rId48"/>
    <p:sldId id="294" r:id="rId49"/>
    <p:sldId id="533" r:id="rId50"/>
    <p:sldId id="534" r:id="rId51"/>
    <p:sldId id="295" r:id="rId52"/>
    <p:sldId id="297" r:id="rId53"/>
    <p:sldId id="314" r:id="rId54"/>
    <p:sldId id="535" r:id="rId55"/>
    <p:sldId id="483" r:id="rId56"/>
    <p:sldId id="267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1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34" autoAdjust="0"/>
    <p:restoredTop sz="85087" autoAdjust="0"/>
  </p:normalViewPr>
  <p:slideViewPr>
    <p:cSldViewPr>
      <p:cViewPr varScale="1">
        <p:scale>
          <a:sx n="110" d="100"/>
          <a:sy n="110" d="100"/>
        </p:scale>
        <p:origin x="200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18"/>
    </p:cViewPr>
  </p:sorterViewPr>
  <p:notesViewPr>
    <p:cSldViewPr>
      <p:cViewPr varScale="1">
        <p:scale>
          <a:sx n="69" d="100"/>
          <a:sy n="69" d="100"/>
        </p:scale>
        <p:origin x="-279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1A42E-C745-4D52-ACD7-4CA427CF4F78}" type="datetimeFigureOut">
              <a:rPr lang="en-US" smtClean="0"/>
              <a:pPr/>
              <a:t>3/22/20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0CB2F-E359-427D-B4C1-80D122151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10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110FA-B3C3-4C93-B177-7D383B68ACCB}" type="datetimeFigureOut">
              <a:rPr lang="en-US" smtClean="0"/>
              <a:pPr/>
              <a:t>3/22/20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096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191000"/>
            <a:ext cx="5486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01EB-536E-459D-BF26-B7AF0B3C1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98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381000"/>
            <a:ext cx="48768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6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626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i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i12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  <p:extLst>
      <p:ext uri="{BB962C8B-B14F-4D97-AF65-F5344CB8AC3E}">
        <p14:creationId xmlns:p14="http://schemas.microsoft.com/office/powerpoint/2010/main" val="1063397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69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031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0" y="2438400"/>
            <a:ext cx="4648200" cy="106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886200"/>
            <a:ext cx="4495800" cy="5334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E80A-9FA1-D94C-9AC8-2DFDB75B3324}" type="datetime1">
              <a:rPr lang="ro-RO" smtClean="0"/>
              <a:t>22.03.2020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81000" y="1828800"/>
            <a:ext cx="3352800" cy="3276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162800" cy="5635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9270-5514-9246-900B-ED888FCCAE8F}" type="datetime1">
              <a:rPr lang="ro-RO" smtClean="0"/>
              <a:t>22.03.2020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3BC7-FB55-9845-80D6-BD0683244A6F}" type="datetime1">
              <a:rPr lang="ro-RO" smtClean="0"/>
              <a:t>22.03.2020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D13-A941-B64F-A884-37CF169C52DA}" type="datetime1">
              <a:rPr lang="ro-RO" smtClean="0"/>
              <a:t>22.03.2020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D384-E5A5-3B4C-AD13-366CF706A15D}" type="datetime1">
              <a:rPr lang="ro-RO" smtClean="0"/>
              <a:t>22.03.2020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910C-8865-0A4C-AE0D-9CBC416F8CC4}" type="datetime1">
              <a:rPr lang="ro-RO" smtClean="0"/>
              <a:t>22.03.2020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ABE3-8843-4443-8D05-18EF7E1F058A}" type="datetime1">
              <a:rPr lang="ro-RO" smtClean="0"/>
              <a:t>22.03.2020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43F9-D243-B946-B36A-E4C465AE7595}" type="datetime1">
              <a:rPr lang="ro-RO" smtClean="0"/>
              <a:t>22.03.2020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6018-3745-8847-AB04-EDAB368A0BAF}" type="datetime1">
              <a:rPr lang="ro-RO" smtClean="0"/>
              <a:t>22.03.2020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83E6-3D2B-B144-96B3-0591C89AACD2}" type="datetime1">
              <a:rPr lang="ro-RO" smtClean="0"/>
              <a:t>22.03.2020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5110F-C4CB-6649-9BAC-7584921789EB}" type="datetime1">
              <a:rPr lang="ro-RO" smtClean="0"/>
              <a:t>22.03.2020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0BE0-75C7-0E48-86F9-13113292EB8F}" type="datetime1">
              <a:rPr lang="ro-RO" smtClean="0"/>
              <a:t>22.03.2020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99DE6-865C-8F49-845D-89F89C7766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4646" y="152400"/>
            <a:ext cx="905346" cy="436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FC0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B05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b="1" dirty="0"/>
              <a:t>Sisteme de operare</a:t>
            </a:r>
            <a:endParaRPr lang="fr-FR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err="1"/>
              <a:t>Procese</a:t>
            </a:r>
            <a:endParaRPr lang="fr-FR" dirty="0"/>
          </a:p>
        </p:txBody>
      </p:sp>
      <p:pic>
        <p:nvPicPr>
          <p:cNvPr id="11" name="Picture Placeholder 4">
            <a:extLst>
              <a:ext uri="{FF2B5EF4-FFF2-40B4-BE49-F238E27FC236}">
                <a16:creationId xmlns:a16="http://schemas.microsoft.com/office/drawing/2014/main" id="{AED628B3-2EF3-4141-8AAF-9C1297B95C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268" b="-51268"/>
          <a:stretch/>
        </p:blipFill>
        <p:spPr/>
      </p:pic>
    </p:spTree>
    <p:extLst>
      <p:ext uri="{BB962C8B-B14F-4D97-AF65-F5344CB8AC3E}">
        <p14:creationId xmlns:p14="http://schemas.microsoft.com/office/powerpoint/2010/main" val="150517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572000" cy="4525963"/>
          </a:xfrm>
        </p:spPr>
        <p:txBody>
          <a:bodyPr>
            <a:normAutofit/>
          </a:bodyPr>
          <a:lstStyle/>
          <a:p>
            <a:r>
              <a:rPr lang="ro-RO"/>
              <a:t>Procese</a:t>
            </a:r>
          </a:p>
          <a:p>
            <a:pPr lvl="1"/>
            <a:r>
              <a:rPr lang="ro-RO"/>
              <a:t>Rol</a:t>
            </a:r>
          </a:p>
          <a:p>
            <a:pPr lvl="1"/>
            <a:r>
              <a:rPr lang="ro-RO"/>
              <a:t>Atribute</a:t>
            </a:r>
          </a:p>
          <a:p>
            <a:r>
              <a:rPr lang="ro-RO"/>
              <a:t>Planificarea</a:t>
            </a:r>
          </a:p>
          <a:p>
            <a:r>
              <a:rPr lang="ro-RO"/>
              <a:t>Pornirea SO</a:t>
            </a:r>
          </a:p>
          <a:p>
            <a:r>
              <a:rPr lang="ro-RO"/>
              <a:t>Ierarhia de procese</a:t>
            </a:r>
          </a:p>
          <a:p>
            <a:r>
              <a:rPr lang="ro-RO"/>
              <a:t>Crearea unui proces</a:t>
            </a:r>
          </a:p>
          <a:p>
            <a:r>
              <a:rPr lang="ro-RO"/>
              <a:t>Inchidirea unui proces</a:t>
            </a:r>
          </a:p>
          <a:p>
            <a:r>
              <a:rPr lang="ro-RO"/>
              <a:t>API pentru procese</a:t>
            </a:r>
          </a:p>
          <a:p>
            <a:endParaRPr lang="ro-RO"/>
          </a:p>
        </p:txBody>
      </p:sp>
      <p:pic>
        <p:nvPicPr>
          <p:cNvPr id="6" name="Content Placeholder 5" descr="checklist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72100" y="2434431"/>
            <a:ext cx="2590800" cy="28575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A1572-7B95-894A-BCE2-FBE8C5D5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74189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Bibliografie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m-CH"/>
              <a:t>Modern Operating Systems</a:t>
            </a:r>
          </a:p>
          <a:p>
            <a:pPr lvl="1"/>
            <a:r>
              <a:rPr lang="rm-CH"/>
              <a:t>Capitolul 2</a:t>
            </a:r>
          </a:p>
          <a:p>
            <a:pPr lvl="2"/>
            <a:r>
              <a:rPr lang="rm-CH"/>
              <a:t>2.1</a:t>
            </a:r>
          </a:p>
          <a:p>
            <a:r>
              <a:rPr lang="rm-CH"/>
              <a:t>Operating Systems Concepts</a:t>
            </a:r>
          </a:p>
          <a:p>
            <a:pPr lvl="1"/>
            <a:r>
              <a:rPr lang="rm-CH"/>
              <a:t>Capitolul 3</a:t>
            </a:r>
          </a:p>
          <a:p>
            <a:pPr marL="457200" lvl="1" indent="0">
              <a:buNone/>
            </a:pPr>
            <a:endParaRPr lang="rm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CAAA-57D9-064F-A3FB-0252921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3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622450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74FB-7099-2648-8014-53CB8239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94D23-367E-574B-AE59-9453A94A4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sz="2800"/>
              <a:t>unitatea de bază de execuție</a:t>
            </a:r>
          </a:p>
          <a:p>
            <a:r>
              <a:rPr lang="ro-RO" sz="2800"/>
              <a:t>în SO există doua abstractizări</a:t>
            </a:r>
          </a:p>
          <a:p>
            <a:pPr lvl="1"/>
            <a:r>
              <a:rPr lang="ro-RO" sz="2000" b="1"/>
              <a:t>fișier</a:t>
            </a:r>
            <a:r>
              <a:rPr lang="ro-RO" sz="2000"/>
              <a:t> – </a:t>
            </a:r>
            <a:r>
              <a:rPr lang="ro-RO" sz="200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abstractizare pentru informație / datele</a:t>
            </a:r>
            <a:endParaRPr lang="ro-RO" sz="2000" b="1"/>
          </a:p>
          <a:p>
            <a:pPr lvl="1"/>
            <a:r>
              <a:rPr lang="ro-RO" sz="2000" b="1"/>
              <a:t>processus </a:t>
            </a:r>
            <a:r>
              <a:rPr lang="ro-RO" sz="2000"/>
              <a:t>– abstractizare pentru acțiuni</a:t>
            </a:r>
          </a:p>
          <a:p>
            <a:endParaRPr lang="ro-RO" sz="2457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0" indent="0">
              <a:buNone/>
            </a:pPr>
            <a:endParaRPr lang="ro-RO" sz="1657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66F4F-8A80-FF47-A3B9-2249855F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66373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66AE2D-0D88-CE44-9638-EF6C00B8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Proces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4BEDE2-175D-294C-8792-9C4297953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11F7F-76C0-5A4F-8185-81852C68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04416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1A58C914-9D0E-4A4F-8EA6-F1425517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Ce este un proces?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5F782BD-DE19-A744-B431-C42C8D4FA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Un program în curs de execuție </a:t>
            </a:r>
          </a:p>
          <a:p>
            <a:endParaRPr lang="ro-RO" altLang="ro-RO" dirty="0">
              <a:ea typeface="ＭＳ Ｐゴシック" panose="020B0600070205080204" pitchFamily="34" charset="-128"/>
            </a:endParaRPr>
          </a:p>
          <a:p>
            <a:r>
              <a:rPr lang="ro-RO" altLang="ro-RO" dirty="0">
                <a:ea typeface="ＭＳ Ｐゴシック" panose="020B0600070205080204" pitchFamily="34" charset="-128"/>
              </a:rPr>
              <a:t>Încapsulare / abstractizarea execuției în SO </a:t>
            </a:r>
          </a:p>
          <a:p>
            <a:endParaRPr lang="ro-RO" altLang="ro-RO" dirty="0">
              <a:ea typeface="ＭＳ Ｐゴシック" panose="020B0600070205080204" pitchFamily="34" charset="-128"/>
            </a:endParaRPr>
          </a:p>
          <a:p>
            <a:r>
              <a:rPr lang="ro-RO" altLang="ro-RO" dirty="0">
                <a:ea typeface="ＭＳ Ｐゴシック" panose="020B0600070205080204" pitchFamily="34" charset="-128"/>
              </a:rPr>
              <a:t>Abstractizarea procesorului / memoriei / I/O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405EF-8B6A-A041-AFA9-D744A1008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o-RO" dirty="0"/>
              <a:t>SO: Curs 3: Procese</a:t>
            </a:r>
          </a:p>
        </p:txBody>
      </p:sp>
      <p:sp>
        <p:nvSpPr>
          <p:cNvPr id="6149" name="Slide Number Placeholder 4">
            <a:extLst>
              <a:ext uri="{FF2B5EF4-FFF2-40B4-BE49-F238E27FC236}">
                <a16:creationId xmlns:a16="http://schemas.microsoft.com/office/drawing/2014/main" id="{5C68E933-72EB-0649-A9AA-8AE97C8D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9F6F884-E049-6348-A0FC-E7FAB0122BF7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839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3F7B0AB-E046-A844-B9DF-3E0ECA09BE02}"/>
              </a:ext>
            </a:extLst>
          </p:cNvPr>
          <p:cNvSpPr/>
          <p:nvPr/>
        </p:nvSpPr>
        <p:spPr>
          <a:xfrm>
            <a:off x="3124200" y="4648200"/>
            <a:ext cx="2286000" cy="152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o-RO" dirty="0"/>
          </a:p>
        </p:txBody>
      </p:sp>
      <p:sp>
        <p:nvSpPr>
          <p:cNvPr id="10244" name="Slide Number Placeholder 4">
            <a:extLst>
              <a:ext uri="{FF2B5EF4-FFF2-40B4-BE49-F238E27FC236}">
                <a16:creationId xmlns:a16="http://schemas.microsoft.com/office/drawing/2014/main" id="{35F6BCDB-2863-8C4D-A037-69471424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2460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188A096-A29D-AA4A-B9AD-DFB51361CFC0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CBDAFA-916D-E748-9E56-9644BCA45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981200"/>
            <a:ext cx="1219200" cy="838200"/>
          </a:xfrm>
          <a:prstGeom prst="rect">
            <a:avLst/>
          </a:prstGeom>
          <a:gradFill rotWithShape="1">
            <a:gsLst>
              <a:gs pos="0">
                <a:srgbClr val="3A7CCB"/>
              </a:gs>
              <a:gs pos="20000">
                <a:srgbClr val="3C7BC7"/>
              </a:gs>
              <a:gs pos="100000">
                <a:srgbClr val="2C5D98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ro-RO" dirty="0">
                <a:solidFill>
                  <a:schemeClr val="lt1"/>
                </a:solidFill>
              </a:rPr>
              <a:t>Proces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AE7663-C1BC-4F4F-AF6E-46468C45B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276600"/>
            <a:ext cx="6248400" cy="990600"/>
          </a:xfrm>
          <a:prstGeom prst="rect">
            <a:avLst/>
          </a:prstGeom>
          <a:gradFill rotWithShape="1">
            <a:gsLst>
              <a:gs pos="0">
                <a:srgbClr val="3A7CCB"/>
              </a:gs>
              <a:gs pos="20000">
                <a:srgbClr val="3C7BC7"/>
              </a:gs>
              <a:gs pos="100000">
                <a:srgbClr val="2C5D98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ro-RO" dirty="0" err="1">
                <a:solidFill>
                  <a:schemeClr val="lt1"/>
                </a:solidFill>
                <a:latin typeface="+mn-lt"/>
                <a:ea typeface="+mn-ea"/>
              </a:rPr>
              <a:t>Kernel</a:t>
            </a:r>
            <a:r>
              <a:rPr lang="ro-RO" dirty="0">
                <a:solidFill>
                  <a:schemeClr val="lt1"/>
                </a:solidFill>
                <a:latin typeface="+mn-lt"/>
                <a:ea typeface="+mn-ea"/>
              </a:rPr>
              <a:t> SO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03BBBF-00BD-6E4F-9C2F-FF5AB0FA1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981200"/>
            <a:ext cx="1219200" cy="838200"/>
          </a:xfrm>
          <a:prstGeom prst="rect">
            <a:avLst/>
          </a:prstGeom>
          <a:solidFill>
            <a:srgbClr val="C0504D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ro-RO" dirty="0">
                <a:solidFill>
                  <a:schemeClr val="lt1"/>
                </a:solidFill>
              </a:rPr>
              <a:t>Proces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87A772-1812-E345-A5C7-93ED2F50D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981200"/>
            <a:ext cx="1219200" cy="838200"/>
          </a:xfrm>
          <a:prstGeom prst="rect">
            <a:avLst/>
          </a:prstGeom>
          <a:solidFill>
            <a:schemeClr val="tx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ro-RO" dirty="0">
                <a:solidFill>
                  <a:schemeClr val="lt1"/>
                </a:solidFill>
                <a:latin typeface="+mn-lt"/>
                <a:ea typeface="+mn-ea"/>
              </a:rPr>
              <a:t>Proces  3</a:t>
            </a:r>
          </a:p>
        </p:txBody>
      </p:sp>
      <p:sp>
        <p:nvSpPr>
          <p:cNvPr id="10249" name="TextBox 9">
            <a:extLst>
              <a:ext uri="{FF2B5EF4-FFF2-40B4-BE49-F238E27FC236}">
                <a16:creationId xmlns:a16="http://schemas.microsoft.com/office/drawing/2014/main" id="{A06102BA-3C54-DA40-A7AE-254CB26D8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724400"/>
            <a:ext cx="11336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b="1" dirty="0"/>
              <a:t>Memorie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B67402-96FE-9B40-ADD2-4B3215D7A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257800"/>
            <a:ext cx="762000" cy="228600"/>
          </a:xfrm>
          <a:prstGeom prst="rect">
            <a:avLst/>
          </a:prstGeom>
          <a:gradFill rotWithShape="1">
            <a:gsLst>
              <a:gs pos="0">
                <a:srgbClr val="3A7CCB"/>
              </a:gs>
              <a:gs pos="20000">
                <a:srgbClr val="3C7BC7"/>
              </a:gs>
              <a:gs pos="100000">
                <a:srgbClr val="2C5D98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8295D3-22BA-5F4B-8F19-CE99D3EF6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791200"/>
            <a:ext cx="762000" cy="228600"/>
          </a:xfrm>
          <a:prstGeom prst="rect">
            <a:avLst/>
          </a:prstGeom>
          <a:gradFill rotWithShape="1">
            <a:gsLst>
              <a:gs pos="0">
                <a:srgbClr val="3A7CCB"/>
              </a:gs>
              <a:gs pos="20000">
                <a:srgbClr val="3C7BC7"/>
              </a:gs>
              <a:gs pos="100000">
                <a:srgbClr val="2C5D98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ACE58B-93B2-CC4E-AAC4-7D39E9FA9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648200"/>
            <a:ext cx="914400" cy="1143000"/>
          </a:xfrm>
          <a:prstGeom prst="rect">
            <a:avLst/>
          </a:prstGeom>
          <a:solidFill>
            <a:srgbClr val="C0504D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7F57A4-7E8A-2D43-A2A4-ECAB720D3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943600"/>
            <a:ext cx="533400" cy="152400"/>
          </a:xfrm>
          <a:prstGeom prst="rect">
            <a:avLst/>
          </a:prstGeom>
          <a:solidFill>
            <a:schemeClr val="tx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4F2417-CC1D-3944-97D4-C4EC8F155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6019800"/>
            <a:ext cx="457200" cy="152400"/>
          </a:xfrm>
          <a:prstGeom prst="rect">
            <a:avLst/>
          </a:prstGeom>
          <a:solidFill>
            <a:schemeClr val="tx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7BB222-B303-F446-9A00-4381DFE26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562600"/>
            <a:ext cx="533400" cy="152400"/>
          </a:xfrm>
          <a:prstGeom prst="rect">
            <a:avLst/>
          </a:prstGeom>
          <a:solidFill>
            <a:schemeClr val="tx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B1ECD-F251-8747-A2BE-0CE42968E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533400" cy="152400"/>
          </a:xfrm>
          <a:prstGeom prst="rect">
            <a:avLst/>
          </a:prstGeom>
          <a:solidFill>
            <a:schemeClr val="tx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5200E3-E0BF-A542-AD39-3DCB1A0952F3}"/>
              </a:ext>
            </a:extLst>
          </p:cNvPr>
          <p:cNvSpPr/>
          <p:nvPr/>
        </p:nvSpPr>
        <p:spPr>
          <a:xfrm>
            <a:off x="1524000" y="4648200"/>
            <a:ext cx="1143000" cy="152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o-RO" dirty="0"/>
          </a:p>
        </p:txBody>
      </p:sp>
      <p:sp>
        <p:nvSpPr>
          <p:cNvPr id="10258" name="TextBox 19">
            <a:extLst>
              <a:ext uri="{FF2B5EF4-FFF2-40B4-BE49-F238E27FC236}">
                <a16:creationId xmlns:a16="http://schemas.microsoft.com/office/drawing/2014/main" id="{757C9E21-28AF-E545-B6A8-ACC64362D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648200"/>
            <a:ext cx="6719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b="1" dirty="0"/>
              <a:t>CPU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2AE564-A630-6041-8E01-D02DF24FF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029200"/>
            <a:ext cx="1143000" cy="152400"/>
          </a:xfrm>
          <a:prstGeom prst="rect">
            <a:avLst/>
          </a:prstGeom>
          <a:solidFill>
            <a:schemeClr val="tx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3AB9EF-A89D-BA43-BF77-6A6A5CDA0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181600"/>
            <a:ext cx="1143000" cy="381000"/>
          </a:xfrm>
          <a:prstGeom prst="rect">
            <a:avLst/>
          </a:prstGeom>
          <a:solidFill>
            <a:srgbClr val="C0504D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953034-A2FB-D749-A3D9-C861BB6F0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562600"/>
            <a:ext cx="1143000" cy="228600"/>
          </a:xfrm>
          <a:prstGeom prst="rect">
            <a:avLst/>
          </a:prstGeom>
          <a:gradFill rotWithShape="1">
            <a:gsLst>
              <a:gs pos="0">
                <a:srgbClr val="3A7CCB"/>
              </a:gs>
              <a:gs pos="20000">
                <a:srgbClr val="3C7BC7"/>
              </a:gs>
              <a:gs pos="100000">
                <a:srgbClr val="2C5D98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80EE08-94B9-D241-815D-FF2670787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791200"/>
            <a:ext cx="1143000" cy="152400"/>
          </a:xfrm>
          <a:prstGeom prst="rect">
            <a:avLst/>
          </a:prstGeom>
          <a:solidFill>
            <a:schemeClr val="tx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6245B5-6482-9F46-ADF8-3DF941496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943600"/>
            <a:ext cx="1143000" cy="228600"/>
          </a:xfrm>
          <a:prstGeom prst="rect">
            <a:avLst/>
          </a:prstGeom>
          <a:gradFill rotWithShape="1">
            <a:gsLst>
              <a:gs pos="0">
                <a:srgbClr val="3A7CCB"/>
              </a:gs>
              <a:gs pos="20000">
                <a:srgbClr val="3C7BC7"/>
              </a:gs>
              <a:gs pos="100000">
                <a:srgbClr val="2C5D98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6231A61-DA7A-8349-8515-FDCC2513549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71600" y="5029200"/>
            <a:ext cx="0" cy="12192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10265" name="TextBox 27">
            <a:extLst>
              <a:ext uri="{FF2B5EF4-FFF2-40B4-BE49-F238E27FC236}">
                <a16:creationId xmlns:a16="http://schemas.microsoft.com/office/drawing/2014/main" id="{521344DD-4E38-5140-B547-8AC755038D2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1027" y="5417622"/>
            <a:ext cx="6890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/>
              <a:t>Timp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4BE409-B803-4A4F-AD23-7BBADF7710CD}"/>
              </a:ext>
            </a:extLst>
          </p:cNvPr>
          <p:cNvSpPr/>
          <p:nvPr/>
        </p:nvSpPr>
        <p:spPr>
          <a:xfrm>
            <a:off x="6477000" y="4648200"/>
            <a:ext cx="1143000" cy="1600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o-RO" dirty="0"/>
          </a:p>
        </p:txBody>
      </p:sp>
      <p:sp>
        <p:nvSpPr>
          <p:cNvPr id="10267" name="TextBox 29">
            <a:extLst>
              <a:ext uri="{FF2B5EF4-FFF2-40B4-BE49-F238E27FC236}">
                <a16:creationId xmlns:a16="http://schemas.microsoft.com/office/drawing/2014/main" id="{36D25A7F-3C6E-C74C-A1BA-4760A4740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724400"/>
            <a:ext cx="1344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b="1" dirty="0"/>
              <a:t>I/O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2EC872-6131-564D-93D4-9C72B0D3B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105400"/>
            <a:ext cx="1143000" cy="152400"/>
          </a:xfrm>
          <a:prstGeom prst="rect">
            <a:avLst/>
          </a:prstGeom>
          <a:solidFill>
            <a:schemeClr val="tx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246A87-4913-D640-BF7A-C1FCCBBC7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257800"/>
            <a:ext cx="1143000" cy="381000"/>
          </a:xfrm>
          <a:prstGeom prst="rect">
            <a:avLst/>
          </a:prstGeom>
          <a:solidFill>
            <a:srgbClr val="C0504D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789F19F-507D-3F40-8C5C-204A0BBDF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638800"/>
            <a:ext cx="1143000" cy="228600"/>
          </a:xfrm>
          <a:prstGeom prst="rect">
            <a:avLst/>
          </a:prstGeom>
          <a:gradFill rotWithShape="1">
            <a:gsLst>
              <a:gs pos="0">
                <a:srgbClr val="3A7CCB"/>
              </a:gs>
              <a:gs pos="20000">
                <a:srgbClr val="3C7BC7"/>
              </a:gs>
              <a:gs pos="100000">
                <a:srgbClr val="2C5D98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ro-RO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F086BB7-81BA-3B45-8B8E-5F09EA22C63F}"/>
              </a:ext>
            </a:extLst>
          </p:cNvPr>
          <p:cNvCxnSpPr>
            <a:cxnSpLocks noChangeShapeType="1"/>
            <a:stCxn id="6" idx="2"/>
          </p:cNvCxnSpPr>
          <p:nvPr/>
        </p:nvCxnSpPr>
        <p:spPr bwMode="auto">
          <a:xfrm>
            <a:off x="1981200" y="281940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D07EC1D-45E0-464D-8F4E-98E9CF9FD2C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0" y="281940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579DC67-9B5B-9E43-BD52-6984ACA2C14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0400" y="2819400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97C0498-B7FD-0F47-A542-F17538A0CF2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67200" y="4267200"/>
            <a:ext cx="0" cy="3810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D47009B-6FAB-644D-8E43-5321CE8165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57400" y="4267200"/>
            <a:ext cx="0" cy="3810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A73D70A-BE51-A04D-8133-A0A84F428D6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0400" y="4267200"/>
            <a:ext cx="0" cy="3810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0DCBF17-0190-B240-A5EA-698A82ADCDA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24200" y="6248400"/>
            <a:ext cx="2286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10278" name="TextBox 48">
            <a:extLst>
              <a:ext uri="{FF2B5EF4-FFF2-40B4-BE49-F238E27FC236}">
                <a16:creationId xmlns:a16="http://schemas.microsoft.com/office/drawing/2014/main" id="{F8742E4B-DDA4-D74A-80DE-6A94D3058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6183313"/>
            <a:ext cx="9797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/>
              <a:t>Stocare</a:t>
            </a:r>
          </a:p>
        </p:txBody>
      </p:sp>
    </p:spTree>
    <p:extLst>
      <p:ext uri="{BB962C8B-B14F-4D97-AF65-F5344CB8AC3E}">
        <p14:creationId xmlns:p14="http://schemas.microsoft.com/office/powerpoint/2010/main" val="4277529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687CE7D5-ABAB-A748-B267-B9CCDE0B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API pentru procese</a:t>
            </a:r>
          </a:p>
        </p:txBody>
      </p:sp>
      <p:sp>
        <p:nvSpPr>
          <p:cNvPr id="11268" name="Slide Number Placeholder 4">
            <a:extLst>
              <a:ext uri="{FF2B5EF4-FFF2-40B4-BE49-F238E27FC236}">
                <a16:creationId xmlns:a16="http://schemas.microsoft.com/office/drawing/2014/main" id="{B8AA2D26-C0EC-BD4A-9680-1D6232D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E1A0F6-9652-8640-B4B7-FEE3C45268F2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6C9015-A853-E945-B2A7-1B2CE3D55D08}"/>
              </a:ext>
            </a:extLst>
          </p:cNvPr>
          <p:cNvSpPr/>
          <p:nvPr/>
        </p:nvSpPr>
        <p:spPr>
          <a:xfrm>
            <a:off x="1143000" y="3962400"/>
            <a:ext cx="17526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  <p:sp>
        <p:nvSpPr>
          <p:cNvPr id="11270" name="TextBox 7">
            <a:extLst>
              <a:ext uri="{FF2B5EF4-FFF2-40B4-BE49-F238E27FC236}">
                <a16:creationId xmlns:a16="http://schemas.microsoft.com/office/drawing/2014/main" id="{67892C2C-68F6-8540-890F-5EB017798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896" y="4186238"/>
            <a:ext cx="13013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sz="2400" b="1" dirty="0">
                <a:latin typeface="Calibri" panose="020F0502020204030204" pitchFamily="34" charset="0"/>
              </a:rPr>
              <a:t>procesor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92B85-2E4B-5D4D-9E4B-95917A2981EB}"/>
              </a:ext>
            </a:extLst>
          </p:cNvPr>
          <p:cNvSpPr/>
          <p:nvPr/>
        </p:nvSpPr>
        <p:spPr>
          <a:xfrm>
            <a:off x="3657600" y="3962400"/>
            <a:ext cx="17526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  <p:sp>
        <p:nvSpPr>
          <p:cNvPr id="11272" name="TextBox 9">
            <a:extLst>
              <a:ext uri="{FF2B5EF4-FFF2-40B4-BE49-F238E27FC236}">
                <a16:creationId xmlns:a16="http://schemas.microsoft.com/office/drawing/2014/main" id="{C8FBE710-BE9B-0046-80ED-F62D7E29A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9822" y="4186238"/>
            <a:ext cx="13452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sz="2400" b="1" dirty="0">
                <a:latin typeface="Calibri" panose="020F0502020204030204" pitchFamily="34" charset="0"/>
              </a:rPr>
              <a:t>memorie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3E74E7-2160-BC4A-8AF8-7142ADCD16D0}"/>
              </a:ext>
            </a:extLst>
          </p:cNvPr>
          <p:cNvSpPr/>
          <p:nvPr/>
        </p:nvSpPr>
        <p:spPr>
          <a:xfrm>
            <a:off x="6248400" y="3962400"/>
            <a:ext cx="17526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  <p:sp>
        <p:nvSpPr>
          <p:cNvPr id="11274" name="TextBox 11">
            <a:extLst>
              <a:ext uri="{FF2B5EF4-FFF2-40B4-BE49-F238E27FC236}">
                <a16:creationId xmlns:a16="http://schemas.microsoft.com/office/drawing/2014/main" id="{F813DBF5-3093-AA4A-B198-0A157E8BF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186238"/>
            <a:ext cx="6078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sz="2400" b="1" dirty="0">
                <a:latin typeface="Calibri" panose="020F0502020204030204" pitchFamily="34" charset="0"/>
              </a:rPr>
              <a:t>I/O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B407BDD-D83E-884F-9987-1BCF93E82D0D}"/>
              </a:ext>
            </a:extLst>
          </p:cNvPr>
          <p:cNvSpPr/>
          <p:nvPr/>
        </p:nvSpPr>
        <p:spPr>
          <a:xfrm>
            <a:off x="1143000" y="2971800"/>
            <a:ext cx="1752600" cy="609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  <p:sp>
        <p:nvSpPr>
          <p:cNvPr id="11276" name="TextBox 14">
            <a:extLst>
              <a:ext uri="{FF2B5EF4-FFF2-40B4-BE49-F238E27FC236}">
                <a16:creationId xmlns:a16="http://schemas.microsoft.com/office/drawing/2014/main" id="{45911E57-2D5A-174E-A99F-041C568E9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638" y="3048000"/>
            <a:ext cx="11691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ro-RO" altLang="ro-RO" dirty="0" err="1">
                <a:latin typeface="Calibri" panose="020F0502020204030204" pitchFamily="34" charset="0"/>
              </a:rPr>
              <a:t>Thread</a:t>
            </a:r>
            <a:r>
              <a:rPr lang="ro-RO" altLang="ro-RO" dirty="0">
                <a:latin typeface="Calibri" panose="020F0502020204030204" pitchFamily="34" charset="0"/>
              </a:rPr>
              <a:t>-uri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62603A6-3FA4-914E-A1A6-385D1E9BE071}"/>
              </a:ext>
            </a:extLst>
          </p:cNvPr>
          <p:cNvSpPr/>
          <p:nvPr/>
        </p:nvSpPr>
        <p:spPr>
          <a:xfrm>
            <a:off x="3657600" y="2971800"/>
            <a:ext cx="1752600" cy="609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  <p:sp>
        <p:nvSpPr>
          <p:cNvPr id="11278" name="TextBox 16">
            <a:extLst>
              <a:ext uri="{FF2B5EF4-FFF2-40B4-BE49-F238E27FC236}">
                <a16:creationId xmlns:a16="http://schemas.microsoft.com/office/drawing/2014/main" id="{3600B404-7486-7248-899C-5B96939E2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2525" y="2935288"/>
            <a:ext cx="109196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ro-RO" altLang="ro-RO" dirty="0">
                <a:latin typeface="Calibri" panose="020F0502020204030204" pitchFamily="34" charset="0"/>
              </a:rPr>
              <a:t>memorie </a:t>
            </a:r>
          </a:p>
          <a:p>
            <a:pPr algn="ctr" eaLnBrk="1" hangingPunct="1"/>
            <a:r>
              <a:rPr lang="ro-RO" altLang="ro-RO" dirty="0">
                <a:latin typeface="Calibri" panose="020F0502020204030204" pitchFamily="34" charset="0"/>
              </a:rPr>
              <a:t>virtuală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961C4FD-55D4-3A4E-A612-7E33E3B72907}"/>
              </a:ext>
            </a:extLst>
          </p:cNvPr>
          <p:cNvSpPr/>
          <p:nvPr/>
        </p:nvSpPr>
        <p:spPr>
          <a:xfrm>
            <a:off x="6248400" y="2971800"/>
            <a:ext cx="1752600" cy="609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  <p:sp>
        <p:nvSpPr>
          <p:cNvPr id="11280" name="TextBox 18">
            <a:extLst>
              <a:ext uri="{FF2B5EF4-FFF2-40B4-BE49-F238E27FC236}">
                <a16:creationId xmlns:a16="http://schemas.microsoft.com/office/drawing/2014/main" id="{4B95CFCB-735F-0D48-BD80-A8537B6EB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795" y="2935288"/>
            <a:ext cx="148303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ro-RO" altLang="ro-RO" dirty="0">
                <a:latin typeface="Calibri" panose="020F0502020204030204" pitchFamily="34" charset="0"/>
              </a:rPr>
              <a:t>descriptori de</a:t>
            </a:r>
          </a:p>
          <a:p>
            <a:pPr algn="ctr" eaLnBrk="1" hangingPunct="1"/>
            <a:r>
              <a:rPr lang="ro-RO" altLang="ro-RO" dirty="0">
                <a:latin typeface="Calibri" panose="020F0502020204030204" pitchFamily="34" charset="0"/>
              </a:rPr>
              <a:t>fișiere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972838D7-BF80-F749-9DED-55B3A52BB989}"/>
              </a:ext>
            </a:extLst>
          </p:cNvPr>
          <p:cNvSpPr/>
          <p:nvPr/>
        </p:nvSpPr>
        <p:spPr>
          <a:xfrm rot="16200000">
            <a:off x="4038600" y="-1295400"/>
            <a:ext cx="1066800" cy="6858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5378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E98026E-54C2-FB41-9DD8-27EE0B15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>
                <a:ea typeface="ＭＳ Ｐゴシック" panose="020B0600070205080204" pitchFamily="34" charset="-128"/>
              </a:rPr>
              <a:t>Procesor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4B9F827B-46C2-0C42-9EF7-E8AFC22C2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Un proces are mai multe </a:t>
            </a:r>
            <a:r>
              <a:rPr lang="ro-RO" dirty="0" err="1"/>
              <a:t>thread</a:t>
            </a:r>
            <a:r>
              <a:rPr lang="ro-RO" dirty="0"/>
              <a:t>-uri (fire de execuție)</a:t>
            </a:r>
          </a:p>
          <a:p>
            <a:pPr lvl="1"/>
            <a:r>
              <a:rPr lang="ro-RO" dirty="0"/>
              <a:t>Un </a:t>
            </a:r>
            <a:r>
              <a:rPr lang="ro-RO" dirty="0" err="1"/>
              <a:t>thread</a:t>
            </a:r>
            <a:r>
              <a:rPr lang="ro-RO" dirty="0"/>
              <a:t> execută instrucțiuni pe procesor</a:t>
            </a:r>
          </a:p>
          <a:p>
            <a:r>
              <a:rPr lang="ro-RO" dirty="0"/>
              <a:t>În general numărul de procese este mai mare decât numărul de procesoare </a:t>
            </a:r>
          </a:p>
          <a:p>
            <a:pPr lvl="1"/>
            <a:r>
              <a:rPr lang="ro-RO" dirty="0"/>
              <a:t>Este necesară panificarea pe procesor</a:t>
            </a:r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6C8B6889-DE9D-B94A-9E63-89DE9D43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DD321F2-A2DF-AD4D-8D91-ADB992502559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75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E98026E-54C2-FB41-9DD8-27EE0B15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fr-FR" altLang="ro-RO" dirty="0" err="1">
                <a:ea typeface="ＭＳ Ｐゴシック" panose="020B0600070205080204" pitchFamily="34" charset="-128"/>
              </a:rPr>
              <a:t>Procesor</a:t>
            </a:r>
            <a:endParaRPr lang="fr-FR" altLang="ro-RO" dirty="0">
              <a:ea typeface="ＭＳ Ｐゴシック" panose="020B0600070205080204" pitchFamily="34" charset="-128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E1480133-2336-1C48-9CD3-164DB608E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224" y="1706562"/>
            <a:ext cx="5595552" cy="4313238"/>
          </a:xfrm>
        </p:spPr>
      </p:pic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6C8B6889-DE9D-B94A-9E63-89DE9D43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DD321F2-A2DF-AD4D-8D91-ADB992502559}" type="slidenum">
              <a:rPr lang="fr-FR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fr-FR" altLang="ro-R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33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929E27F8-3369-3D47-AFBA-2974EE376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>
                <a:ea typeface="ＭＳ Ｐゴシック" panose="020B0600070205080204" pitchFamily="34" charset="-128"/>
              </a:rPr>
              <a:t>Memorie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2B8CEF5B-6E98-6741-AB63-871051379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Fiecare proces are memorie proprie (separată de memoria celorlalte procese) </a:t>
            </a:r>
          </a:p>
          <a:p>
            <a:pPr lvl="1"/>
            <a:r>
              <a:rPr lang="ro-RO" altLang="ro-RO" dirty="0">
                <a:ea typeface="ＭＳ Ｐゴシック" panose="020B0600070205080204" pitchFamily="34" charset="-128"/>
              </a:rPr>
              <a:t>Instrucțiuni</a:t>
            </a:r>
          </a:p>
          <a:p>
            <a:pPr lvl="1"/>
            <a:r>
              <a:rPr lang="ro-RO" altLang="ro-RO" dirty="0">
                <a:ea typeface="ＭＳ Ｐゴシック" panose="020B0600070205080204" pitchFamily="34" charset="-128"/>
              </a:rPr>
              <a:t>Date </a:t>
            </a:r>
          </a:p>
          <a:p>
            <a:r>
              <a:rPr lang="ro-RO" altLang="ro-RO" dirty="0">
                <a:ea typeface="ＭＳ Ｐゴシック" panose="020B0600070205080204" pitchFamily="34" charset="-128"/>
              </a:rPr>
              <a:t>Instrucțiunile sunt încărcate din RAM și executate </a:t>
            </a:r>
          </a:p>
          <a:p>
            <a:pPr lvl="1"/>
            <a:r>
              <a:rPr lang="ro-RO" altLang="ro-RO" dirty="0">
                <a:ea typeface="ＭＳ Ｐゴシック" panose="020B0600070205080204" pitchFamily="34" charset="-128"/>
              </a:rPr>
              <a:t>Spunem că procesul execută pe procesor</a:t>
            </a:r>
          </a:p>
          <a:p>
            <a:pPr eaLnBrk="1" hangingPunct="1"/>
            <a:endParaRPr lang="ro-RO" altLang="ro-RO" dirty="0">
              <a:ea typeface="ＭＳ Ｐゴシック" panose="020B0600070205080204" pitchFamily="34" charset="-128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2A594-6AB3-C247-8C40-121BF282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o-RO" dirty="0"/>
              <a:t>SO: Curs 3: Procese</a:t>
            </a:r>
          </a:p>
        </p:txBody>
      </p:sp>
      <p:sp>
        <p:nvSpPr>
          <p:cNvPr id="13317" name="Slide Number Placeholder 4">
            <a:extLst>
              <a:ext uri="{FF2B5EF4-FFF2-40B4-BE49-F238E27FC236}">
                <a16:creationId xmlns:a16="http://schemas.microsoft.com/office/drawing/2014/main" id="{BC84E6DD-3861-C94B-9C7E-129F281C2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0C59616-8AE7-7744-8660-410BE0CF643E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025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C2EF81F-39E6-BD4E-9B6E-64AC3655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Spațiul de adrese (virtual)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1CFE9028-3673-3D45-A46A-2EA7A030E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Fiecare proces are un spațiu de adrese (virtual) </a:t>
            </a:r>
          </a:p>
          <a:p>
            <a:pPr lvl="1"/>
            <a:r>
              <a:rPr lang="ro-RO" altLang="ro-RO" dirty="0">
                <a:ea typeface="ＭＳ Ｐゴシック" panose="020B0600070205080204" pitchFamily="34" charset="-128"/>
              </a:rPr>
              <a:t>Este asigurată separarea de celelalte procese</a:t>
            </a:r>
          </a:p>
          <a:p>
            <a:pPr lvl="1"/>
            <a:r>
              <a:rPr lang="ro-RO" altLang="ro-RO" dirty="0">
                <a:ea typeface="ＭＳ Ｐゴシック" panose="020B0600070205080204" pitchFamily="34" charset="-128"/>
              </a:rPr>
              <a:t>Fiecare proces are impresia ca are la dispoziție toată memoria</a:t>
            </a:r>
          </a:p>
          <a:p>
            <a:r>
              <a:rPr lang="ro-RO" altLang="ro-RO" dirty="0">
                <a:ea typeface="ＭＳ Ｐゴシック" panose="020B0600070205080204" pitchFamily="34" charset="-128"/>
              </a:rPr>
              <a:t>Toate resursele de memorie (cod, date, biblioteci, stiva) sunt accesate prin spațiul de memorie (virtual) </a:t>
            </a:r>
          </a:p>
        </p:txBody>
      </p:sp>
      <p:sp>
        <p:nvSpPr>
          <p:cNvPr id="15365" name="Slide Number Placeholder 4">
            <a:extLst>
              <a:ext uri="{FF2B5EF4-FFF2-40B4-BE49-F238E27FC236}">
                <a16:creationId xmlns:a16="http://schemas.microsoft.com/office/drawing/2014/main" id="{C4BF0DBF-2007-2C4D-AC19-49A1ABA38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030AEF9-2E19-144F-94F7-6230B40D96AC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260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CBCA222-8167-8143-B7C4-587FA4B5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Spațiul de adrese (virtual)</a:t>
            </a:r>
          </a:p>
        </p:txBody>
      </p:sp>
      <p:pic>
        <p:nvPicPr>
          <p:cNvPr id="14339" name="Content Placeholder 5" descr="linuxFlexibleAddressSpaceLayout.png">
            <a:extLst>
              <a:ext uri="{FF2B5EF4-FFF2-40B4-BE49-F238E27FC236}">
                <a16:creationId xmlns:a16="http://schemas.microsoft.com/office/drawing/2014/main" id="{82307E67-4C77-0746-BB29-AEC5047E2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522" y="1477962"/>
            <a:ext cx="5824956" cy="4770438"/>
          </a:xfrm>
        </p:spPr>
      </p:pic>
      <p:sp>
        <p:nvSpPr>
          <p:cNvPr id="14341" name="Slide Number Placeholder 4">
            <a:extLst>
              <a:ext uri="{FF2B5EF4-FFF2-40B4-BE49-F238E27FC236}">
                <a16:creationId xmlns:a16="http://schemas.microsoft.com/office/drawing/2014/main" id="{EBC34B10-C572-1E43-AC85-16616399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032440E-36FD-D644-832D-5B8A14E9C7D4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4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BB0E0BD6-7370-6B4B-85B7-EE9320DD8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>
                <a:ea typeface="ＭＳ Ｐゴシック" panose="020B0600070205080204" pitchFamily="34" charset="-128"/>
              </a:rPr>
              <a:t>I/O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CEA1F819-81DF-244C-831A-904E9C1FE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altLang="ro-RO" sz="3000" dirty="0">
                <a:ea typeface="ＭＳ Ｐゴシック" panose="020B0600070205080204" pitchFamily="34" charset="-128"/>
              </a:rPr>
              <a:t>Un proces comunică cu exteriorul: disc, rețea, tastatură, monitor </a:t>
            </a:r>
          </a:p>
          <a:p>
            <a:r>
              <a:rPr lang="ro-RO" altLang="ro-RO" sz="3000" dirty="0">
                <a:ea typeface="ＭＳ Ｐゴシック" panose="020B0600070205080204" pitchFamily="34" charset="-128"/>
              </a:rPr>
              <a:t>Comunicarea se face de obicei prin descriptori de fișier </a:t>
            </a:r>
          </a:p>
          <a:p>
            <a:pPr lvl="1"/>
            <a:r>
              <a:rPr lang="ro-RO" altLang="ro-RO" sz="2600" dirty="0">
                <a:ea typeface="ＭＳ Ｐゴシック" panose="020B0600070205080204" pitchFamily="34" charset="-128"/>
              </a:rPr>
              <a:t>procesul are tabela de descriptori de fișiere</a:t>
            </a:r>
          </a:p>
          <a:p>
            <a:pPr lvl="1"/>
            <a:r>
              <a:rPr lang="ro-RO" altLang="ro-RO" sz="2600" dirty="0">
                <a:ea typeface="ＭＳ Ｐゴシック" panose="020B0600070205080204" pitchFamily="34" charset="-128"/>
              </a:rPr>
              <a:t>descriptor de fișier: fișier, </a:t>
            </a:r>
            <a:r>
              <a:rPr lang="ro-RO" altLang="ro-RO" sz="2600" dirty="0" err="1">
                <a:ea typeface="ＭＳ Ｐゴシック" panose="020B0600070205080204" pitchFamily="34" charset="-128"/>
              </a:rPr>
              <a:t>socket</a:t>
            </a:r>
            <a:r>
              <a:rPr lang="ro-RO" altLang="ro-RO" sz="2600" dirty="0">
                <a:ea typeface="ＭＳ Ｐゴシック" panose="020B0600070205080204" pitchFamily="34" charset="-128"/>
              </a:rPr>
              <a:t>, terminal, periferic, etc. </a:t>
            </a:r>
          </a:p>
          <a:p>
            <a:r>
              <a:rPr lang="ro-RO" altLang="ro-RO" sz="3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Operațiile I/O blochează procesul</a:t>
            </a:r>
            <a:r>
              <a:rPr lang="ro-RO" altLang="ro-RO" sz="3000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ro-RO" altLang="ro-RO" sz="2600" dirty="0">
                <a:ea typeface="ＭＳ Ｐゴシック" panose="020B0600070205080204" pitchFamily="34" charset="-128"/>
              </a:rPr>
              <a:t>I/O sunt mai lente decât procesorul </a:t>
            </a:r>
          </a:p>
          <a:p>
            <a:pPr lvl="1"/>
            <a:r>
              <a:rPr lang="ro-RO" altLang="ro-RO" sz="2600" dirty="0">
                <a:ea typeface="ＭＳ Ｐゴシック" panose="020B0600070205080204" pitchFamily="34" charset="-128"/>
              </a:rPr>
              <a:t>Procesul așteaptă finalizarea operației de I/O</a:t>
            </a:r>
          </a:p>
          <a:p>
            <a:pPr marL="457200" lvl="1" indent="0" eaLnBrk="1" hangingPunct="1">
              <a:buNone/>
            </a:pPr>
            <a:endParaRPr lang="ro-RO" altLang="ro-RO" sz="2600" dirty="0">
              <a:ea typeface="ＭＳ Ｐゴシック" panose="020B0600070205080204" pitchFamily="34" charset="-128"/>
            </a:endParaRPr>
          </a:p>
        </p:txBody>
      </p:sp>
      <p:sp>
        <p:nvSpPr>
          <p:cNvPr id="16389" name="Slide Number Placeholder 4">
            <a:extLst>
              <a:ext uri="{FF2B5EF4-FFF2-40B4-BE49-F238E27FC236}">
                <a16:creationId xmlns:a16="http://schemas.microsoft.com/office/drawing/2014/main" id="{7D944A38-FD1F-B545-AACE-AC3F42AB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9FAEFE8-CF74-774A-A2ED-15DF16979B89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323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CFFF-08F9-0C41-953B-69521AE3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Tabelul de descriptori de fișiere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C11829-3FE9-FB49-A777-F1369FD4B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2205831"/>
            <a:ext cx="4762500" cy="33147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73606-3886-D34C-B1E8-E2AD27C75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15</a:t>
            </a:fld>
            <a:endParaRPr lang="ro-R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5FB6B-6896-5143-936A-D7FDF57798FE}"/>
              </a:ext>
            </a:extLst>
          </p:cNvPr>
          <p:cNvSpPr txBox="1"/>
          <p:nvPr/>
        </p:nvSpPr>
        <p:spPr>
          <a:xfrm>
            <a:off x="2749033" y="5707608"/>
            <a:ext cx="3934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/>
              <a:t>Interfața I/O a unui procesului</a:t>
            </a:r>
          </a:p>
        </p:txBody>
      </p:sp>
    </p:spTree>
    <p:extLst>
      <p:ext uri="{BB962C8B-B14F-4D97-AF65-F5344CB8AC3E}">
        <p14:creationId xmlns:p14="http://schemas.microsoft.com/office/powerpoint/2010/main" val="2887969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148F0089-95BF-414D-B63B-5CD42049C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Tipuri de procese (CPU)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EC230639-0CED-9049-AF09-7E1BE02EE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o-RO" altLang="ro-RO" sz="3000" dirty="0">
                <a:ea typeface="ＭＳ Ｐゴシック" panose="020B0600070205080204" pitchFamily="34" charset="-128"/>
              </a:rPr>
              <a:t>CPU </a:t>
            </a:r>
            <a:r>
              <a:rPr lang="ro-RO" altLang="ro-RO" sz="3000" dirty="0" err="1">
                <a:ea typeface="ＭＳ Ｐゴシック" panose="020B0600070205080204" pitchFamily="34" charset="-128"/>
              </a:rPr>
              <a:t>bound</a:t>
            </a:r>
            <a:r>
              <a:rPr lang="ro-RO" altLang="ro-RO" sz="3000" dirty="0">
                <a:ea typeface="ＭＳ Ｐゴシック" panose="020B0600070205080204" pitchFamily="34" charset="-128"/>
              </a:rPr>
              <a:t> (CPU intensive)</a:t>
            </a:r>
          </a:p>
          <a:p>
            <a:pPr lvl="1"/>
            <a:r>
              <a:rPr lang="ro-RO" dirty="0"/>
              <a:t>folosește mult procesorul</a:t>
            </a:r>
          </a:p>
          <a:p>
            <a:pPr eaLnBrk="1" hangingPunct="1">
              <a:lnSpc>
                <a:spcPct val="80000"/>
              </a:lnSpc>
            </a:pPr>
            <a:endParaRPr lang="ro-RO" altLang="ro-RO" sz="30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ro-RO" altLang="ro-RO" sz="3000" dirty="0">
                <a:ea typeface="ＭＳ Ｐゴシック" panose="020B0600070205080204" pitchFamily="34" charset="-128"/>
              </a:rPr>
              <a:t>I/O </a:t>
            </a:r>
            <a:r>
              <a:rPr lang="ro-RO" altLang="ro-RO" sz="3000" dirty="0" err="1">
                <a:ea typeface="ＭＳ Ｐゴシック" panose="020B0600070205080204" pitchFamily="34" charset="-128"/>
              </a:rPr>
              <a:t>bound</a:t>
            </a:r>
            <a:r>
              <a:rPr lang="ro-RO" altLang="ro-RO" sz="3000" dirty="0">
                <a:ea typeface="ＭＳ Ｐゴシック" panose="020B0600070205080204" pitchFamily="34" charset="-128"/>
              </a:rPr>
              <a:t> (I/O intensive)</a:t>
            </a:r>
          </a:p>
          <a:p>
            <a:pPr lvl="1"/>
            <a:r>
              <a:rPr lang="ro-RO" dirty="0"/>
              <a:t>folosește rar procesorul</a:t>
            </a:r>
          </a:p>
          <a:p>
            <a:pPr lvl="1"/>
            <a:r>
              <a:rPr lang="ro-RO" altLang="ro-RO" sz="2400" dirty="0">
                <a:ea typeface="ＭＳ Ｐゴシック" panose="020B0600070205080204" pitchFamily="34" charset="-128"/>
              </a:rPr>
              <a:t>folosește multe operații I/O, se blochează des</a:t>
            </a:r>
            <a:endParaRPr lang="ro-RO" altLang="ro-RO" sz="2600" dirty="0">
              <a:ea typeface="ＭＳ Ｐゴシック" panose="020B0600070205080204" pitchFamily="34" charset="-128"/>
            </a:endParaRPr>
          </a:p>
        </p:txBody>
      </p:sp>
      <p:sp>
        <p:nvSpPr>
          <p:cNvPr id="18437" name="Slide Number Placeholder 4">
            <a:extLst>
              <a:ext uri="{FF2B5EF4-FFF2-40B4-BE49-F238E27FC236}">
                <a16:creationId xmlns:a16="http://schemas.microsoft.com/office/drawing/2014/main" id="{AA6601D2-40DD-8140-AF33-88D752C0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C550E76-24B8-CE42-A039-559663D98417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441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148F0089-95BF-414D-B63B-5CD42049C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Tipuri de procese (Utilizator) 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EC230639-0CED-9049-AF09-7E1BE02EE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o-RO" altLang="ro-RO" sz="3000" dirty="0">
                <a:ea typeface="ＭＳ Ｐゴシック" panose="020B0600070205080204" pitchFamily="34" charset="-128"/>
              </a:rPr>
              <a:t>Interactive (</a:t>
            </a:r>
            <a:r>
              <a:rPr lang="ro-RO" altLang="ro-RO" sz="3000" dirty="0" err="1">
                <a:ea typeface="ＭＳ Ｐゴシック" panose="020B0600070205080204" pitchFamily="34" charset="-128"/>
              </a:rPr>
              <a:t>foreground</a:t>
            </a:r>
            <a:r>
              <a:rPr lang="ro-RO" altLang="ro-RO" sz="3000" dirty="0">
                <a:ea typeface="ＭＳ Ｐゴシック" panose="020B0600070205080204" pitchFamily="34" charset="-128"/>
              </a:rPr>
              <a:t>)</a:t>
            </a:r>
          </a:p>
          <a:p>
            <a:pPr lvl="1">
              <a:lnSpc>
                <a:spcPct val="80000"/>
              </a:lnSpc>
            </a:pPr>
            <a:r>
              <a:rPr lang="ro-RO" altLang="ro-RO" sz="2600" dirty="0">
                <a:ea typeface="ＭＳ Ｐゴシック" panose="020B0600070205080204" pitchFamily="34" charset="-128"/>
              </a:rPr>
              <a:t>interacționează cu utilizatorul </a:t>
            </a:r>
          </a:p>
          <a:p>
            <a:pPr>
              <a:lnSpc>
                <a:spcPct val="80000"/>
              </a:lnSpc>
            </a:pPr>
            <a:endParaRPr lang="ro-RO" altLang="ro-RO" sz="3000" dirty="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ro-RO" altLang="ro-RO" sz="3000" dirty="0">
                <a:ea typeface="ＭＳ Ｐゴシック" panose="020B0600070205080204" pitchFamily="34" charset="-128"/>
              </a:rPr>
              <a:t>Ne interactive (</a:t>
            </a:r>
            <a:r>
              <a:rPr lang="ro-RO" altLang="ro-RO" sz="3000" dirty="0" err="1">
                <a:ea typeface="ＭＳ Ｐゴシック" panose="020B0600070205080204" pitchFamily="34" charset="-128"/>
              </a:rPr>
              <a:t>batch</a:t>
            </a:r>
            <a:r>
              <a:rPr lang="ro-RO" altLang="ro-RO" sz="3000" dirty="0">
                <a:ea typeface="ＭＳ Ｐゴシック" panose="020B0600070205080204" pitchFamily="34" charset="-128"/>
              </a:rPr>
              <a:t>, background)</a:t>
            </a:r>
          </a:p>
          <a:p>
            <a:pPr lvl="1">
              <a:lnSpc>
                <a:spcPct val="80000"/>
              </a:lnSpc>
            </a:pPr>
            <a:r>
              <a:rPr lang="ro-RO" altLang="ro-RO" sz="2600" dirty="0">
                <a:ea typeface="ＭＳ Ｐゴシック" panose="020B0600070205080204" pitchFamily="34" charset="-128"/>
              </a:rPr>
              <a:t>servicii, demoni </a:t>
            </a:r>
          </a:p>
        </p:txBody>
      </p:sp>
      <p:sp>
        <p:nvSpPr>
          <p:cNvPr id="18437" name="Slide Number Placeholder 4">
            <a:extLst>
              <a:ext uri="{FF2B5EF4-FFF2-40B4-BE49-F238E27FC236}">
                <a16:creationId xmlns:a16="http://schemas.microsoft.com/office/drawing/2014/main" id="{AA6601D2-40DD-8140-AF33-88D752C0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C550E76-24B8-CE42-A039-559663D98417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222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26DB7A4-5B5E-9546-AE7A-D7528556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Atributele unui Proces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7D345C-971F-FE4A-9F97-3DF01455C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FCD46-D770-F64E-A643-759F6FB9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81365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5B617DF2-71C5-3E4B-AB30-44B95E1BA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7391400" cy="563562"/>
          </a:xfrm>
        </p:spPr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Procesul în SO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D870F14-4220-D84D-89A2-362811231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altLang="ro-RO" b="1" dirty="0">
                <a:ea typeface="ＭＳ Ｐゴシック" panose="020B0600070205080204" pitchFamily="34" charset="-128"/>
              </a:rPr>
              <a:t>PID</a:t>
            </a:r>
            <a:r>
              <a:rPr lang="ro-RO" altLang="ro-RO" dirty="0">
                <a:ea typeface="ＭＳ Ｐゴシック" panose="020B0600070205080204" pitchFamily="34" charset="-128"/>
              </a:rPr>
              <a:t> (</a:t>
            </a:r>
            <a:r>
              <a:rPr lang="ro-RO" altLang="ro-RO" dirty="0" err="1">
                <a:ea typeface="ＭＳ Ｐゴシック" panose="020B0600070205080204" pitchFamily="34" charset="-128"/>
              </a:rPr>
              <a:t>Process</a:t>
            </a:r>
            <a:r>
              <a:rPr lang="ro-RO" altLang="ro-RO" dirty="0">
                <a:ea typeface="ＭＳ Ｐゴシック" panose="020B0600070205080204" pitchFamily="34" charset="-128"/>
              </a:rPr>
              <a:t> ID)</a:t>
            </a:r>
          </a:p>
          <a:p>
            <a:pPr lvl="1"/>
            <a:r>
              <a:rPr lang="ro-RO" altLang="ro-RO" dirty="0">
                <a:ea typeface="ＭＳ Ｐゴシック" panose="020B0600070205080204" pitchFamily="34" charset="-128"/>
              </a:rPr>
              <a:t>identificatorul de proces</a:t>
            </a:r>
          </a:p>
          <a:p>
            <a:endParaRPr lang="ro-RO" altLang="ro-RO" b="1" dirty="0">
              <a:ea typeface="ＭＳ Ｐゴシック" panose="020B0600070205080204" pitchFamily="34" charset="-128"/>
            </a:endParaRPr>
          </a:p>
          <a:p>
            <a:r>
              <a:rPr lang="ro-RO" altLang="ro-RO" b="1" dirty="0">
                <a:ea typeface="ＭＳ Ｐゴシック" panose="020B0600070205080204" pitchFamily="34" charset="-128"/>
              </a:rPr>
              <a:t>PCB</a:t>
            </a:r>
            <a:r>
              <a:rPr lang="ro-RO" altLang="ro-RO" dirty="0">
                <a:ea typeface="ＭＳ Ｐゴシック" panose="020B0600070205080204" pitchFamily="34" charset="-128"/>
              </a:rPr>
              <a:t> (</a:t>
            </a:r>
            <a:r>
              <a:rPr lang="ro-RO" altLang="ro-RO" dirty="0" err="1">
                <a:ea typeface="ＭＳ Ｐゴシック" panose="020B0600070205080204" pitchFamily="34" charset="-128"/>
              </a:rPr>
              <a:t>Process</a:t>
            </a:r>
            <a:r>
              <a:rPr lang="ro-RO" altLang="ro-RO" dirty="0">
                <a:ea typeface="ＭＳ Ｐゴシック" panose="020B0600070205080204" pitchFamily="34" charset="-128"/>
              </a:rPr>
              <a:t> Control Block) </a:t>
            </a:r>
          </a:p>
          <a:p>
            <a:pPr lvl="1"/>
            <a:r>
              <a:rPr lang="ro-RO" altLang="ro-RO" dirty="0">
                <a:ea typeface="ＭＳ Ｐゴシック" panose="020B0600070205080204" pitchFamily="34" charset="-128"/>
              </a:rPr>
              <a:t>structură de date </a:t>
            </a:r>
          </a:p>
          <a:p>
            <a:pPr lvl="1"/>
            <a:r>
              <a:rPr lang="ro-RO" altLang="ro-RO" dirty="0">
                <a:ea typeface="ＭＳ Ｐゴシック" panose="020B0600070205080204" pitchFamily="34" charset="-128"/>
              </a:rPr>
              <a:t>descrie un proces la nivelul SO </a:t>
            </a:r>
          </a:p>
          <a:p>
            <a:endParaRPr lang="ro-RO" altLang="ro-RO" dirty="0">
              <a:ea typeface="ＭＳ Ｐゴシック" panose="020B0600070205080204" pitchFamily="34" charset="-128"/>
            </a:endParaRPr>
          </a:p>
          <a:p>
            <a:r>
              <a:rPr lang="ro-RO" altLang="ro-RO" dirty="0">
                <a:ea typeface="ＭＳ Ｐゴシック" panose="020B0600070205080204" pitchFamily="34" charset="-128"/>
              </a:rPr>
              <a:t>Informații despre resursele utilizate </a:t>
            </a:r>
          </a:p>
          <a:p>
            <a:r>
              <a:rPr lang="ro-RO" altLang="ro-RO" dirty="0">
                <a:ea typeface="ＭＳ Ｐゴシック" panose="020B0600070205080204" pitchFamily="34" charset="-128"/>
              </a:rPr>
              <a:t>Legături către alte structuri de date </a:t>
            </a:r>
          </a:p>
          <a:p>
            <a:r>
              <a:rPr lang="ro-RO" altLang="ro-RO" dirty="0">
                <a:ea typeface="ＭＳ Ｐゴシック" panose="020B0600070205080204" pitchFamily="34" charset="-128"/>
              </a:rPr>
              <a:t>Securitate, performanță</a:t>
            </a:r>
          </a:p>
        </p:txBody>
      </p:sp>
      <p:sp>
        <p:nvSpPr>
          <p:cNvPr id="20485" name="Slide Number Placeholder 4">
            <a:extLst>
              <a:ext uri="{FF2B5EF4-FFF2-40B4-BE49-F238E27FC236}">
                <a16:creationId xmlns:a16="http://schemas.microsoft.com/office/drawing/2014/main" id="{4EF2F19F-625E-EF46-930F-70603ABDD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77E45D6-160B-A749-BD62-D78D9618B7E1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19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550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7B5CEDF5-0C16-D94B-AED3-3BFF5A80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Resurse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421ED832-7B53-7043-AB72-8A5D8604E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Timp de execuție pe procesor </a:t>
            </a:r>
          </a:p>
          <a:p>
            <a:r>
              <a:rPr lang="ro-RO" altLang="ro-RO" dirty="0">
                <a:ea typeface="ＭＳ Ｐゴシック" panose="020B0600070205080204" pitchFamily="34" charset="-128"/>
              </a:rPr>
              <a:t>Memorie (instrucțiuni și date) </a:t>
            </a:r>
          </a:p>
          <a:p>
            <a:r>
              <a:rPr lang="ro-RO" altLang="ro-RO" dirty="0">
                <a:ea typeface="ＭＳ Ｐゴシック" panose="020B0600070205080204" pitchFamily="34" charset="-128"/>
              </a:rPr>
              <a:t>Tabelul de descriptori de fișier</a:t>
            </a:r>
          </a:p>
          <a:p>
            <a:pPr marL="0" indent="0">
              <a:buNone/>
            </a:pPr>
            <a:r>
              <a:rPr lang="ro-RO" altLang="ro-RO" dirty="0">
                <a:ea typeface="ＭＳ Ｐゴシック" panose="020B0600070205080204" pitchFamily="34" charset="-128"/>
              </a:rPr>
              <a:t>	... </a:t>
            </a:r>
          </a:p>
          <a:p>
            <a:endParaRPr lang="ro-RO" altLang="ro-RO" dirty="0">
              <a:ea typeface="ＭＳ Ｐゴシック" panose="020B0600070205080204" pitchFamily="34" charset="-128"/>
            </a:endParaRPr>
          </a:p>
          <a:p>
            <a:r>
              <a:rPr lang="ro-RO" altLang="ro-RO" dirty="0">
                <a:solidFill>
                  <a:srgbClr val="92D050"/>
                </a:solidFill>
                <a:ea typeface="ＭＳ Ｐゴシック" panose="020B0600070205080204" pitchFamily="34" charset="-128"/>
              </a:rPr>
              <a:t>Anumite resurse pot fi </a:t>
            </a:r>
            <a:r>
              <a:rPr lang="ro-RO" altLang="ro-RO" dirty="0" err="1">
                <a:solidFill>
                  <a:srgbClr val="92D050"/>
                </a:solidFill>
                <a:ea typeface="ＭＳ Ｐゴシック" panose="020B0600070205080204" pitchFamily="34" charset="-128"/>
              </a:rPr>
              <a:t>partrajate</a:t>
            </a:r>
            <a:r>
              <a:rPr lang="ro-RO" altLang="ro-RO" dirty="0">
                <a:solidFill>
                  <a:srgbClr val="92D050"/>
                </a:solidFill>
                <a:ea typeface="ＭＳ Ｐゴシック" panose="020B0600070205080204" pitchFamily="34" charset="-128"/>
              </a:rPr>
              <a:t> între procese</a:t>
            </a:r>
          </a:p>
        </p:txBody>
      </p:sp>
      <p:sp>
        <p:nvSpPr>
          <p:cNvPr id="21509" name="Slide Number Placeholder 4">
            <a:extLst>
              <a:ext uri="{FF2B5EF4-FFF2-40B4-BE49-F238E27FC236}">
                <a16:creationId xmlns:a16="http://schemas.microsoft.com/office/drawing/2014/main" id="{0859EB8E-CA13-1F48-A695-EABBF2CE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5C43F04-6CA7-8649-9893-D2396F59D924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20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634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BF97CEB0-1C0B-F045-9CC6-375FB478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Atributele unui proces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23F593C7-29BC-774B-AED4-64C50DAF4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ro-RO" altLang="ro-RO" b="1" dirty="0">
                <a:ea typeface="ＭＳ Ｐゴシック" panose="020B0600070205080204" pitchFamily="34" charset="-128"/>
              </a:rPr>
              <a:t>PID</a:t>
            </a:r>
          </a:p>
          <a:p>
            <a:pPr eaLnBrk="1" hangingPunct="1">
              <a:lnSpc>
                <a:spcPct val="110000"/>
              </a:lnSpc>
            </a:pPr>
            <a:r>
              <a:rPr lang="ro-RO" altLang="ro-RO" dirty="0">
                <a:ea typeface="ＭＳ Ｐゴシック" panose="020B0600070205080204" pitchFamily="34" charset="-128"/>
              </a:rPr>
              <a:t>PID-ul procesului părintelui (PPID)</a:t>
            </a:r>
          </a:p>
          <a:p>
            <a:pPr>
              <a:lnSpc>
                <a:spcPct val="110000"/>
              </a:lnSpc>
            </a:pPr>
            <a:r>
              <a:rPr lang="ro-RO" altLang="ro-RO" dirty="0">
                <a:ea typeface="ＭＳ Ｐゴシック" panose="020B0600070205080204" pitchFamily="34" charset="-128"/>
              </a:rPr>
              <a:t>Pointeri către resurse</a:t>
            </a:r>
          </a:p>
          <a:p>
            <a:pPr lvl="1">
              <a:lnSpc>
                <a:spcPct val="110000"/>
              </a:lnSpc>
            </a:pPr>
            <a:r>
              <a:rPr lang="ro-RO" altLang="ro-RO" dirty="0">
                <a:ea typeface="ＭＳ Ｐゴシック" panose="020B0600070205080204" pitchFamily="34" charset="-128"/>
              </a:rPr>
              <a:t>tabel de descriptori, tabel de memorie … </a:t>
            </a:r>
          </a:p>
          <a:p>
            <a:pPr>
              <a:lnSpc>
                <a:spcPct val="110000"/>
              </a:lnSpc>
            </a:pPr>
            <a:r>
              <a:rPr lang="ro-RO" b="1" dirty="0"/>
              <a:t>stare</a:t>
            </a:r>
            <a:r>
              <a:rPr lang="ro-RO" altLang="ro-RO" dirty="0">
                <a:ea typeface="ＭＳ Ｐゴシック" panose="020B0600070205080204" pitchFamily="34" charset="-128"/>
              </a:rPr>
              <a:t> (RUNNING, WAITING) </a:t>
            </a:r>
          </a:p>
          <a:p>
            <a:pPr>
              <a:lnSpc>
                <a:spcPct val="110000"/>
              </a:lnSpc>
            </a:pPr>
            <a:r>
              <a:rPr lang="ro-RO" altLang="ro-RO" b="1" dirty="0">
                <a:ea typeface="ＭＳ Ｐゴシック" panose="020B0600070205080204" pitchFamily="34" charset="-128"/>
              </a:rPr>
              <a:t>cuanta</a:t>
            </a:r>
            <a:r>
              <a:rPr lang="ro-RO" altLang="ro-RO" dirty="0">
                <a:ea typeface="ＭＳ Ｐゴシック" panose="020B0600070205080204" pitchFamily="34" charset="-128"/>
              </a:rPr>
              <a:t> de timp de execuție</a:t>
            </a:r>
          </a:p>
          <a:p>
            <a:pPr>
              <a:lnSpc>
                <a:spcPct val="110000"/>
              </a:lnSpc>
            </a:pPr>
            <a:r>
              <a:rPr lang="ro-RO" altLang="ro-RO" dirty="0">
                <a:ea typeface="ＭＳ Ｐゴシック" panose="020B0600070205080204" pitchFamily="34" charset="-128"/>
              </a:rPr>
              <a:t>contorizarea resurselor consumate </a:t>
            </a:r>
          </a:p>
          <a:p>
            <a:pPr>
              <a:lnSpc>
                <a:spcPct val="110000"/>
              </a:lnSpc>
            </a:pPr>
            <a:r>
              <a:rPr lang="ro-RO" altLang="ro-RO" b="1" dirty="0">
                <a:ea typeface="ＭＳ Ｐゴシック" panose="020B0600070205080204" pitchFamily="34" charset="-128"/>
              </a:rPr>
              <a:t>utilizator</a:t>
            </a:r>
            <a:r>
              <a:rPr lang="ro-RO" altLang="ro-RO" dirty="0">
                <a:ea typeface="ＭＳ Ｐゴシック" panose="020B0600070205080204" pitchFamily="34" charset="-128"/>
              </a:rPr>
              <a:t>, grup</a:t>
            </a:r>
          </a:p>
        </p:txBody>
      </p:sp>
      <p:sp>
        <p:nvSpPr>
          <p:cNvPr id="22533" name="Slide Number Placeholder 4">
            <a:extLst>
              <a:ext uri="{FF2B5EF4-FFF2-40B4-BE49-F238E27FC236}">
                <a16:creationId xmlns:a16="http://schemas.microsoft.com/office/drawing/2014/main" id="{799EBCD3-B38A-0648-8797-6DB0A625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BDB7517-62F4-A146-8760-313AE391D157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21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363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865BFB18-E231-F745-BC98-29252AE3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" dirty="0" err="1">
                <a:effectLst/>
              </a:rPr>
              <a:t>Stările</a:t>
            </a:r>
            <a:r>
              <a:rPr lang="fr" dirty="0">
                <a:effectLst/>
              </a:rPr>
              <a:t> </a:t>
            </a:r>
            <a:r>
              <a:rPr lang="fr" dirty="0" err="1">
                <a:effectLst/>
              </a:rPr>
              <a:t>proceselor</a:t>
            </a:r>
            <a:endParaRPr lang="fr" dirty="0">
              <a:effectLst/>
            </a:endParaRPr>
          </a:p>
        </p:txBody>
      </p:sp>
      <p:pic>
        <p:nvPicPr>
          <p:cNvPr id="27651" name="Content Placeholder 5" descr="process-state.png">
            <a:extLst>
              <a:ext uri="{FF2B5EF4-FFF2-40B4-BE49-F238E27FC236}">
                <a16:creationId xmlns:a16="http://schemas.microsoft.com/office/drawing/2014/main" id="{48FF0EC9-DBF3-3C4C-8463-E0A72AE71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57406"/>
            <a:ext cx="8229600" cy="3211551"/>
          </a:xfrm>
        </p:spPr>
      </p:pic>
      <p:sp>
        <p:nvSpPr>
          <p:cNvPr id="27653" name="Slide Number Placeholder 4">
            <a:extLst>
              <a:ext uri="{FF2B5EF4-FFF2-40B4-BE49-F238E27FC236}">
                <a16:creationId xmlns:a16="http://schemas.microsoft.com/office/drawing/2014/main" id="{3DE9AC13-44E2-3544-8190-4BDC9EB5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96A9FA7-8476-5A41-9B63-F137707F09FC}" type="slidenum">
              <a:rPr lang="en-US" altLang="ro-R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22</a:t>
            </a:fld>
            <a:endParaRPr lang="en-US" altLang="ro-R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857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AF486A9-7A16-A344-95FC-50B9F0CEC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o-RO" dirty="0">
                <a:ea typeface="+mj-ea"/>
              </a:rPr>
              <a:t>Crearea unui Proces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F8C005-02C1-2546-886C-C7AF34EB9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ro-RO" dirty="0">
              <a:ea typeface="+mn-ea"/>
            </a:endParaRPr>
          </a:p>
        </p:txBody>
      </p:sp>
      <p:sp>
        <p:nvSpPr>
          <p:cNvPr id="33797" name="Slide Number Placeholder 4">
            <a:extLst>
              <a:ext uri="{FF2B5EF4-FFF2-40B4-BE49-F238E27FC236}">
                <a16:creationId xmlns:a16="http://schemas.microsoft.com/office/drawing/2014/main" id="{5AAA09E6-A621-8C49-93A8-439585106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D3AF902-0DAD-4343-9C06-792E56509267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23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509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BF2A6C3D-FBCE-A24F-BAF4-6E860409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>
                <a:ea typeface="ＭＳ Ｐゴシック" panose="020B0600070205080204" pitchFamily="34" charset="-128"/>
              </a:rPr>
              <a:t>Proces nou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0DA60E0B-C29E-3A45-B9AE-283B5D476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o-RO" dirty="0"/>
              <a:t>Este create folosind un fișier executabil (program) </a:t>
            </a:r>
          </a:p>
          <a:p>
            <a:endParaRPr lang="ro-RO" dirty="0"/>
          </a:p>
          <a:p>
            <a:r>
              <a:rPr lang="ro-RO" dirty="0"/>
              <a:t>Un alt proces (părinte) creează un proces (copil) </a:t>
            </a:r>
          </a:p>
          <a:p>
            <a:endParaRPr lang="ro-RO" dirty="0"/>
          </a:p>
          <a:p>
            <a:r>
              <a:rPr lang="ro-RO" dirty="0"/>
              <a:t>Noul proces (procesul copil) </a:t>
            </a:r>
            <a:r>
              <a:rPr lang="ro-RO" i="1" dirty="0"/>
              <a:t>primește</a:t>
            </a:r>
            <a:r>
              <a:rPr lang="ro-RO" dirty="0"/>
              <a:t> memoria cu instrucțiuni și date </a:t>
            </a:r>
          </a:p>
          <a:p>
            <a:pPr lvl="1"/>
            <a:r>
              <a:rPr lang="ro-RO" dirty="0"/>
              <a:t>Se numește </a:t>
            </a:r>
            <a:r>
              <a:rPr lang="ro-RO" dirty="0" err="1"/>
              <a:t>load</a:t>
            </a:r>
            <a:r>
              <a:rPr lang="ro-RO" dirty="0"/>
              <a:t>, </a:t>
            </a:r>
            <a:r>
              <a:rPr lang="ro-RO" dirty="0" err="1"/>
              <a:t>load</a:t>
            </a:r>
            <a:r>
              <a:rPr lang="ro-RO" dirty="0"/>
              <a:t> </a:t>
            </a:r>
            <a:r>
              <a:rPr lang="ro-RO" dirty="0" err="1"/>
              <a:t>time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Încărcarea o face un proces terț (</a:t>
            </a:r>
            <a:r>
              <a:rPr lang="ro-RO" dirty="0" err="1"/>
              <a:t>loader</a:t>
            </a:r>
            <a:r>
              <a:rPr lang="ro-RO" dirty="0"/>
              <a:t>)</a:t>
            </a:r>
          </a:p>
        </p:txBody>
      </p:sp>
      <p:sp>
        <p:nvSpPr>
          <p:cNvPr id="34821" name="Slide Number Placeholder 4">
            <a:extLst>
              <a:ext uri="{FF2B5EF4-FFF2-40B4-BE49-F238E27FC236}">
                <a16:creationId xmlns:a16="http://schemas.microsoft.com/office/drawing/2014/main" id="{5937D4E5-32A9-244F-B891-7E39BB126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47C5802-8706-8F48-9FE8-061332FDDC82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24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44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80F74AA0-226B-B24A-9F61-F79967EAA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Ierarhia de procese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F0750B27-F7B6-8F42-9AA5-C1E920CC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Un proces poate crea unul sau mai mulți copii </a:t>
            </a:r>
          </a:p>
          <a:p>
            <a:endParaRPr lang="ro-RO" dirty="0"/>
          </a:p>
          <a:p>
            <a:r>
              <a:rPr lang="ro-RO" dirty="0"/>
              <a:t>Un proces poate avea un singur părinte</a:t>
            </a:r>
          </a:p>
          <a:p>
            <a:endParaRPr lang="ro-RO" dirty="0"/>
          </a:p>
        </p:txBody>
      </p:sp>
      <p:sp>
        <p:nvSpPr>
          <p:cNvPr id="35845" name="Slide Number Placeholder 4">
            <a:extLst>
              <a:ext uri="{FF2B5EF4-FFF2-40B4-BE49-F238E27FC236}">
                <a16:creationId xmlns:a16="http://schemas.microsoft.com/office/drawing/2014/main" id="{36DFFB9E-A893-EF4C-A039-2D2E9AEC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9C088D1-F802-974F-BBBF-278D06DD5F30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25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163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5113-4B0C-B040-A3EE-90185E792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>
                <a:ea typeface="ＭＳ Ｐゴシック" panose="020B0600070205080204" pitchFamily="34" charset="-128"/>
              </a:rPr>
              <a:t>Pornirea sistemului - UNIX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D53D4-F7C3-C149-9250-C2F998BAD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i="1"/>
              <a:t>init</a:t>
            </a:r>
            <a:r>
              <a:rPr lang="ro-RO"/>
              <a:t> este primul proces pornit, nu are părinte</a:t>
            </a:r>
          </a:p>
          <a:p>
            <a:pPr lvl="1"/>
            <a:r>
              <a:rPr lang="ro-RO"/>
              <a:t>PID 1 </a:t>
            </a:r>
          </a:p>
          <a:p>
            <a:endParaRPr lang="ro-RO" i="1"/>
          </a:p>
          <a:p>
            <a:r>
              <a:rPr lang="ro-RO" i="1"/>
              <a:t>init</a:t>
            </a:r>
            <a:r>
              <a:rPr lang="ro-RO"/>
              <a:t> este creat de kernel la boot</a:t>
            </a:r>
          </a:p>
          <a:p>
            <a:endParaRPr lang="ro-RO" i="1"/>
          </a:p>
          <a:p>
            <a:r>
              <a:rPr lang="ro-RO" i="1"/>
              <a:t>init</a:t>
            </a:r>
            <a:r>
              <a:rPr lang="ro-RO"/>
              <a:t> creează procese pentru pornirea serviciilor</a:t>
            </a:r>
          </a:p>
          <a:p>
            <a:endParaRPr lang="ro-RO"/>
          </a:p>
          <a:p>
            <a:r>
              <a:rPr lang="ro-RO"/>
              <a:t>Procesele pronite creează la alte procese, etc. 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76146-2CA7-5C43-926C-93D43C75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16262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5113-4B0C-B040-A3EE-90185E792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7620000" cy="563562"/>
          </a:xfrm>
        </p:spPr>
        <p:txBody>
          <a:bodyPr>
            <a:normAutofit fontScale="90000"/>
          </a:bodyPr>
          <a:lstStyle/>
          <a:p>
            <a:r>
              <a:rPr lang="ro-RO" altLang="ro-RO">
                <a:ea typeface="ＭＳ Ｐゴシック" panose="020B0600070205080204" pitchFamily="34" charset="-128"/>
              </a:rPr>
              <a:t>Pornirea sistemului - Windows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D53D4-F7C3-C149-9250-C2F998BAD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Nu există ierahie de procese propriu-zisă</a:t>
            </a:r>
          </a:p>
          <a:p>
            <a:endParaRPr lang="ro-RO" i="1"/>
          </a:p>
          <a:p>
            <a:r>
              <a:rPr lang="ro-RO" i="1"/>
              <a:t>csrss.exe</a:t>
            </a:r>
            <a:r>
              <a:rPr lang="ro-RO"/>
              <a:t> - Client Server Runtime Process</a:t>
            </a:r>
          </a:p>
          <a:p>
            <a:endParaRPr lang="ro-RO" i="1"/>
          </a:p>
          <a:p>
            <a:r>
              <a:rPr lang="ro-RO" i="1"/>
              <a:t>winlogon.exe</a:t>
            </a:r>
            <a:r>
              <a:rPr lang="ro-RO"/>
              <a:t> - Login Manager</a:t>
            </a:r>
          </a:p>
          <a:p>
            <a:endParaRPr lang="ro-RO" i="1"/>
          </a:p>
          <a:p>
            <a:r>
              <a:rPr lang="ro-RO" i="1"/>
              <a:t>services.exe</a:t>
            </a:r>
            <a:r>
              <a:rPr lang="ro-RO"/>
              <a:t> - Services</a:t>
            </a:r>
            <a:endParaRPr lang="ro-RO" i="1"/>
          </a:p>
          <a:p>
            <a:endParaRPr lang="ro-RO" i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76146-2CA7-5C43-926C-93D43C75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42813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CBCA222-8167-8143-B7C4-587FA4B5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Spațiul de adresare (virtual)</a:t>
            </a:r>
          </a:p>
        </p:txBody>
      </p:sp>
      <p:pic>
        <p:nvPicPr>
          <p:cNvPr id="14339" name="Content Placeholder 5" descr="linuxFlexibleAddressSpaceLayout.png">
            <a:extLst>
              <a:ext uri="{FF2B5EF4-FFF2-40B4-BE49-F238E27FC236}">
                <a16:creationId xmlns:a16="http://schemas.microsoft.com/office/drawing/2014/main" id="{82307E67-4C77-0746-BB29-AEC5047E2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522" y="1477962"/>
            <a:ext cx="5824956" cy="4770438"/>
          </a:xfrm>
        </p:spPr>
      </p:pic>
      <p:sp>
        <p:nvSpPr>
          <p:cNvPr id="14341" name="Slide Number Placeholder 4">
            <a:extLst>
              <a:ext uri="{FF2B5EF4-FFF2-40B4-BE49-F238E27FC236}">
                <a16:creationId xmlns:a16="http://schemas.microsoft.com/office/drawing/2014/main" id="{EBC34B10-C572-1E43-AC85-16616399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032440E-36FD-D644-832D-5B8A14E9C7D4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28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140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15C7-7499-F949-98AE-B4056AF5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Proces nou -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2B753-97F8-094D-A74D-AAC2F571E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(!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CreateProcess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"notepad"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NORMAL_PRIORITY_CLASS,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&amp;pi)) {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"Cannot execute notepad.</a:t>
            </a:r>
            <a:r>
              <a:rPr lang="ro-RO" sz="200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sz="2000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"notepad running</a:t>
            </a:r>
            <a:r>
              <a:rPr lang="ro-RO" sz="200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"notepad handle is 0x%x</a:t>
            </a:r>
            <a:r>
              <a:rPr lang="ro-RO" sz="200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pi.</a:t>
            </a:r>
            <a:r>
              <a:rPr lang="ro-RO" sz="2000">
                <a:solidFill>
                  <a:srgbClr val="001080"/>
                </a:solidFill>
                <a:latin typeface="Menlo" panose="020B0609030804020204" pitchFamily="49" charset="0"/>
              </a:rPr>
              <a:t>hProcess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008000"/>
                </a:solidFill>
                <a:latin typeface="Menlo" panose="020B0609030804020204" pitchFamily="49" charset="0"/>
              </a:rPr>
              <a:t>// ...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CloseHandle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(pi.</a:t>
            </a:r>
            <a:r>
              <a:rPr lang="ro-RO" sz="2000">
                <a:solidFill>
                  <a:srgbClr val="001080"/>
                </a:solidFill>
                <a:latin typeface="Menlo" panose="020B0609030804020204" pitchFamily="49" charset="0"/>
              </a:rPr>
              <a:t>hProcess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9717F-E50D-BD48-A56B-F78BAF1A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17846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15C7-7499-F949-98AE-B4056AF5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Proces nou - UNIX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ACC067-CC74-4545-A06F-8E7FB60BA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o-RO"/>
              <a:t>Separarea între </a:t>
            </a:r>
            <a:r>
              <a:rPr lang="ro-RO" b="1"/>
              <a:t>crearea uniu proces nou</a:t>
            </a:r>
            <a:r>
              <a:rPr lang="ro-RO"/>
              <a:t> și </a:t>
            </a:r>
            <a:r>
              <a:rPr lang="ro-RO" b="1"/>
              <a:t>încărcarea imaginii dintr-un executabil</a:t>
            </a:r>
            <a:r>
              <a:rPr lang="ro-RO"/>
              <a:t> </a:t>
            </a:r>
          </a:p>
          <a:p>
            <a:pPr algn="just"/>
            <a:endParaRPr lang="ro-RO"/>
          </a:p>
          <a:p>
            <a:pPr algn="just"/>
            <a:r>
              <a:rPr lang="ro-RO" b="1"/>
              <a:t>fork</a:t>
            </a:r>
            <a:r>
              <a:rPr lang="ro-RO"/>
              <a:t>: creează un proces nou (copil) (aproape identic cu procesul părinte) </a:t>
            </a:r>
          </a:p>
          <a:p>
            <a:pPr algn="just"/>
            <a:endParaRPr lang="ro-RO"/>
          </a:p>
          <a:p>
            <a:pPr algn="just"/>
            <a:r>
              <a:rPr lang="ro-RO" b="1"/>
              <a:t>exec</a:t>
            </a:r>
            <a:r>
              <a:rPr lang="ro-RO"/>
              <a:t>: încarcă imaginea dintr-un executabil în procesul curent (de obicei folosit de procesul copil)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9717F-E50D-BD48-A56B-F78BAF1A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968607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FCA1-57B2-274E-A96A-E74F8720F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8A3F8-6654-8247-A7C6-80B810D56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ro-RO"/>
              <a:t>Proces nou</a:t>
            </a:r>
          </a:p>
          <a:p>
            <a:r>
              <a:rPr lang="ro-RO"/>
              <a:t>Clona procesului părinte</a:t>
            </a:r>
          </a:p>
          <a:p>
            <a:r>
              <a:rPr lang="ro-RO" b="1"/>
              <a:t>Întoarce de două ori</a:t>
            </a:r>
          </a:p>
          <a:p>
            <a:pPr lvl="1"/>
            <a:r>
              <a:rPr lang="ro-RO"/>
              <a:t>în părinte</a:t>
            </a:r>
          </a:p>
          <a:p>
            <a:pPr lvl="1"/>
            <a:r>
              <a:rPr lang="ro-RO"/>
              <a:t>în copil</a:t>
            </a:r>
          </a:p>
          <a:p>
            <a:endParaRPr lang="ro-RO"/>
          </a:p>
          <a:p>
            <a:r>
              <a:rPr lang="ro-RO"/>
              <a:t>Procesul nou are</a:t>
            </a:r>
          </a:p>
          <a:p>
            <a:pPr lvl="1"/>
            <a:r>
              <a:rPr lang="ro-RO"/>
              <a:t>O copie PCB</a:t>
            </a:r>
          </a:p>
          <a:p>
            <a:pPr lvl="1"/>
            <a:r>
              <a:rPr lang="ro-RO"/>
              <a:t>PID nou</a:t>
            </a:r>
          </a:p>
          <a:p>
            <a:pPr lvl="1"/>
            <a:r>
              <a:rPr lang="ro-RO"/>
              <a:t>Tabelă de descriptori nouă (</a:t>
            </a:r>
            <a:r>
              <a:rPr lang="ro-RO" b="1"/>
              <a:t>având aceeași pointeri</a:t>
            </a:r>
            <a:r>
              <a:rPr lang="ro-RO"/>
              <a:t>)</a:t>
            </a:r>
          </a:p>
          <a:p>
            <a:pPr lvl="1"/>
            <a:r>
              <a:rPr lang="ro-RO"/>
              <a:t>O copie a memoriei părintelui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80556-9D22-E34D-9C16-A45A7A40F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146217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71817-0684-8C4C-A437-7B58630A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>
                <a:solidFill>
                  <a:srgbClr val="FF0000"/>
                </a:solidFill>
              </a:rPr>
              <a:t>fork bomb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54846-5A71-A14E-9CEA-0286C287C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fork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09A69-6F78-D447-8F8A-3E4155BF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80331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71817-0684-8C4C-A437-7B58630A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>
                <a:solidFill>
                  <a:srgbClr val="FF0000"/>
                </a:solidFill>
              </a:rPr>
              <a:t>fork bomb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6A774A2-5FEE-5845-BA53-3ECB54A6C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fork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/>
          </a:p>
          <a:p>
            <a:pPr marL="0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09A69-6F78-D447-8F8A-3E4155BF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33</a:t>
            </a:fld>
            <a:endParaRPr lang="ro-RO"/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97A058FD-24FE-C441-A5FA-4186A795334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612740"/>
            <a:ext cx="6673592" cy="4105414"/>
          </a:xfrm>
        </p:spPr>
      </p:pic>
    </p:spTree>
    <p:extLst>
      <p:ext uri="{BB962C8B-B14F-4D97-AF65-F5344CB8AC3E}">
        <p14:creationId xmlns:p14="http://schemas.microsoft.com/office/powerpoint/2010/main" val="209905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15C7-7499-F949-98AE-B4056AF5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Proes nou - UNIX - fork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2B753-97F8-094D-A74D-AAC2F571E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267F99"/>
                </a:solidFill>
                <a:latin typeface="Menlo" panose="020B0609030804020204" pitchFamily="49" charset="0"/>
              </a:rPr>
              <a:t>pid_t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pid = 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fork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o-RO" sz="200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(pid &lt;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perror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"fork"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sz="2000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(pid &gt;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008000"/>
                </a:solidFill>
                <a:latin typeface="Menlo" panose="020B0609030804020204" pitchFamily="49" charset="0"/>
              </a:rPr>
              <a:t>// This is the parent process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"Child process PID is %d</a:t>
            </a:r>
            <a:r>
              <a:rPr lang="ro-RO" sz="200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pid);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sz="2000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008000"/>
                </a:solidFill>
                <a:latin typeface="Menlo" panose="020B0609030804020204" pitchFamily="49" charset="0"/>
              </a:rPr>
              <a:t>// This is the child process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"My PID is %d</a:t>
            </a:r>
            <a:r>
              <a:rPr lang="ro-RO" sz="200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getpid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());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buNone/>
            </a:pP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9717F-E50D-BD48-A56B-F78BAF1A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311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FCA1-57B2-274E-A96A-E74F8720F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8A3F8-6654-8247-A7C6-80B810D56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Încarcă imaginea un nou executabil</a:t>
            </a:r>
          </a:p>
          <a:p>
            <a:endParaRPr lang="ro-RO"/>
          </a:p>
          <a:p>
            <a:r>
              <a:rPr lang="ro-RO"/>
              <a:t>Înlocuiește memoria procesului curent (</a:t>
            </a:r>
            <a:r>
              <a:rPr lang="ro-RO" i="1"/>
              <a:t>imaginea</a:t>
            </a:r>
            <a:r>
              <a:rPr lang="ro-RO"/>
              <a:t>) cu instrucțiunile și datele din executabil</a:t>
            </a:r>
          </a:p>
          <a:p>
            <a:endParaRPr lang="ro-RO" b="1"/>
          </a:p>
          <a:p>
            <a:r>
              <a:rPr lang="ro-RO" b="1"/>
              <a:t>Nu întoarce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80556-9D22-E34D-9C16-A45A7A40F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41505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15C7-7499-F949-98AE-B4056AF5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Proces nou - UNIX - exec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2B753-97F8-094D-A74D-AAC2F571E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execl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*path,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*arg0, ... </a:t>
            </a:r>
            <a:r>
              <a:rPr lang="ro-RO" sz="2000">
                <a:solidFill>
                  <a:srgbClr val="008000"/>
                </a:solidFill>
                <a:latin typeface="Menlo" panose="020B0609030804020204" pitchFamily="49" charset="0"/>
              </a:rPr>
              <a:t>/*, (char *)0 */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execle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*path,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*arg0, ...</a:t>
            </a:r>
          </a:p>
          <a:p>
            <a:pPr marL="0" indent="0">
              <a:buNone/>
            </a:pPr>
            <a:r>
              <a:rPr lang="ro-RO" sz="2000">
                <a:solidFill>
                  <a:srgbClr val="008000"/>
                </a:solidFill>
                <a:latin typeface="Menlo" panose="020B0609030804020204" pitchFamily="49" charset="0"/>
              </a:rPr>
              <a:t>/*, (char *)0, char *const envp[] */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execv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*path,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argv[]);</a:t>
            </a: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execve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*path,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argv[],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envp[]);</a:t>
            </a: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execvp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*file,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argv[]);</a:t>
            </a:r>
          </a:p>
          <a:p>
            <a:pPr marL="0" indent="0">
              <a:buNone/>
            </a:pPr>
            <a:endParaRPr lang="ro-RO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9717F-E50D-BD48-A56B-F78BAF1A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366292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15C7-7499-F949-98AE-B4056AF5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Proces nou - UNIX - exec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2B753-97F8-094D-A74D-AAC2F571E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(!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execl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"/usr/bin/cowsay"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"/usr/bin/cowsay"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"Hello"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perror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2000">
                <a:solidFill>
                  <a:srgbClr val="A31515"/>
                </a:solidFill>
                <a:latin typeface="Menlo" panose="020B0609030804020204" pitchFamily="49" charset="0"/>
              </a:rPr>
              <a:t>"execl"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abort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sz="2000">
                <a:solidFill>
                  <a:srgbClr val="008000"/>
                </a:solidFill>
                <a:latin typeface="Menlo" panose="020B0609030804020204" pitchFamily="49" charset="0"/>
              </a:rPr>
              <a:t>// if successful, this is never executed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9717F-E50D-BD48-A56B-F78BAF1A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348394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34B6F-FE86-AB4A-A65A-2E7BFC8B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FCD06C5-F43C-5548-A730-11F129D64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279" y="1600200"/>
            <a:ext cx="5879441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ED0A1-5386-2B4C-A5EB-CEB337FFE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099199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CDBDE1A0-30F3-3540-999F-0FEF48BA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>
                <a:ea typeface="ＭＳ Ｐゴシック" panose="020B0600070205080204" pitchFamily="34" charset="-128"/>
              </a:rPr>
              <a:t>Exemplu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7ED9533E-1029-2241-A016-C0DBC630C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o-RO" dirty="0" err="1"/>
              <a:t>Bash</a:t>
            </a:r>
            <a:r>
              <a:rPr lang="ro-RO" dirty="0"/>
              <a:t> </a:t>
            </a:r>
            <a:r>
              <a:rPr lang="ro-RO" dirty="0" err="1"/>
              <a:t>ropimește</a:t>
            </a:r>
            <a:r>
              <a:rPr lang="ro-RO" dirty="0"/>
              <a:t> un </a:t>
            </a:r>
            <a:r>
              <a:rPr lang="ro-RO" dirty="0" err="1"/>
              <a:t>string</a:t>
            </a:r>
            <a:r>
              <a:rPr lang="ro-RO" dirty="0"/>
              <a:t> de la </a:t>
            </a:r>
            <a:r>
              <a:rPr lang="ro-RO" dirty="0" err="1"/>
              <a:t>stdin</a:t>
            </a:r>
            <a:r>
              <a:rPr lang="ro-RO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ro-RO" dirty="0" err="1"/>
              <a:t>String-ul</a:t>
            </a:r>
            <a:r>
              <a:rPr lang="ro-RO" dirty="0"/>
              <a:t> este interpretat de </a:t>
            </a:r>
            <a:r>
              <a:rPr lang="ro-RO" dirty="0" err="1"/>
              <a:t>shell</a:t>
            </a:r>
            <a:r>
              <a:rPr lang="ro-RO" dirty="0"/>
              <a:t> și se găsește fișierul executabil</a:t>
            </a:r>
          </a:p>
          <a:p>
            <a:pPr marL="514350" indent="-514350">
              <a:buFont typeface="+mj-lt"/>
              <a:buAutoNum type="arabicPeriod"/>
            </a:pPr>
            <a:r>
              <a:rPr lang="ro-RO" dirty="0"/>
              <a:t>Procesul </a:t>
            </a:r>
            <a:r>
              <a:rPr lang="ro-RO" dirty="0" err="1"/>
              <a:t>shell</a:t>
            </a:r>
            <a:r>
              <a:rPr lang="ro-RO" dirty="0"/>
              <a:t> face un nou proces (</a:t>
            </a:r>
            <a:r>
              <a:rPr lang="ro-RO" b="1" dirty="0" err="1"/>
              <a:t>fork</a:t>
            </a:r>
            <a:r>
              <a:rPr lang="ro-RO" dirty="0"/>
              <a:t>) </a:t>
            </a:r>
          </a:p>
          <a:p>
            <a:pPr marL="914400" lvl="1" indent="-514350"/>
            <a:r>
              <a:rPr lang="ro-RO" dirty="0"/>
              <a:t>Procesul copil este pus în starea READY</a:t>
            </a:r>
          </a:p>
          <a:p>
            <a:pPr marL="514350" indent="-514350">
              <a:buFont typeface="+mj-lt"/>
              <a:buAutoNum type="arabicPeriod"/>
            </a:pPr>
            <a:r>
              <a:rPr lang="ro-RO" dirty="0"/>
              <a:t>Procesul copil "schimbă" datele și codul (</a:t>
            </a:r>
            <a:r>
              <a:rPr lang="ro-RO" b="1" dirty="0" err="1"/>
              <a:t>exec</a:t>
            </a:r>
            <a:r>
              <a:rPr lang="ro-RO" dirty="0"/>
              <a:t>) </a:t>
            </a:r>
          </a:p>
          <a:p>
            <a:pPr marL="914400" lvl="1" indent="-514350"/>
            <a:r>
              <a:rPr lang="ro-RO" dirty="0"/>
              <a:t>Procesul părinte al copilului este procesul </a:t>
            </a:r>
            <a:r>
              <a:rPr lang="ro-RO" dirty="0" err="1"/>
              <a:t>shell</a:t>
            </a:r>
            <a:endParaRPr lang="ro-RO" dirty="0"/>
          </a:p>
          <a:p>
            <a:pPr marL="514350" indent="-514350">
              <a:buFont typeface="+mj-lt"/>
              <a:buAutoNum type="arabicPeriod"/>
            </a:pPr>
            <a:r>
              <a:rPr lang="ro-RO" altLang="ro-RO" dirty="0">
                <a:ea typeface="ＭＳ Ｐゴシック" panose="020B0600070205080204" pitchFamily="34" charset="-128"/>
              </a:rPr>
              <a:t>Procesul părinte așteaptă după procesul copil</a:t>
            </a:r>
          </a:p>
        </p:txBody>
      </p:sp>
      <p:sp>
        <p:nvSpPr>
          <p:cNvPr id="37893" name="Slide Number Placeholder 4">
            <a:extLst>
              <a:ext uri="{FF2B5EF4-FFF2-40B4-BE49-F238E27FC236}">
                <a16:creationId xmlns:a16="http://schemas.microsoft.com/office/drawing/2014/main" id="{D44AC70C-7183-FC4F-8ABE-60FD3C2A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A64DDF1-BEB9-EA45-AD46-BDCC41CB6A59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39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7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069202BB-438A-D143-9D35-07A912563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>
                <a:ea typeface="ＭＳ Ｐゴシック" panose="020B0600070205080204" pitchFamily="34" charset="-128"/>
              </a:rPr>
              <a:t>Exemplu</a:t>
            </a:r>
          </a:p>
        </p:txBody>
      </p:sp>
      <p:sp>
        <p:nvSpPr>
          <p:cNvPr id="39940" name="Slide Number Placeholder 4">
            <a:extLst>
              <a:ext uri="{FF2B5EF4-FFF2-40B4-BE49-F238E27FC236}">
                <a16:creationId xmlns:a16="http://schemas.microsoft.com/office/drawing/2014/main" id="{8B470911-0722-744F-A951-A3290B8B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1E6065E-14B1-2648-AEAF-259951EE36E7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40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95EB2FB-ABAF-7244-9283-2D04637524FF}"/>
              </a:ext>
            </a:extLst>
          </p:cNvPr>
          <p:cNvSpPr/>
          <p:nvPr/>
        </p:nvSpPr>
        <p:spPr>
          <a:xfrm>
            <a:off x="2819400" y="1600200"/>
            <a:ext cx="762000" cy="76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  <p:sp>
        <p:nvSpPr>
          <p:cNvPr id="39942" name="TextBox 6">
            <a:extLst>
              <a:ext uri="{FF2B5EF4-FFF2-40B4-BE49-F238E27FC236}">
                <a16:creationId xmlns:a16="http://schemas.microsoft.com/office/drawing/2014/main" id="{76D53ED3-1817-7947-987A-BEC5EC281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763713"/>
            <a:ext cx="617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shell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sp>
        <p:nvSpPr>
          <p:cNvPr id="39943" name="TextBox 7">
            <a:extLst>
              <a:ext uri="{FF2B5EF4-FFF2-40B4-BE49-F238E27FC236}">
                <a16:creationId xmlns:a16="http://schemas.microsoft.com/office/drawing/2014/main" id="{498F9B73-218D-2244-AAE6-616ED41EA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295400"/>
            <a:ext cx="806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parent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C1E4F4-04FE-B943-9BD8-7D9DCA70F2BE}"/>
              </a:ext>
            </a:extLst>
          </p:cNvPr>
          <p:cNvSpPr/>
          <p:nvPr/>
        </p:nvSpPr>
        <p:spPr>
          <a:xfrm>
            <a:off x="4876800" y="2667000"/>
            <a:ext cx="762000" cy="76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  <p:sp>
        <p:nvSpPr>
          <p:cNvPr id="39945" name="TextBox 9">
            <a:extLst>
              <a:ext uri="{FF2B5EF4-FFF2-40B4-BE49-F238E27FC236}">
                <a16:creationId xmlns:a16="http://schemas.microsoft.com/office/drawing/2014/main" id="{70463DD4-533D-A049-AB44-C5FBE4105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830513"/>
            <a:ext cx="617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shell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sp>
        <p:nvSpPr>
          <p:cNvPr id="39946" name="TextBox 10">
            <a:extLst>
              <a:ext uri="{FF2B5EF4-FFF2-40B4-BE49-F238E27FC236}">
                <a16:creationId xmlns:a16="http://schemas.microsoft.com/office/drawing/2014/main" id="{C1464054-45E2-FC4D-AB01-69A1EBBE0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362200"/>
            <a:ext cx="63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child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37BE5F-5569-204C-B96A-E470258D0FB4}"/>
              </a:ext>
            </a:extLst>
          </p:cNvPr>
          <p:cNvCxnSpPr>
            <a:stCxn id="6" idx="5"/>
            <a:endCxn id="9" idx="1"/>
          </p:cNvCxnSpPr>
          <p:nvPr/>
        </p:nvCxnSpPr>
        <p:spPr>
          <a:xfrm rot="16200000" flipH="1">
            <a:off x="3965575" y="1755775"/>
            <a:ext cx="527050" cy="1517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8" name="TextBox 13">
            <a:extLst>
              <a:ext uri="{FF2B5EF4-FFF2-40B4-BE49-F238E27FC236}">
                <a16:creationId xmlns:a16="http://schemas.microsoft.com/office/drawing/2014/main" id="{4F8739DD-49E8-D74D-B0E4-5D123E409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590800"/>
            <a:ext cx="69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fork</a:t>
            </a:r>
            <a:r>
              <a:rPr lang="ro-RO" altLang="ro-RO" dirty="0">
                <a:latin typeface="Calibri" panose="020F0502020204030204" pitchFamily="34" charset="0"/>
              </a:rPr>
              <a:t>()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AE79790-5B4A-E640-9AF7-66601CC33D4E}"/>
              </a:ext>
            </a:extLst>
          </p:cNvPr>
          <p:cNvSpPr/>
          <p:nvPr/>
        </p:nvSpPr>
        <p:spPr>
          <a:xfrm>
            <a:off x="4884738" y="4267200"/>
            <a:ext cx="762000" cy="76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  <p:sp>
        <p:nvSpPr>
          <p:cNvPr id="39950" name="TextBox 16">
            <a:extLst>
              <a:ext uri="{FF2B5EF4-FFF2-40B4-BE49-F238E27FC236}">
                <a16:creationId xmlns:a16="http://schemas.microsoft.com/office/drawing/2014/main" id="{9703DCE6-2BAD-734B-838D-157B8FA9F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038600"/>
            <a:ext cx="63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child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9D8E65F-856B-F645-8FD2-3AFC7D4F4F5C}"/>
              </a:ext>
            </a:extLst>
          </p:cNvPr>
          <p:cNvCxnSpPr>
            <a:stCxn id="9" idx="4"/>
            <a:endCxn id="15" idx="0"/>
          </p:cNvCxnSpPr>
          <p:nvPr/>
        </p:nvCxnSpPr>
        <p:spPr>
          <a:xfrm rot="16200000" flipH="1">
            <a:off x="4842669" y="3844131"/>
            <a:ext cx="838200" cy="79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52" name="TextBox 20">
            <a:extLst>
              <a:ext uri="{FF2B5EF4-FFF2-40B4-BE49-F238E27FC236}">
                <a16:creationId xmlns:a16="http://schemas.microsoft.com/office/drawing/2014/main" id="{C08622AF-209C-404C-B025-16E4B774F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581400"/>
            <a:ext cx="1552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exec</a:t>
            </a:r>
            <a:r>
              <a:rPr lang="ro-RO" altLang="ro-RO" dirty="0">
                <a:latin typeface="Calibri" panose="020F0502020204030204" pitchFamily="34" charset="0"/>
              </a:rPr>
              <a:t>(</a:t>
            </a:r>
            <a:r>
              <a:rPr lang="ro-RO" altLang="en-US" dirty="0">
                <a:latin typeface="Calibri" panose="020F0502020204030204" pitchFamily="34" charset="0"/>
              </a:rPr>
              <a:t>“</a:t>
            </a:r>
            <a:r>
              <a:rPr lang="ro-RO" altLang="ro-RO" dirty="0">
                <a:latin typeface="Calibri" panose="020F0502020204030204" pitchFamily="34" charset="0"/>
              </a:rPr>
              <a:t>/</a:t>
            </a:r>
            <a:r>
              <a:rPr lang="ro-RO" altLang="ro-RO" dirty="0" err="1">
                <a:latin typeface="Calibri" panose="020F0502020204030204" pitchFamily="34" charset="0"/>
              </a:rPr>
              <a:t>bin</a:t>
            </a:r>
            <a:r>
              <a:rPr lang="ro-RO" altLang="ro-RO" dirty="0">
                <a:latin typeface="Calibri" panose="020F0502020204030204" pitchFamily="34" charset="0"/>
              </a:rPr>
              <a:t>/</a:t>
            </a:r>
            <a:r>
              <a:rPr lang="ro-RO" altLang="ro-RO" dirty="0" err="1">
                <a:latin typeface="Calibri" panose="020F0502020204030204" pitchFamily="34" charset="0"/>
              </a:rPr>
              <a:t>ls</a:t>
            </a:r>
            <a:r>
              <a:rPr lang="ro-RO" altLang="en-US" dirty="0">
                <a:latin typeface="Calibri" panose="020F0502020204030204" pitchFamily="34" charset="0"/>
              </a:rPr>
              <a:t>”</a:t>
            </a:r>
            <a:r>
              <a:rPr lang="ro-RO" altLang="ro-RO" dirty="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39953" name="TextBox 21">
            <a:extLst>
              <a:ext uri="{FF2B5EF4-FFF2-40B4-BE49-F238E27FC236}">
                <a16:creationId xmlns:a16="http://schemas.microsoft.com/office/drawing/2014/main" id="{9B955F10-F435-3140-AD5C-52E1300A7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419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ro-RO" altLang="ro-RO" dirty="0" err="1">
                <a:latin typeface="Calibri" panose="020F0502020204030204" pitchFamily="34" charset="0"/>
              </a:rPr>
              <a:t>ls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A57AF5-41B5-074A-9126-02AC7B12F82A}"/>
              </a:ext>
            </a:extLst>
          </p:cNvPr>
          <p:cNvSpPr/>
          <p:nvPr/>
        </p:nvSpPr>
        <p:spPr>
          <a:xfrm>
            <a:off x="2805113" y="5105400"/>
            <a:ext cx="762000" cy="76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  <p:sp>
        <p:nvSpPr>
          <p:cNvPr id="39955" name="TextBox 23">
            <a:extLst>
              <a:ext uri="{FF2B5EF4-FFF2-40B4-BE49-F238E27FC236}">
                <a16:creationId xmlns:a16="http://schemas.microsoft.com/office/drawing/2014/main" id="{5FC27992-AEAE-004A-BBE8-14B2CE066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1313" y="5268913"/>
            <a:ext cx="6175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shell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sp>
        <p:nvSpPr>
          <p:cNvPr id="39956" name="TextBox 24">
            <a:extLst>
              <a:ext uri="{FF2B5EF4-FFF2-40B4-BE49-F238E27FC236}">
                <a16:creationId xmlns:a16="http://schemas.microsoft.com/office/drawing/2014/main" id="{A72DC7FB-0220-1A43-B246-F49EF5350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876800"/>
            <a:ext cx="806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parent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A4332A4-A200-7E4C-A93D-ACA0F2B3A312}"/>
              </a:ext>
            </a:extLst>
          </p:cNvPr>
          <p:cNvCxnSpPr>
            <a:stCxn id="6" idx="4"/>
            <a:endCxn id="23" idx="0"/>
          </p:cNvCxnSpPr>
          <p:nvPr/>
        </p:nvCxnSpPr>
        <p:spPr>
          <a:xfrm rot="5400000">
            <a:off x="1821657" y="3726656"/>
            <a:ext cx="2743200" cy="14287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526D037-8A41-214E-8B40-2F2FB3BA34D8}"/>
              </a:ext>
            </a:extLst>
          </p:cNvPr>
          <p:cNvCxnSpPr>
            <a:stCxn id="23" idx="6"/>
            <a:endCxn id="15" idx="3"/>
          </p:cNvCxnSpPr>
          <p:nvPr/>
        </p:nvCxnSpPr>
        <p:spPr>
          <a:xfrm flipV="1">
            <a:off x="3567113" y="4918075"/>
            <a:ext cx="1428750" cy="5683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59" name="TextBox 31">
            <a:extLst>
              <a:ext uri="{FF2B5EF4-FFF2-40B4-BE49-F238E27FC236}">
                <a16:creationId xmlns:a16="http://schemas.microsoft.com/office/drawing/2014/main" id="{066EA8EF-7E1D-4C47-B3FB-34F2DCA00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181600"/>
            <a:ext cx="7286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wait</a:t>
            </a:r>
            <a:r>
              <a:rPr lang="ro-RO" altLang="ro-RO" dirty="0">
                <a:latin typeface="Calibri" panose="020F050202020403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439496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F85E8-F667-E043-88E8-0605B4585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Exemplu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3820A-A110-0C40-8B4F-8AF12D9BC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m-CH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 status;</a:t>
            </a:r>
          </a:p>
          <a:p>
            <a:pPr marL="0" indent="0">
              <a:buNone/>
            </a:pPr>
            <a:r>
              <a:rPr lang="rm-CH">
                <a:solidFill>
                  <a:srgbClr val="267F99"/>
                </a:solidFill>
                <a:latin typeface="Menlo" panose="020B0609030804020204" pitchFamily="49" charset="0"/>
              </a:rPr>
              <a:t>pid_t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 pid = </a:t>
            </a:r>
            <a:r>
              <a:rPr lang="rm-CH">
                <a:solidFill>
                  <a:srgbClr val="795E26"/>
                </a:solidFill>
                <a:latin typeface="Menlo" panose="020B0609030804020204" pitchFamily="49" charset="0"/>
              </a:rPr>
              <a:t>fork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m-CH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 (pid &lt; </a:t>
            </a:r>
            <a:r>
              <a:rPr lang="rm-CH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m-CH">
                <a:solidFill>
                  <a:srgbClr val="795E26"/>
                </a:solidFill>
                <a:latin typeface="Menlo" panose="020B0609030804020204" pitchFamily="49" charset="0"/>
              </a:rPr>
              <a:t>perror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m-CH">
                <a:solidFill>
                  <a:srgbClr val="A31515"/>
                </a:solidFill>
                <a:latin typeface="Menlo" panose="020B0609030804020204" pitchFamily="49" charset="0"/>
              </a:rPr>
              <a:t>"fork"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m-CH">
                <a:solidFill>
                  <a:srgbClr val="795E26"/>
                </a:solidFill>
                <a:latin typeface="Menlo" panose="020B0609030804020204" pitchFamily="49" charset="0"/>
              </a:rPr>
              <a:t>abort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m-CH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endParaRPr lang="rm-CH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m-CH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 (pid &gt; </a:t>
            </a:r>
            <a:r>
              <a:rPr lang="rm-CH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m-CH">
                <a:solidFill>
                  <a:srgbClr val="008000"/>
                </a:solidFill>
                <a:latin typeface="Menlo" panose="020B0609030804020204" pitchFamily="49" charset="0"/>
              </a:rPr>
              <a:t>// This is the parent process</a:t>
            </a:r>
            <a:endParaRPr lang="rm-CH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m-CH">
                <a:solidFill>
                  <a:srgbClr val="008000"/>
                </a:solidFill>
                <a:latin typeface="Menlo" panose="020B0609030804020204" pitchFamily="49" charset="0"/>
              </a:rPr>
              <a:t>// printf ("Child process PID is %d\n", pid);</a:t>
            </a:r>
            <a:endParaRPr lang="rm-CH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m-CH">
                <a:solidFill>
                  <a:srgbClr val="795E26"/>
                </a:solidFill>
                <a:latin typeface="Menlo" panose="020B0609030804020204" pitchFamily="49" charset="0"/>
              </a:rPr>
              <a:t>waitpid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 (pid, &amp;status, </a:t>
            </a:r>
            <a:r>
              <a:rPr lang="rm-CH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m-CH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m-CH">
                <a:solidFill>
                  <a:srgbClr val="008000"/>
                </a:solidFill>
                <a:latin typeface="Menlo" panose="020B0609030804020204" pitchFamily="49" charset="0"/>
              </a:rPr>
              <a:t>// This is the child process</a:t>
            </a:r>
            <a:endParaRPr lang="rm-CH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m-CH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 (!</a:t>
            </a:r>
            <a:r>
              <a:rPr lang="rm-CH">
                <a:solidFill>
                  <a:srgbClr val="795E26"/>
                </a:solidFill>
                <a:latin typeface="Menlo" panose="020B0609030804020204" pitchFamily="49" charset="0"/>
              </a:rPr>
              <a:t>execl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m-CH">
                <a:solidFill>
                  <a:srgbClr val="A31515"/>
                </a:solidFill>
                <a:latin typeface="Menlo" panose="020B0609030804020204" pitchFamily="49" charset="0"/>
              </a:rPr>
              <a:t>"/bin/ls"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m-CH">
                <a:solidFill>
                  <a:srgbClr val="A31515"/>
                </a:solidFill>
                <a:latin typeface="Menlo" panose="020B0609030804020204" pitchFamily="49" charset="0"/>
              </a:rPr>
              <a:t>"/bin/ls"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m-CH">
                <a:solidFill>
                  <a:srgbClr val="A31515"/>
                </a:solidFill>
                <a:latin typeface="Menlo" panose="020B0609030804020204" pitchFamily="49" charset="0"/>
              </a:rPr>
              <a:t>"-l"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m-CH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)) {</a:t>
            </a:r>
          </a:p>
          <a:p>
            <a:pPr marL="0" indent="0">
              <a:buNone/>
            </a:pP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m-CH">
                <a:solidFill>
                  <a:srgbClr val="795E26"/>
                </a:solidFill>
                <a:latin typeface="Menlo" panose="020B0609030804020204" pitchFamily="49" charset="0"/>
              </a:rPr>
              <a:t>perror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m-CH">
                <a:solidFill>
                  <a:srgbClr val="A31515"/>
                </a:solidFill>
                <a:latin typeface="Menlo" panose="020B0609030804020204" pitchFamily="49" charset="0"/>
              </a:rPr>
              <a:t>"Error loading /bin/ls</a:t>
            </a:r>
            <a:r>
              <a:rPr lang="rm-CH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m-CH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m-CH">
                <a:solidFill>
                  <a:srgbClr val="795E26"/>
                </a:solidFill>
                <a:latin typeface="Menlo" panose="020B0609030804020204" pitchFamily="49" charset="0"/>
              </a:rPr>
              <a:t>abort</a:t>
            </a: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    }</a:t>
            </a:r>
          </a:p>
          <a:p>
            <a:pPr marL="0" indent="0">
              <a:buNone/>
            </a:pPr>
            <a:r>
              <a:rPr lang="rm-CH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53FB3-A8AD-3B49-BF56-9238A3A7B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41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30279361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C04206CC-8DF1-534C-A302-79413F261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 err="1">
                <a:ea typeface="ＭＳ Ｐゴシック" panose="020B0600070205080204" pitchFamily="34" charset="-128"/>
              </a:rPr>
              <a:t>fork</a:t>
            </a:r>
            <a:r>
              <a:rPr lang="ro-RO" altLang="ro-RO" dirty="0">
                <a:ea typeface="ＭＳ Ｐゴシック" panose="020B0600070205080204" pitchFamily="34" charset="-128"/>
              </a:rPr>
              <a:t>, </a:t>
            </a:r>
            <a:r>
              <a:rPr lang="ro-RO" altLang="ro-RO" dirty="0" err="1">
                <a:ea typeface="ＭＳ Ｐゴシック" panose="020B0600070205080204" pitchFamily="34" charset="-128"/>
              </a:rPr>
              <a:t>exec</a:t>
            </a:r>
            <a:r>
              <a:rPr lang="ro-RO" altLang="ro-RO" dirty="0">
                <a:ea typeface="ＭＳ Ｐゴシック" panose="020B0600070205080204" pitchFamily="34" charset="-128"/>
              </a:rPr>
              <a:t> și redirectări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0FFCFC-C7C6-9E43-AF72-30A368C37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1700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1700" dirty="0" err="1">
                <a:solidFill>
                  <a:srgbClr val="000000"/>
                </a:solidFill>
                <a:latin typeface="Menlo" panose="020B0609030804020204" pitchFamily="49" charset="0"/>
              </a:rPr>
              <a:t>fd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1700" dirty="0" err="1">
                <a:solidFill>
                  <a:srgbClr val="267F99"/>
                </a:solidFill>
                <a:latin typeface="Menlo" panose="020B0609030804020204" pitchFamily="49" charset="0"/>
              </a:rPr>
              <a:t>pid_t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1700" dirty="0" err="1">
                <a:solidFill>
                  <a:srgbClr val="000000"/>
                </a:solidFill>
                <a:latin typeface="Menlo" panose="020B0609030804020204" pitchFamily="49" charset="0"/>
              </a:rPr>
              <a:t>pid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ro-RO" sz="1700" dirty="0" err="1">
                <a:solidFill>
                  <a:srgbClr val="795E26"/>
                </a:solidFill>
                <a:latin typeface="Menlo" panose="020B0609030804020204" pitchFamily="49" charset="0"/>
              </a:rPr>
              <a:t>fork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o-RO" sz="1700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1700" dirty="0" err="1">
                <a:solidFill>
                  <a:srgbClr val="000000"/>
                </a:solidFill>
                <a:latin typeface="Menlo" panose="020B0609030804020204" pitchFamily="49" charset="0"/>
              </a:rPr>
              <a:t>pid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ro-RO" sz="17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1700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sz="1700" dirty="0" err="1">
                <a:solidFill>
                  <a:srgbClr val="008000"/>
                </a:solidFill>
                <a:latin typeface="Menlo" panose="020B0609030804020204" pitchFamily="49" charset="0"/>
              </a:rPr>
              <a:t>redirect</a:t>
            </a:r>
            <a:endParaRPr lang="ro-RO" sz="17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1700" dirty="0" err="1">
                <a:solidFill>
                  <a:srgbClr val="000000"/>
                </a:solidFill>
                <a:latin typeface="Menlo" panose="020B0609030804020204" pitchFamily="49" charset="0"/>
              </a:rPr>
              <a:t>fd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ro-RO" sz="1700" dirty="0">
                <a:solidFill>
                  <a:srgbClr val="795E26"/>
                </a:solidFill>
                <a:latin typeface="Menlo" panose="020B0609030804020204" pitchFamily="49" charset="0"/>
              </a:rPr>
              <a:t>open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1700" dirty="0">
                <a:solidFill>
                  <a:srgbClr val="A31515"/>
                </a:solidFill>
                <a:latin typeface="Menlo" panose="020B0609030804020204" pitchFamily="49" charset="0"/>
              </a:rPr>
              <a:t>"output"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, O_TRUNC | O_WRONLY | O_CREAT, </a:t>
            </a:r>
            <a:r>
              <a:rPr lang="ro-RO" sz="1700" dirty="0">
                <a:solidFill>
                  <a:srgbClr val="09885A"/>
                </a:solidFill>
                <a:latin typeface="Menlo" panose="020B0609030804020204" pitchFamily="49" charset="0"/>
              </a:rPr>
              <a:t>0644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1700" dirty="0">
                <a:solidFill>
                  <a:srgbClr val="795E26"/>
                </a:solidFill>
                <a:latin typeface="Menlo" panose="020B0609030804020204" pitchFamily="49" charset="0"/>
              </a:rPr>
              <a:t>dup2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1700" dirty="0" err="1">
                <a:solidFill>
                  <a:srgbClr val="000000"/>
                </a:solidFill>
                <a:latin typeface="Menlo" panose="020B0609030804020204" pitchFamily="49" charset="0"/>
              </a:rPr>
              <a:t>fd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1700" dirty="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1700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 (!</a:t>
            </a:r>
            <a:r>
              <a:rPr lang="ro-RO" sz="1700" dirty="0" err="1">
                <a:solidFill>
                  <a:srgbClr val="795E26"/>
                </a:solidFill>
                <a:latin typeface="Menlo" panose="020B0609030804020204" pitchFamily="49" charset="0"/>
              </a:rPr>
              <a:t>execl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1700" dirty="0">
                <a:solidFill>
                  <a:srgbClr val="A31515"/>
                </a:solidFill>
                <a:latin typeface="Menlo" panose="020B0609030804020204" pitchFamily="49" charset="0"/>
              </a:rPr>
              <a:t>"/</a:t>
            </a:r>
            <a:r>
              <a:rPr lang="ro-RO" sz="1700" dirty="0" err="1">
                <a:solidFill>
                  <a:srgbClr val="A31515"/>
                </a:solidFill>
                <a:latin typeface="Menlo" panose="020B0609030804020204" pitchFamily="49" charset="0"/>
              </a:rPr>
              <a:t>bin</a:t>
            </a:r>
            <a:r>
              <a:rPr lang="ro-RO" sz="1700" dirty="0">
                <a:solidFill>
                  <a:srgbClr val="A31515"/>
                </a:solidFill>
                <a:latin typeface="Menlo" panose="020B0609030804020204" pitchFamily="49" charset="0"/>
              </a:rPr>
              <a:t>/</a:t>
            </a:r>
            <a:r>
              <a:rPr lang="ro-RO" sz="1700" dirty="0" err="1">
                <a:solidFill>
                  <a:srgbClr val="A31515"/>
                </a:solidFill>
                <a:latin typeface="Menlo" panose="020B0609030804020204" pitchFamily="49" charset="0"/>
              </a:rPr>
              <a:t>ls</a:t>
            </a:r>
            <a:r>
              <a:rPr lang="ro-RO" sz="17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1700" dirty="0">
                <a:solidFill>
                  <a:srgbClr val="A31515"/>
                </a:solidFill>
                <a:latin typeface="Menlo" panose="020B0609030804020204" pitchFamily="49" charset="0"/>
              </a:rPr>
              <a:t>"/</a:t>
            </a:r>
            <a:r>
              <a:rPr lang="ro-RO" sz="1700" dirty="0" err="1">
                <a:solidFill>
                  <a:srgbClr val="A31515"/>
                </a:solidFill>
                <a:latin typeface="Menlo" panose="020B0609030804020204" pitchFamily="49" charset="0"/>
              </a:rPr>
              <a:t>bin</a:t>
            </a:r>
            <a:r>
              <a:rPr lang="ro-RO" sz="1700" dirty="0">
                <a:solidFill>
                  <a:srgbClr val="A31515"/>
                </a:solidFill>
                <a:latin typeface="Menlo" panose="020B0609030804020204" pitchFamily="49" charset="0"/>
              </a:rPr>
              <a:t>/</a:t>
            </a:r>
            <a:r>
              <a:rPr lang="ro-RO" sz="1700" dirty="0" err="1">
                <a:solidFill>
                  <a:srgbClr val="A31515"/>
                </a:solidFill>
                <a:latin typeface="Menlo" panose="020B0609030804020204" pitchFamily="49" charset="0"/>
              </a:rPr>
              <a:t>ls</a:t>
            </a:r>
            <a:r>
              <a:rPr lang="ro-RO" sz="17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1700" dirty="0">
                <a:solidFill>
                  <a:srgbClr val="A31515"/>
                </a:solidFill>
                <a:latin typeface="Menlo" panose="020B0609030804020204" pitchFamily="49" charset="0"/>
              </a:rPr>
              <a:t>"-l"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1700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pPr marL="0" indent="0">
              <a:buNone/>
            </a:pP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    {</a:t>
            </a:r>
          </a:p>
          <a:p>
            <a:pPr marL="0" indent="0">
              <a:buNone/>
            </a:pP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1700" dirty="0" err="1">
                <a:solidFill>
                  <a:srgbClr val="795E26"/>
                </a:solidFill>
                <a:latin typeface="Menlo" panose="020B0609030804020204" pitchFamily="49" charset="0"/>
              </a:rPr>
              <a:t>perror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17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sz="1700" dirty="0" err="1">
                <a:solidFill>
                  <a:srgbClr val="A31515"/>
                </a:solidFill>
                <a:latin typeface="Menlo" panose="020B0609030804020204" pitchFamily="49" charset="0"/>
              </a:rPr>
              <a:t>Error</a:t>
            </a:r>
            <a:r>
              <a:rPr lang="ro-RO" sz="1700" dirty="0">
                <a:solidFill>
                  <a:srgbClr val="A31515"/>
                </a:solidFill>
                <a:latin typeface="Menlo" panose="020B0609030804020204" pitchFamily="49" charset="0"/>
              </a:rPr>
              <a:t> </a:t>
            </a:r>
            <a:r>
              <a:rPr lang="ro-RO" sz="1700" dirty="0" err="1">
                <a:solidFill>
                  <a:srgbClr val="A31515"/>
                </a:solidFill>
                <a:latin typeface="Menlo" panose="020B0609030804020204" pitchFamily="49" charset="0"/>
              </a:rPr>
              <a:t>loading</a:t>
            </a:r>
            <a:r>
              <a:rPr lang="ro-RO" sz="1700" dirty="0">
                <a:solidFill>
                  <a:srgbClr val="A31515"/>
                </a:solidFill>
                <a:latin typeface="Menlo" panose="020B0609030804020204" pitchFamily="49" charset="0"/>
              </a:rPr>
              <a:t> /</a:t>
            </a:r>
            <a:r>
              <a:rPr lang="ro-RO" sz="1700" dirty="0" err="1">
                <a:solidFill>
                  <a:srgbClr val="A31515"/>
                </a:solidFill>
                <a:latin typeface="Menlo" panose="020B0609030804020204" pitchFamily="49" charset="0"/>
              </a:rPr>
              <a:t>bin</a:t>
            </a:r>
            <a:r>
              <a:rPr lang="ro-RO" sz="1700" dirty="0">
                <a:solidFill>
                  <a:srgbClr val="A31515"/>
                </a:solidFill>
                <a:latin typeface="Menlo" panose="020B0609030804020204" pitchFamily="49" charset="0"/>
              </a:rPr>
              <a:t>/</a:t>
            </a:r>
            <a:r>
              <a:rPr lang="ro-RO" sz="1700" dirty="0" err="1">
                <a:solidFill>
                  <a:srgbClr val="A31515"/>
                </a:solidFill>
                <a:latin typeface="Menlo" panose="020B0609030804020204" pitchFamily="49" charset="0"/>
              </a:rPr>
              <a:t>ls</a:t>
            </a:r>
            <a:r>
              <a:rPr lang="ro-RO" sz="1700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sz="17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1700" dirty="0" err="1">
                <a:solidFill>
                  <a:srgbClr val="795E26"/>
                </a:solidFill>
                <a:latin typeface="Menlo" panose="020B0609030804020204" pitchFamily="49" charset="0"/>
              </a:rPr>
              <a:t>abort</a:t>
            </a: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    }</a:t>
            </a:r>
          </a:p>
          <a:p>
            <a:pPr marL="0" indent="0">
              <a:buNone/>
            </a:pPr>
            <a:r>
              <a:rPr lang="ro-RO" sz="17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1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E32766-2BFB-8A4C-A743-C96656DD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o-RO" dirty="0"/>
              <a:t>SO: Curs 3: Procese</a:t>
            </a:r>
          </a:p>
        </p:txBody>
      </p:sp>
      <p:sp>
        <p:nvSpPr>
          <p:cNvPr id="40964" name="Slide Number Placeholder 4">
            <a:extLst>
              <a:ext uri="{FF2B5EF4-FFF2-40B4-BE49-F238E27FC236}">
                <a16:creationId xmlns:a16="http://schemas.microsoft.com/office/drawing/2014/main" id="{CC51210A-7C1E-5644-8926-364775C3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0811189-8A53-F94A-8396-879D32E090EC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42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2168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E3393D-A4CA-014B-AE94-B01337CCF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Închiderea</a:t>
            </a:r>
            <a:r>
              <a:rPr lang="fr-FR" dirty="0"/>
              <a:t> </a:t>
            </a:r>
            <a:r>
              <a:rPr lang="fr-FR" dirty="0" err="1"/>
              <a:t>unui</a:t>
            </a:r>
            <a:r>
              <a:rPr lang="fr-FR" dirty="0"/>
              <a:t> </a:t>
            </a:r>
            <a:r>
              <a:rPr lang="fr-FR" dirty="0" err="1"/>
              <a:t>proces</a:t>
            </a:r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772AF6-041D-D247-904D-864DC70F5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A5775-CCC5-1848-97BF-390D0057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1504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4A398A-034B-8845-A4BF-DF8D726D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Închiderea unui proces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84FEE-807E-D344-916A-36D2C268F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Terminarea execuției</a:t>
            </a:r>
          </a:p>
          <a:p>
            <a:endParaRPr lang="ro-RO"/>
          </a:p>
          <a:p>
            <a:r>
              <a:rPr lang="ro-RO"/>
              <a:t>Închis de SO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96493-482E-8749-9BAB-EF53A448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43656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FDA75CED-9D3C-8646-8D5C-9ADDA48EA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4638"/>
            <a:ext cx="7620000" cy="563562"/>
          </a:xfrm>
        </p:spPr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Terminarea execuției unui proces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14693566-F0C4-A448-8360-E80CA210A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Terminarea execuției unui proces se face</a:t>
            </a:r>
          </a:p>
          <a:p>
            <a:pPr lvl="1"/>
            <a:r>
              <a:rPr lang="ro-RO" dirty="0"/>
              <a:t>când ajunge la finalul funcției </a:t>
            </a:r>
            <a:r>
              <a:rPr lang="ro-RO" dirty="0" err="1"/>
              <a:t>main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apelează </a:t>
            </a:r>
            <a:r>
              <a:rPr lang="ro-RO" b="1" dirty="0" err="1"/>
              <a:t>exit</a:t>
            </a:r>
            <a:r>
              <a:rPr lang="ro-RO" dirty="0"/>
              <a:t> </a:t>
            </a:r>
          </a:p>
          <a:p>
            <a:r>
              <a:rPr lang="ro-RO" dirty="0"/>
              <a:t>Decizia de terminare este a procesului </a:t>
            </a:r>
          </a:p>
          <a:p>
            <a:endParaRPr lang="ro-RO" dirty="0"/>
          </a:p>
        </p:txBody>
      </p:sp>
      <p:sp>
        <p:nvSpPr>
          <p:cNvPr id="43013" name="Slide Number Placeholder 4">
            <a:extLst>
              <a:ext uri="{FF2B5EF4-FFF2-40B4-BE49-F238E27FC236}">
                <a16:creationId xmlns:a16="http://schemas.microsoft.com/office/drawing/2014/main" id="{2A03C299-F47B-3D48-8307-D8EB02E0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11B5F6D-13B1-7E4B-AFBC-AF43DA3842D0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45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5121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F4CF39E9-BA2E-AB40-A862-8B956965C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>
                <a:ea typeface="ＭＳ Ｐゴシック" panose="020B0600070205080204" pitchFamily="34" charset="-128"/>
              </a:rPr>
              <a:t>Închis de SO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1C895365-833C-C448-BD59-227F25E9D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SO închide un proces </a:t>
            </a:r>
          </a:p>
          <a:p>
            <a:pPr lvl="1"/>
            <a:r>
              <a:rPr lang="ro-RO" dirty="0"/>
              <a:t>La cererea altui proces (</a:t>
            </a:r>
            <a:r>
              <a:rPr lang="ro-RO" dirty="0" err="1"/>
              <a:t>kill</a:t>
            </a:r>
            <a:r>
              <a:rPr lang="ro-RO" dirty="0"/>
              <a:t>) </a:t>
            </a:r>
          </a:p>
          <a:p>
            <a:pPr lvl="1"/>
            <a:r>
              <a:rPr lang="ro-RO" dirty="0"/>
              <a:t>Procesul a executat ceva greșit sau a încercat să acceseze memorie pe care nu are voi s-o acceseze</a:t>
            </a:r>
          </a:p>
          <a:p>
            <a:endParaRPr lang="ro-RO" dirty="0"/>
          </a:p>
          <a:p>
            <a:r>
              <a:rPr lang="ro-RO" dirty="0"/>
              <a:t>Trimite un semnal (Unix) sau o </a:t>
            </a:r>
            <a:r>
              <a:rPr lang="ro-RO" dirty="0" err="1"/>
              <a:t>excpeție</a:t>
            </a:r>
            <a:r>
              <a:rPr lang="ro-RO" dirty="0"/>
              <a:t> (Windows) </a:t>
            </a:r>
          </a:p>
        </p:txBody>
      </p:sp>
      <p:sp>
        <p:nvSpPr>
          <p:cNvPr id="44037" name="Slide Number Placeholder 4">
            <a:extLst>
              <a:ext uri="{FF2B5EF4-FFF2-40B4-BE49-F238E27FC236}">
                <a16:creationId xmlns:a16="http://schemas.microsoft.com/office/drawing/2014/main" id="{B606BF7B-25E0-4345-8DBE-C06A8EB7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02E63E7-C02D-E842-95C2-228283AFC423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46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3887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2A29-E1CD-2848-AF64-D7BEACCB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Ștergerea procesului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4AA39-4D3B-3C4C-B263-37A532C0D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SO șterge toate datele procesului</a:t>
            </a:r>
          </a:p>
          <a:p>
            <a:pPr lvl="1"/>
            <a:r>
              <a:rPr lang="ro-RO" dirty="0"/>
              <a:t>PCB</a:t>
            </a:r>
          </a:p>
          <a:p>
            <a:pPr lvl="1"/>
            <a:r>
              <a:rPr lang="ro-RO" dirty="0"/>
              <a:t>PID</a:t>
            </a:r>
          </a:p>
          <a:p>
            <a:pPr lvl="1"/>
            <a:r>
              <a:rPr lang="ro-RO" dirty="0"/>
              <a:t>Tabela de descriptori</a:t>
            </a:r>
          </a:p>
          <a:p>
            <a:pPr lvl="1"/>
            <a:r>
              <a:rPr lang="ro-RO" altLang="ro-RO" dirty="0">
                <a:ea typeface="ＭＳ Ｐゴシック" panose="020B0600070205080204" pitchFamily="34" charset="-128"/>
              </a:rPr>
              <a:t>Memoria </a:t>
            </a:r>
            <a:r>
              <a:rPr lang="ro-RO" altLang="ro-RO" dirty="0" err="1">
                <a:ea typeface="ＭＳ Ｐゴシック" panose="020B0600070205080204" pitchFamily="34" charset="-128"/>
              </a:rPr>
              <a:t>alicată</a:t>
            </a:r>
            <a:endParaRPr lang="ro-RO" altLang="ro-RO" dirty="0">
              <a:ea typeface="ＭＳ Ｐゴシック" panose="020B0600070205080204" pitchFamily="34" charset="-128"/>
            </a:endParaRPr>
          </a:p>
          <a:p>
            <a:pPr lvl="1"/>
            <a:r>
              <a:rPr lang="ro-RO" altLang="ro-RO" dirty="0">
                <a:ea typeface="ＭＳ Ｐゴシック" panose="020B0600070205080204" pitchFamily="34" charset="-128"/>
              </a:rPr>
              <a:t>…</a:t>
            </a:r>
          </a:p>
          <a:p>
            <a:r>
              <a:rPr lang="ro-RO" altLang="ro-RO" dirty="0">
                <a:ea typeface="ＭＳ Ｐゴシック" panose="020B0600070205080204" pitchFamily="34" charset="-128"/>
              </a:rPr>
              <a:t>SO trimite un semnal (Unix) / mesaj (Windows) </a:t>
            </a:r>
            <a:r>
              <a:rPr lang="ro-RO" altLang="ro-RO" dirty="0" err="1">
                <a:ea typeface="ＭＳ Ｐゴシック" panose="020B0600070205080204" pitchFamily="34" charset="-128"/>
              </a:rPr>
              <a:t>prodesului</a:t>
            </a:r>
            <a:r>
              <a:rPr lang="ro-RO" altLang="ro-RO" dirty="0">
                <a:ea typeface="ＭＳ Ｐゴシック" panose="020B0600070205080204" pitchFamily="34" charset="-128"/>
              </a:rPr>
              <a:t> părinte</a:t>
            </a:r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CC24D-E19A-DA4C-A93B-688A219E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459673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26CC98EC-7040-5B4D-B3D1-2FF99C93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Așteptarea unui </a:t>
            </a:r>
            <a:r>
              <a:rPr lang="ro-RO" altLang="ro-RO" dirty="0" err="1">
                <a:ea typeface="ＭＳ Ｐゴシック" panose="020B0600070205080204" pitchFamily="34" charset="-128"/>
              </a:rPr>
              <a:t>process</a:t>
            </a:r>
            <a:endParaRPr lang="ro-RO" altLang="ro-RO" dirty="0">
              <a:ea typeface="ＭＳ Ｐゴシック" panose="020B0600070205080204" pitchFamily="34" charset="-128"/>
            </a:endParaRP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677E8400-BA36-5A4D-8511-B52616CD4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Sincronizarea acțiunilor</a:t>
            </a:r>
          </a:p>
          <a:p>
            <a:pPr lvl="1"/>
            <a:r>
              <a:rPr lang="ro-RO" dirty="0"/>
              <a:t>fă X după Y </a:t>
            </a:r>
          </a:p>
          <a:p>
            <a:pPr lvl="1"/>
            <a:r>
              <a:rPr lang="ro-RO" dirty="0"/>
              <a:t>procesul care face acțiunea X așteaptă terminarea procesului care face acțiunea Y</a:t>
            </a:r>
          </a:p>
          <a:p>
            <a:r>
              <a:rPr lang="ro-RO" dirty="0"/>
              <a:t>Se numește  »așteptarea unui proces" </a:t>
            </a:r>
          </a:p>
          <a:p>
            <a:endParaRPr lang="ro-RO" dirty="0"/>
          </a:p>
          <a:p>
            <a:r>
              <a:rPr lang="ro-RO" dirty="0"/>
              <a:t>Informații utile la terminarea </a:t>
            </a:r>
            <a:r>
              <a:rPr lang="ro-RO" dirty="0" err="1"/>
              <a:t>proesului</a:t>
            </a:r>
            <a:endParaRPr lang="ro-RO" dirty="0"/>
          </a:p>
          <a:p>
            <a:pPr lvl="1"/>
            <a:r>
              <a:rPr lang="ro-RO" dirty="0"/>
              <a:t>Valoarea de întoarcere</a:t>
            </a:r>
          </a:p>
        </p:txBody>
      </p:sp>
      <p:sp>
        <p:nvSpPr>
          <p:cNvPr id="45061" name="Slide Number Placeholder 4">
            <a:extLst>
              <a:ext uri="{FF2B5EF4-FFF2-40B4-BE49-F238E27FC236}">
                <a16:creationId xmlns:a16="http://schemas.microsoft.com/office/drawing/2014/main" id="{A204E791-7B0F-B74D-9C8E-3D40DD94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630B54E-5A7F-4D4D-A32A-CFE48A1AB7C2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48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7852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E74D-C0AE-704C-9135-EE2A9756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Valoarea de întoarcere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10E3-8DB0-F24D-ACC9-2043506CE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o-RO" sz="23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30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 ()</a:t>
            </a:r>
          </a:p>
          <a:p>
            <a:pPr marL="0" indent="0">
              <a:buNone/>
            </a:pP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300">
                <a:solidFill>
                  <a:srgbClr val="008000"/>
                </a:solidFill>
                <a:latin typeface="Menlo" panose="020B0609030804020204" pitchFamily="49" charset="0"/>
              </a:rPr>
              <a:t>// do some work ...</a:t>
            </a:r>
            <a:endParaRPr lang="ro-RO" sz="23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30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 (error)</a:t>
            </a:r>
          </a:p>
          <a:p>
            <a:pPr marL="0" indent="0">
              <a:buNone/>
            </a:pP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    {</a:t>
            </a:r>
          </a:p>
          <a:p>
            <a:pPr marL="0" indent="0">
              <a:buNone/>
            </a:pP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2300">
                <a:solidFill>
                  <a:srgbClr val="008000"/>
                </a:solidFill>
                <a:latin typeface="Menlo" panose="020B0609030804020204" pitchFamily="49" charset="0"/>
              </a:rPr>
              <a:t>// exit with an error code, here -120</a:t>
            </a:r>
            <a:endParaRPr lang="ro-RO" sz="23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2300">
                <a:solidFill>
                  <a:srgbClr val="795E26"/>
                </a:solidFill>
                <a:latin typeface="Menlo" panose="020B0609030804020204" pitchFamily="49" charset="0"/>
              </a:rPr>
              <a:t>exit</a:t>
            </a: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 (-</a:t>
            </a:r>
            <a:r>
              <a:rPr lang="ro-RO" sz="2300">
                <a:solidFill>
                  <a:srgbClr val="09885A"/>
                </a:solidFill>
                <a:latin typeface="Menlo" panose="020B0609030804020204" pitchFamily="49" charset="0"/>
              </a:rPr>
              <a:t>120</a:t>
            </a: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    }</a:t>
            </a:r>
          </a:p>
          <a:p>
            <a:pPr marL="0" indent="0">
              <a:buNone/>
            </a:pP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300">
                <a:solidFill>
                  <a:srgbClr val="008000"/>
                </a:solidFill>
                <a:latin typeface="Menlo" panose="020B0609030804020204" pitchFamily="49" charset="0"/>
              </a:rPr>
              <a:t>// exit without error, success</a:t>
            </a:r>
            <a:endParaRPr lang="ro-RO" sz="23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30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3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23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E6B7A-1005-D245-ADAC-9CDAE38F9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575518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F85E8-F667-E043-88E8-0605B4585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3820A-A110-0C40-8B4F-8AF12D9BC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fd, status;</a:t>
            </a:r>
          </a:p>
          <a:p>
            <a:pPr marL="0" indent="0">
              <a:buNone/>
            </a:pPr>
            <a:r>
              <a:rPr lang="ro-RO">
                <a:solidFill>
                  <a:srgbClr val="267F99"/>
                </a:solidFill>
                <a:latin typeface="Menlo" panose="020B0609030804020204" pitchFamily="49" charset="0"/>
              </a:rPr>
              <a:t>pid_t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pid =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fork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(pid ==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child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(!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execl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"/bin/ls"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"/bin/ls"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"-l"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perror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"Error loading /bin/ls</a:t>
            </a:r>
            <a:r>
              <a:rPr lang="ro-RO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abort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();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}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(pid &gt;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parent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waitpid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(pid, &amp;status,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"/bin/ls exited with %d</a:t>
            </a:r>
            <a:r>
              <a:rPr lang="ro-RO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WEXITSTATUS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(status));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53FB3-A8AD-3B49-BF56-9238A3A7B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891336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36CFBEF1-5DED-5547-99FD-1BE4414CF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 altLang="ro-RO" dirty="0">
                <a:ea typeface="ＭＳ Ｐゴシック" panose="020B0600070205080204" pitchFamily="34" charset="-128"/>
              </a:rPr>
              <a:t>Proces orfan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8E1D9DD7-6D2A-BF4A-BA3B-1986DD907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m-CH" dirty="0"/>
              <a:t>Procesul a cărui părinte și-a terminat execuție </a:t>
            </a:r>
          </a:p>
          <a:p>
            <a:endParaRPr lang="rm-CH" dirty="0"/>
          </a:p>
          <a:p>
            <a:r>
              <a:rPr lang="rm-CH" dirty="0"/>
              <a:t>Pierde conexiunea cu ierarhia de procese</a:t>
            </a:r>
          </a:p>
          <a:p>
            <a:endParaRPr lang="rm-CH" dirty="0"/>
          </a:p>
          <a:p>
            <a:r>
              <a:rPr lang="rm-CH" dirty="0"/>
              <a:t>Este adoptat de un proces dedicat (</a:t>
            </a:r>
            <a:r>
              <a:rPr lang="rm-CH" i="1" dirty="0"/>
              <a:t>init</a:t>
            </a:r>
            <a:r>
              <a:rPr lang="rm-CH" dirty="0"/>
              <a:t> pe Unix)</a:t>
            </a:r>
            <a:endParaRPr lang="rm-CH" altLang="ro-RO" dirty="0">
              <a:ea typeface="ＭＳ Ｐゴシック" panose="020B0600070205080204" pitchFamily="34" charset="-128"/>
            </a:endParaRPr>
          </a:p>
        </p:txBody>
      </p:sp>
      <p:sp>
        <p:nvSpPr>
          <p:cNvPr id="47109" name="Slide Number Placeholder 4">
            <a:extLst>
              <a:ext uri="{FF2B5EF4-FFF2-40B4-BE49-F238E27FC236}">
                <a16:creationId xmlns:a16="http://schemas.microsoft.com/office/drawing/2014/main" id="{DDAE3C1A-A003-464C-89EC-E1DA1FB0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A3ADAF6-E519-FA4D-8A84-3CCFD5D91966}" type="slidenum">
              <a:rPr lang="rm-CH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51</a:t>
            </a:fld>
            <a:endParaRPr lang="rm-CH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179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77EEBA4C-3906-6A40-96C6-50B3B880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altLang="ro-RO" dirty="0">
                <a:ea typeface="ＭＳ Ｐゴシック" panose="020B0600070205080204" pitchFamily="34" charset="-128"/>
              </a:rPr>
              <a:t>Proces </a:t>
            </a:r>
            <a:r>
              <a:rPr lang="ro-RO" altLang="ro-RO" dirty="0" err="1">
                <a:ea typeface="ＭＳ Ｐゴシック" panose="020B0600070205080204" pitchFamily="34" charset="-128"/>
              </a:rPr>
              <a:t>zombie</a:t>
            </a:r>
            <a:endParaRPr lang="ro-RO" altLang="ro-RO" dirty="0">
              <a:ea typeface="ＭＳ Ｐゴシック" panose="020B0600070205080204" pitchFamily="34" charset="-128"/>
            </a:endParaRP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C1E48FC9-9D8C-9F4C-BC5A-46D119039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/>
              <a:t>Un proces care și-a încheiat execuția dar după care nu așteaptă părintele </a:t>
            </a:r>
          </a:p>
          <a:p>
            <a:pPr lvl="1"/>
            <a:r>
              <a:rPr lang="ro-RO" dirty="0"/>
              <a:t>Sunt păstrate informații reziduale (ele ar </a:t>
            </a:r>
            <a:r>
              <a:rPr lang="ro-RO" dirty="0" err="1"/>
              <a:t>purea</a:t>
            </a:r>
            <a:r>
              <a:rPr lang="ro-RO" dirty="0"/>
              <a:t> fi utilizate la un moment dat de părinte) </a:t>
            </a:r>
          </a:p>
          <a:p>
            <a:endParaRPr lang="ro-RO" dirty="0"/>
          </a:p>
          <a:p>
            <a:r>
              <a:rPr lang="ro-RO" dirty="0"/>
              <a:t>Dacă un proces </a:t>
            </a:r>
            <a:r>
              <a:rPr lang="ro-RO" dirty="0" err="1"/>
              <a:t>zombie</a:t>
            </a:r>
            <a:r>
              <a:rPr lang="ro-RO" dirty="0"/>
              <a:t> devine orfan, este adoptat de </a:t>
            </a:r>
            <a:r>
              <a:rPr lang="ro-RO" i="1" dirty="0" err="1"/>
              <a:t>init</a:t>
            </a:r>
            <a:r>
              <a:rPr lang="ro-RO" dirty="0"/>
              <a:t> care ia datele de la el </a:t>
            </a:r>
          </a:p>
          <a:p>
            <a:endParaRPr lang="ro-RO" dirty="0"/>
          </a:p>
          <a:p>
            <a:r>
              <a:rPr lang="ro-RO" dirty="0">
                <a:solidFill>
                  <a:srgbClr val="FF0000"/>
                </a:solidFill>
              </a:rPr>
              <a:t>Procesele care sunt </a:t>
            </a:r>
            <a:r>
              <a:rPr lang="ro-RO" dirty="0" err="1">
                <a:solidFill>
                  <a:srgbClr val="FF0000"/>
                </a:solidFill>
              </a:rPr>
              <a:t>zombie</a:t>
            </a:r>
            <a:r>
              <a:rPr lang="ro-RO" dirty="0">
                <a:solidFill>
                  <a:srgbClr val="FF0000"/>
                </a:solidFill>
              </a:rPr>
              <a:t> mult timp ocupă resurse (degeaba) pe sistem</a:t>
            </a:r>
            <a:endParaRPr lang="ro-RO" altLang="ro-RO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8133" name="Slide Number Placeholder 4">
            <a:extLst>
              <a:ext uri="{FF2B5EF4-FFF2-40B4-BE49-F238E27FC236}">
                <a16:creationId xmlns:a16="http://schemas.microsoft.com/office/drawing/2014/main" id="{32F4CBDC-6A1D-1746-A436-D89D775F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A36EC4A-5E33-A145-B328-733911A39AAA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52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8465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6E00293D-D758-8F4D-BEFB-5259D6B5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>
                <a:ea typeface="ＭＳ Ｐゴシック" panose="020B0600070205080204" pitchFamily="34" charset="-128"/>
              </a:rPr>
              <a:t>Operatorul </a:t>
            </a:r>
            <a:r>
              <a:rPr lang="ro-RO" altLang="ro-RO" dirty="0" err="1">
                <a:ea typeface="ＭＳ Ｐゴシック" panose="020B0600070205080204" pitchFamily="34" charset="-128"/>
              </a:rPr>
              <a:t>shell</a:t>
            </a:r>
            <a:r>
              <a:rPr lang="ro-RO" altLang="ro-RO" dirty="0">
                <a:ea typeface="ＭＳ Ｐゴシック" panose="020B0600070205080204" pitchFamily="34" charset="-128"/>
              </a:rPr>
              <a:t> &amp;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6F96E5AA-BD58-4A46-9582-A47A17A98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În general, </a:t>
            </a:r>
            <a:r>
              <a:rPr lang="ro-RO" dirty="0" err="1"/>
              <a:t>shell-ul</a:t>
            </a:r>
            <a:r>
              <a:rPr lang="ro-RO" dirty="0"/>
              <a:t> așteaptă după copii</a:t>
            </a:r>
          </a:p>
          <a:p>
            <a:r>
              <a:rPr lang="ro-RO" dirty="0"/>
              <a:t>Operatorul &amp;: </a:t>
            </a:r>
            <a:r>
              <a:rPr lang="ro-RO" dirty="0" err="1"/>
              <a:t>shell-ul</a:t>
            </a:r>
            <a:r>
              <a:rPr lang="ro-RO" dirty="0"/>
              <a:t> nu așteaptă după copii</a:t>
            </a:r>
          </a:p>
          <a:p>
            <a:pPr lvl="1"/>
            <a:r>
              <a:rPr lang="ro-RO" dirty="0" err="1"/>
              <a:t>Prodesul</a:t>
            </a:r>
            <a:r>
              <a:rPr lang="ro-RO" dirty="0"/>
              <a:t> se execută în background</a:t>
            </a:r>
          </a:p>
          <a:p>
            <a:pPr lvl="1"/>
            <a:r>
              <a:rPr lang="ro-RO" dirty="0" err="1"/>
              <a:t>Shell-ul</a:t>
            </a:r>
            <a:r>
              <a:rPr lang="ro-RO" dirty="0"/>
              <a:t> controlează </a:t>
            </a:r>
            <a:r>
              <a:rPr lang="ro-RO" dirty="0" err="1"/>
              <a:t>stdin</a:t>
            </a:r>
            <a:r>
              <a:rPr lang="ro-RO" dirty="0"/>
              <a:t> </a:t>
            </a:r>
          </a:p>
        </p:txBody>
      </p:sp>
      <p:sp>
        <p:nvSpPr>
          <p:cNvPr id="46085" name="Slide Number Placeholder 4">
            <a:extLst>
              <a:ext uri="{FF2B5EF4-FFF2-40B4-BE49-F238E27FC236}">
                <a16:creationId xmlns:a16="http://schemas.microsoft.com/office/drawing/2014/main" id="{0FAC6EF2-2735-5045-841C-98C72347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3443E33-E58E-1247-8940-D03194A932E9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53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8129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069202BB-438A-D143-9D35-07A912563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>
                <a:ea typeface="ＭＳ Ｐゴシック" panose="020B0600070205080204" pitchFamily="34" charset="-128"/>
              </a:rPr>
              <a:t>Exemplu</a:t>
            </a:r>
          </a:p>
        </p:txBody>
      </p:sp>
      <p:sp>
        <p:nvSpPr>
          <p:cNvPr id="39940" name="Slide Number Placeholder 4">
            <a:extLst>
              <a:ext uri="{FF2B5EF4-FFF2-40B4-BE49-F238E27FC236}">
                <a16:creationId xmlns:a16="http://schemas.microsoft.com/office/drawing/2014/main" id="{8B470911-0722-744F-A951-A3290B8B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1E6065E-14B1-2648-AEAF-259951EE36E7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54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95EB2FB-ABAF-7244-9283-2D04637524FF}"/>
              </a:ext>
            </a:extLst>
          </p:cNvPr>
          <p:cNvSpPr/>
          <p:nvPr/>
        </p:nvSpPr>
        <p:spPr>
          <a:xfrm>
            <a:off x="2819400" y="1600200"/>
            <a:ext cx="762000" cy="76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  <p:sp>
        <p:nvSpPr>
          <p:cNvPr id="39942" name="TextBox 6">
            <a:extLst>
              <a:ext uri="{FF2B5EF4-FFF2-40B4-BE49-F238E27FC236}">
                <a16:creationId xmlns:a16="http://schemas.microsoft.com/office/drawing/2014/main" id="{76D53ED3-1817-7947-987A-BEC5EC281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763713"/>
            <a:ext cx="617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shell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sp>
        <p:nvSpPr>
          <p:cNvPr id="39943" name="TextBox 7">
            <a:extLst>
              <a:ext uri="{FF2B5EF4-FFF2-40B4-BE49-F238E27FC236}">
                <a16:creationId xmlns:a16="http://schemas.microsoft.com/office/drawing/2014/main" id="{498F9B73-218D-2244-AAE6-616ED41EA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295400"/>
            <a:ext cx="806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parent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C1E4F4-04FE-B943-9BD8-7D9DCA70F2BE}"/>
              </a:ext>
            </a:extLst>
          </p:cNvPr>
          <p:cNvSpPr/>
          <p:nvPr/>
        </p:nvSpPr>
        <p:spPr>
          <a:xfrm>
            <a:off x="4876800" y="2667000"/>
            <a:ext cx="762000" cy="76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  <p:sp>
        <p:nvSpPr>
          <p:cNvPr id="39945" name="TextBox 9">
            <a:extLst>
              <a:ext uri="{FF2B5EF4-FFF2-40B4-BE49-F238E27FC236}">
                <a16:creationId xmlns:a16="http://schemas.microsoft.com/office/drawing/2014/main" id="{70463DD4-533D-A049-AB44-C5FBE4105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830513"/>
            <a:ext cx="617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shell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sp>
        <p:nvSpPr>
          <p:cNvPr id="39946" name="TextBox 10">
            <a:extLst>
              <a:ext uri="{FF2B5EF4-FFF2-40B4-BE49-F238E27FC236}">
                <a16:creationId xmlns:a16="http://schemas.microsoft.com/office/drawing/2014/main" id="{C1464054-45E2-FC4D-AB01-69A1EBBE0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362200"/>
            <a:ext cx="63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child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37BE5F-5569-204C-B96A-E470258D0FB4}"/>
              </a:ext>
            </a:extLst>
          </p:cNvPr>
          <p:cNvCxnSpPr>
            <a:stCxn id="6" idx="5"/>
            <a:endCxn id="9" idx="1"/>
          </p:cNvCxnSpPr>
          <p:nvPr/>
        </p:nvCxnSpPr>
        <p:spPr>
          <a:xfrm rot="16200000" flipH="1">
            <a:off x="3965575" y="1755775"/>
            <a:ext cx="527050" cy="1517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8" name="TextBox 13">
            <a:extLst>
              <a:ext uri="{FF2B5EF4-FFF2-40B4-BE49-F238E27FC236}">
                <a16:creationId xmlns:a16="http://schemas.microsoft.com/office/drawing/2014/main" id="{4F8739DD-49E8-D74D-B0E4-5D123E409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590800"/>
            <a:ext cx="69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fork</a:t>
            </a:r>
            <a:r>
              <a:rPr lang="ro-RO" altLang="ro-RO" dirty="0">
                <a:latin typeface="Calibri" panose="020F0502020204030204" pitchFamily="34" charset="0"/>
              </a:rPr>
              <a:t>()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AE79790-5B4A-E640-9AF7-66601CC33D4E}"/>
              </a:ext>
            </a:extLst>
          </p:cNvPr>
          <p:cNvSpPr/>
          <p:nvPr/>
        </p:nvSpPr>
        <p:spPr>
          <a:xfrm>
            <a:off x="4884738" y="4267200"/>
            <a:ext cx="762000" cy="76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  <p:sp>
        <p:nvSpPr>
          <p:cNvPr id="39950" name="TextBox 16">
            <a:extLst>
              <a:ext uri="{FF2B5EF4-FFF2-40B4-BE49-F238E27FC236}">
                <a16:creationId xmlns:a16="http://schemas.microsoft.com/office/drawing/2014/main" id="{9703DCE6-2BAD-734B-838D-157B8FA9F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038600"/>
            <a:ext cx="63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child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9D8E65F-856B-F645-8FD2-3AFC7D4F4F5C}"/>
              </a:ext>
            </a:extLst>
          </p:cNvPr>
          <p:cNvCxnSpPr>
            <a:stCxn id="9" idx="4"/>
            <a:endCxn id="15" idx="0"/>
          </p:cNvCxnSpPr>
          <p:nvPr/>
        </p:nvCxnSpPr>
        <p:spPr>
          <a:xfrm rot="16200000" flipH="1">
            <a:off x="4842669" y="3844131"/>
            <a:ext cx="838200" cy="79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52" name="TextBox 20">
            <a:extLst>
              <a:ext uri="{FF2B5EF4-FFF2-40B4-BE49-F238E27FC236}">
                <a16:creationId xmlns:a16="http://schemas.microsoft.com/office/drawing/2014/main" id="{C08622AF-209C-404C-B025-16E4B774F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581400"/>
            <a:ext cx="1552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exec</a:t>
            </a:r>
            <a:r>
              <a:rPr lang="ro-RO" altLang="ro-RO" dirty="0">
                <a:latin typeface="Calibri" panose="020F0502020204030204" pitchFamily="34" charset="0"/>
              </a:rPr>
              <a:t>(</a:t>
            </a:r>
            <a:r>
              <a:rPr lang="ro-RO" altLang="en-US" dirty="0">
                <a:latin typeface="Calibri" panose="020F0502020204030204" pitchFamily="34" charset="0"/>
              </a:rPr>
              <a:t>“</a:t>
            </a:r>
            <a:r>
              <a:rPr lang="ro-RO" altLang="ro-RO" dirty="0">
                <a:latin typeface="Calibri" panose="020F0502020204030204" pitchFamily="34" charset="0"/>
              </a:rPr>
              <a:t>/</a:t>
            </a:r>
            <a:r>
              <a:rPr lang="ro-RO" altLang="ro-RO" dirty="0" err="1">
                <a:latin typeface="Calibri" panose="020F0502020204030204" pitchFamily="34" charset="0"/>
              </a:rPr>
              <a:t>bin</a:t>
            </a:r>
            <a:r>
              <a:rPr lang="ro-RO" altLang="ro-RO" dirty="0">
                <a:latin typeface="Calibri" panose="020F0502020204030204" pitchFamily="34" charset="0"/>
              </a:rPr>
              <a:t>/</a:t>
            </a:r>
            <a:r>
              <a:rPr lang="ro-RO" altLang="ro-RO" dirty="0" err="1">
                <a:latin typeface="Calibri" panose="020F0502020204030204" pitchFamily="34" charset="0"/>
              </a:rPr>
              <a:t>ls</a:t>
            </a:r>
            <a:r>
              <a:rPr lang="ro-RO" altLang="en-US" dirty="0">
                <a:latin typeface="Calibri" panose="020F0502020204030204" pitchFamily="34" charset="0"/>
              </a:rPr>
              <a:t>”</a:t>
            </a:r>
            <a:r>
              <a:rPr lang="ro-RO" altLang="ro-RO" dirty="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39953" name="TextBox 21">
            <a:extLst>
              <a:ext uri="{FF2B5EF4-FFF2-40B4-BE49-F238E27FC236}">
                <a16:creationId xmlns:a16="http://schemas.microsoft.com/office/drawing/2014/main" id="{9B955F10-F435-3140-AD5C-52E1300A7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419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ro-RO" altLang="ro-RO" dirty="0" err="1">
                <a:latin typeface="Calibri" panose="020F0502020204030204" pitchFamily="34" charset="0"/>
              </a:rPr>
              <a:t>ls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A57AF5-41B5-074A-9126-02AC7B12F82A}"/>
              </a:ext>
            </a:extLst>
          </p:cNvPr>
          <p:cNvSpPr/>
          <p:nvPr/>
        </p:nvSpPr>
        <p:spPr>
          <a:xfrm>
            <a:off x="2805113" y="5105400"/>
            <a:ext cx="762000" cy="76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o-RO" dirty="0"/>
          </a:p>
        </p:txBody>
      </p:sp>
      <p:sp>
        <p:nvSpPr>
          <p:cNvPr id="39955" name="TextBox 23">
            <a:extLst>
              <a:ext uri="{FF2B5EF4-FFF2-40B4-BE49-F238E27FC236}">
                <a16:creationId xmlns:a16="http://schemas.microsoft.com/office/drawing/2014/main" id="{5FC27992-AEAE-004A-BBE8-14B2CE066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1313" y="5268913"/>
            <a:ext cx="6175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shell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sp>
        <p:nvSpPr>
          <p:cNvPr id="39956" name="TextBox 24">
            <a:extLst>
              <a:ext uri="{FF2B5EF4-FFF2-40B4-BE49-F238E27FC236}">
                <a16:creationId xmlns:a16="http://schemas.microsoft.com/office/drawing/2014/main" id="{A72DC7FB-0220-1A43-B246-F49EF5350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876800"/>
            <a:ext cx="806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ro-RO" altLang="ro-RO" dirty="0" err="1">
                <a:latin typeface="Calibri" panose="020F0502020204030204" pitchFamily="34" charset="0"/>
              </a:rPr>
              <a:t>parent</a:t>
            </a:r>
            <a:endParaRPr lang="ro-RO" altLang="ro-RO" dirty="0">
              <a:latin typeface="Calibri" panose="020F050202020403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A4332A4-A200-7E4C-A93D-ACA0F2B3A312}"/>
              </a:ext>
            </a:extLst>
          </p:cNvPr>
          <p:cNvCxnSpPr>
            <a:stCxn id="6" idx="4"/>
            <a:endCxn id="23" idx="0"/>
          </p:cNvCxnSpPr>
          <p:nvPr/>
        </p:nvCxnSpPr>
        <p:spPr>
          <a:xfrm rot="5400000">
            <a:off x="1821657" y="3726656"/>
            <a:ext cx="2743200" cy="14287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6127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6B73-C1D8-6E4E-960E-A5F8AEE1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Cuvinte cheie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9A09-3FE2-C24B-BBE4-875AD97C24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m-CH"/>
              <a:t>Proces</a:t>
            </a:r>
          </a:p>
          <a:p>
            <a:r>
              <a:rPr lang="rm-CH"/>
              <a:t>Multitasking</a:t>
            </a:r>
          </a:p>
          <a:p>
            <a:r>
              <a:rPr lang="rm-CH"/>
              <a:t>stare</a:t>
            </a:r>
          </a:p>
          <a:p>
            <a:r>
              <a:rPr lang="rm-CH"/>
              <a:t>NEW</a:t>
            </a:r>
          </a:p>
          <a:p>
            <a:r>
              <a:rPr lang="rm-CH"/>
              <a:t>RUNNING</a:t>
            </a:r>
          </a:p>
          <a:p>
            <a:r>
              <a:rPr lang="rm-CH"/>
              <a:t>READY</a:t>
            </a:r>
          </a:p>
          <a:p>
            <a:r>
              <a:rPr lang="rm-CH"/>
              <a:t>WAITING</a:t>
            </a:r>
          </a:p>
          <a:p>
            <a:r>
              <a:rPr lang="rm-CH"/>
              <a:t>TERMINATE</a:t>
            </a:r>
          </a:p>
          <a:p>
            <a:r>
              <a:rPr lang="rm-CH"/>
              <a:t>Init</a:t>
            </a:r>
          </a:p>
          <a:p>
            <a:r>
              <a:rPr lang="rm-CH"/>
              <a:t>adoptare</a:t>
            </a:r>
          </a:p>
          <a:p>
            <a:endParaRPr lang="rm-CH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EF27B-A32E-9D4E-80A0-865F8996C9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m-CH"/>
              <a:t>CreateProcess</a:t>
            </a:r>
          </a:p>
          <a:p>
            <a:r>
              <a:rPr lang="rm-CH"/>
              <a:t>fork</a:t>
            </a:r>
          </a:p>
          <a:p>
            <a:r>
              <a:rPr lang="rm-CH"/>
              <a:t>exec</a:t>
            </a:r>
          </a:p>
          <a:p>
            <a:r>
              <a:rPr lang="rm-CH"/>
              <a:t>exit</a:t>
            </a:r>
          </a:p>
          <a:p>
            <a:r>
              <a:rPr lang="rm-CH"/>
              <a:t>wait</a:t>
            </a:r>
          </a:p>
          <a:p>
            <a:r>
              <a:rPr lang="rm-CH"/>
              <a:t>valoarea de întoarcere</a:t>
            </a:r>
          </a:p>
          <a:p>
            <a:r>
              <a:rPr lang="rm-CH"/>
              <a:t>proces orphelin</a:t>
            </a:r>
          </a:p>
          <a:p>
            <a:r>
              <a:rPr lang="rm-CH"/>
              <a:t>proces zombie</a:t>
            </a:r>
          </a:p>
          <a:p>
            <a:r>
              <a:rPr lang="rm-CH"/>
              <a:t>proces en background </a:t>
            </a:r>
          </a:p>
          <a:p>
            <a:endParaRPr lang="rm-CH"/>
          </a:p>
          <a:p>
            <a:endParaRPr lang="rm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111B-0DD8-2549-A040-29FA546D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55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42125371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Întrebări</a:t>
            </a:r>
          </a:p>
        </p:txBody>
      </p:sp>
      <p:pic>
        <p:nvPicPr>
          <p:cNvPr id="6" name="Content Placeholder 5" descr="questionMarkIcon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834384" y="3134709"/>
            <a:ext cx="1475232" cy="145694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17490-7D10-5848-8514-BF8A22DF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94071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13761</TotalTime>
  <Words>2056</Words>
  <Application>Microsoft Macintosh PowerPoint</Application>
  <PresentationFormat>On-screen Show (4:3)</PresentationFormat>
  <Paragraphs>450</Paragraphs>
  <Slides>56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Arial</vt:lpstr>
      <vt:lpstr>Calibri</vt:lpstr>
      <vt:lpstr>Menlo</vt:lpstr>
      <vt:lpstr>Office Theme</vt:lpstr>
      <vt:lpstr>Sisteme de operare</vt:lpstr>
      <vt:lpstr>Cuprins</vt:lpstr>
      <vt:lpstr>Bibliografie</vt:lpstr>
      <vt:lpstr>Proces</vt:lpstr>
      <vt:lpstr>Proces</vt:lpstr>
      <vt:lpstr>Ce este un proces?</vt:lpstr>
      <vt:lpstr>PowerPoint Presentation</vt:lpstr>
      <vt:lpstr>API pentru procese</vt:lpstr>
      <vt:lpstr>Procesor</vt:lpstr>
      <vt:lpstr>Procesor</vt:lpstr>
      <vt:lpstr>Memorie</vt:lpstr>
      <vt:lpstr>Spațiul de adrese (virtual)</vt:lpstr>
      <vt:lpstr>Spațiul de adrese (virtual)</vt:lpstr>
      <vt:lpstr>I/O</vt:lpstr>
      <vt:lpstr>Tabelul de descriptori de fișiere</vt:lpstr>
      <vt:lpstr>Tipuri de procese (CPU)</vt:lpstr>
      <vt:lpstr>Tipuri de procese (Utilizator) </vt:lpstr>
      <vt:lpstr>Atributele unui Proces</vt:lpstr>
      <vt:lpstr>Procesul în SO</vt:lpstr>
      <vt:lpstr>Resurse</vt:lpstr>
      <vt:lpstr>Atributele unui proces</vt:lpstr>
      <vt:lpstr>Stările proceselor</vt:lpstr>
      <vt:lpstr>Crearea unui Proces</vt:lpstr>
      <vt:lpstr>Proces nou</vt:lpstr>
      <vt:lpstr>Ierarhia de procese</vt:lpstr>
      <vt:lpstr>Pornirea sistemului - UNIX</vt:lpstr>
      <vt:lpstr>Pornirea sistemului - Windows</vt:lpstr>
      <vt:lpstr>Spațiul de adresare (virtual)</vt:lpstr>
      <vt:lpstr>Proces nou - Windows</vt:lpstr>
      <vt:lpstr>Proces nou - UNIX</vt:lpstr>
      <vt:lpstr>fork</vt:lpstr>
      <vt:lpstr>fork bomb</vt:lpstr>
      <vt:lpstr>fork bomb</vt:lpstr>
      <vt:lpstr>Proes nou - UNIX - fork</vt:lpstr>
      <vt:lpstr>exec</vt:lpstr>
      <vt:lpstr>Proces nou - UNIX - exec</vt:lpstr>
      <vt:lpstr>Proces nou - UNIX - exec</vt:lpstr>
      <vt:lpstr>Exemplu</vt:lpstr>
      <vt:lpstr>Exemplu</vt:lpstr>
      <vt:lpstr>Exemplu</vt:lpstr>
      <vt:lpstr>Exemplu</vt:lpstr>
      <vt:lpstr>fork, exec și redirectări</vt:lpstr>
      <vt:lpstr>Închiderea unui proces</vt:lpstr>
      <vt:lpstr>Închiderea unui proces</vt:lpstr>
      <vt:lpstr>Terminarea execuției unui proces</vt:lpstr>
      <vt:lpstr>Închis de SO</vt:lpstr>
      <vt:lpstr>Ștergerea procesului</vt:lpstr>
      <vt:lpstr>Așteptarea unui process</vt:lpstr>
      <vt:lpstr>Valoarea de întoarcere</vt:lpstr>
      <vt:lpstr>Exemplu</vt:lpstr>
      <vt:lpstr>Proces orfan</vt:lpstr>
      <vt:lpstr>Proces zombie</vt:lpstr>
      <vt:lpstr>Operatorul shell &amp;</vt:lpstr>
      <vt:lpstr>Exemplu</vt:lpstr>
      <vt:lpstr>Cuvinte cheie</vt:lpstr>
      <vt:lpstr>Întrebări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Alex</dc:creator>
  <cp:lastModifiedBy>Alexandru Radovici</cp:lastModifiedBy>
  <cp:revision>1182</cp:revision>
  <dcterms:created xsi:type="dcterms:W3CDTF">2010-02-23T11:53:40Z</dcterms:created>
  <dcterms:modified xsi:type="dcterms:W3CDTF">2020-03-22T21:30:40Z</dcterms:modified>
</cp:coreProperties>
</file>