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256" r:id="rId2"/>
    <p:sldId id="487" r:id="rId3"/>
    <p:sldId id="272" r:id="rId4"/>
    <p:sldId id="270" r:id="rId5"/>
    <p:sldId id="332" r:id="rId6"/>
    <p:sldId id="276" r:id="rId7"/>
    <p:sldId id="260" r:id="rId8"/>
    <p:sldId id="261" r:id="rId9"/>
    <p:sldId id="265" r:id="rId10"/>
    <p:sldId id="488" r:id="rId11"/>
    <p:sldId id="489" r:id="rId12"/>
    <p:sldId id="274" r:id="rId13"/>
    <p:sldId id="462" r:id="rId14"/>
    <p:sldId id="468" r:id="rId15"/>
    <p:sldId id="403" r:id="rId16"/>
    <p:sldId id="466" r:id="rId17"/>
    <p:sldId id="471" r:id="rId18"/>
    <p:sldId id="278" r:id="rId19"/>
    <p:sldId id="279" r:id="rId20"/>
    <p:sldId id="490" r:id="rId21"/>
    <p:sldId id="280" r:id="rId22"/>
    <p:sldId id="477" r:id="rId23"/>
    <p:sldId id="283" r:id="rId24"/>
    <p:sldId id="284" r:id="rId25"/>
    <p:sldId id="287" r:id="rId26"/>
    <p:sldId id="285" r:id="rId27"/>
    <p:sldId id="314" r:id="rId28"/>
    <p:sldId id="286" r:id="rId29"/>
    <p:sldId id="47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9" r:id="rId40"/>
    <p:sldId id="479" r:id="rId41"/>
    <p:sldId id="301" r:id="rId42"/>
    <p:sldId id="302" r:id="rId43"/>
    <p:sldId id="303" r:id="rId44"/>
    <p:sldId id="304" r:id="rId45"/>
    <p:sldId id="305" r:id="rId46"/>
    <p:sldId id="306" r:id="rId47"/>
    <p:sldId id="480" r:id="rId48"/>
    <p:sldId id="481" r:id="rId49"/>
    <p:sldId id="484" r:id="rId50"/>
    <p:sldId id="493" r:id="rId51"/>
    <p:sldId id="491" r:id="rId52"/>
    <p:sldId id="492" r:id="rId53"/>
    <p:sldId id="308" r:id="rId54"/>
    <p:sldId id="309" r:id="rId55"/>
    <p:sldId id="310" r:id="rId56"/>
    <p:sldId id="267" r:id="rId5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14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34" autoAdjust="0"/>
    <p:restoredTop sz="85087" autoAdjust="0"/>
  </p:normalViewPr>
  <p:slideViewPr>
    <p:cSldViewPr>
      <p:cViewPr varScale="1">
        <p:scale>
          <a:sx n="110" d="100"/>
          <a:sy n="110" d="100"/>
        </p:scale>
        <p:origin x="200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85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418"/>
    </p:cViewPr>
  </p:sorterViewPr>
  <p:notesViewPr>
    <p:cSldViewPr>
      <p:cViewPr varScale="1">
        <p:scale>
          <a:sx n="69" d="100"/>
          <a:sy n="69" d="100"/>
        </p:scale>
        <p:origin x="-279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C35CD5-560F-0145-9BE1-10B369988B1F}" type="doc">
      <dgm:prSet loTypeId="urn:microsoft.com/office/officeart/2005/8/layout/vProcess5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4ABA1A-4FD7-8C4D-AD77-9783625D17DE}">
      <dgm:prSet phldrT="[Text]"/>
      <dgm:spPr/>
      <dgm:t>
        <a:bodyPr/>
        <a:lstStyle/>
        <a:p>
          <a:r>
            <a:rPr lang="en-US" dirty="0"/>
            <a:t>Machine Boot</a:t>
          </a:r>
        </a:p>
      </dgm:t>
    </dgm:pt>
    <dgm:pt modelId="{85E4A6DB-E1E5-EB46-A093-63F180B593E8}" type="parTrans" cxnId="{6EBC9E3C-7327-C045-BE58-3F26715EED99}">
      <dgm:prSet/>
      <dgm:spPr/>
      <dgm:t>
        <a:bodyPr/>
        <a:lstStyle/>
        <a:p>
          <a:endParaRPr lang="en-US"/>
        </a:p>
      </dgm:t>
    </dgm:pt>
    <dgm:pt modelId="{D60BB556-BF55-1146-AE35-0A7EFE663AEC}" type="sibTrans" cxnId="{6EBC9E3C-7327-C045-BE58-3F26715EED99}">
      <dgm:prSet/>
      <dgm:spPr/>
      <dgm:t>
        <a:bodyPr/>
        <a:lstStyle/>
        <a:p>
          <a:endParaRPr lang="en-US"/>
        </a:p>
      </dgm:t>
    </dgm:pt>
    <dgm:pt modelId="{19C4D74F-B7D0-DC4C-9DD7-BBB963EF89DA}">
      <dgm:prSet phldrT="[Text]"/>
      <dgm:spPr/>
      <dgm:t>
        <a:bodyPr/>
        <a:lstStyle/>
        <a:p>
          <a:r>
            <a:rPr lang="en-US" dirty="0"/>
            <a:t>x86: BIOS / UEFI</a:t>
          </a:r>
        </a:p>
      </dgm:t>
    </dgm:pt>
    <dgm:pt modelId="{50197A1E-4177-8E43-8C2C-B6A1AB690997}" type="parTrans" cxnId="{3CCFE7E1-D74D-024B-9C2C-BB69EDD72E13}">
      <dgm:prSet/>
      <dgm:spPr/>
      <dgm:t>
        <a:bodyPr/>
        <a:lstStyle/>
        <a:p>
          <a:endParaRPr lang="en-US"/>
        </a:p>
      </dgm:t>
    </dgm:pt>
    <dgm:pt modelId="{A7F5D381-07C0-914E-ACB6-FB3688E5301C}" type="sibTrans" cxnId="{3CCFE7E1-D74D-024B-9C2C-BB69EDD72E13}">
      <dgm:prSet/>
      <dgm:spPr/>
      <dgm:t>
        <a:bodyPr/>
        <a:lstStyle/>
        <a:p>
          <a:endParaRPr lang="en-US"/>
        </a:p>
      </dgm:t>
    </dgm:pt>
    <dgm:pt modelId="{092AA4ED-4280-EF40-928E-7350D6D25570}">
      <dgm:prSet phldrT="[Text]"/>
      <dgm:spPr/>
      <dgm:t>
        <a:bodyPr/>
        <a:lstStyle/>
        <a:p>
          <a:r>
            <a:rPr lang="en-US" dirty="0"/>
            <a:t>ARM: </a:t>
          </a:r>
          <a:r>
            <a:rPr lang="en-US" dirty="0" err="1"/>
            <a:t>Adresa</a:t>
          </a:r>
          <a:r>
            <a:rPr lang="en-US" dirty="0"/>
            <a:t> de start</a:t>
          </a:r>
        </a:p>
      </dgm:t>
    </dgm:pt>
    <dgm:pt modelId="{5586C08C-ED70-8A4F-8CCC-AC93C885D7B6}" type="parTrans" cxnId="{02245E7F-5201-F74A-9868-7F2BF62EE56E}">
      <dgm:prSet/>
      <dgm:spPr/>
      <dgm:t>
        <a:bodyPr/>
        <a:lstStyle/>
        <a:p>
          <a:endParaRPr lang="en-US"/>
        </a:p>
      </dgm:t>
    </dgm:pt>
    <dgm:pt modelId="{C87892DF-141A-0543-9EA6-A27F357FF800}" type="sibTrans" cxnId="{02245E7F-5201-F74A-9868-7F2BF62EE56E}">
      <dgm:prSet/>
      <dgm:spPr/>
      <dgm:t>
        <a:bodyPr/>
        <a:lstStyle/>
        <a:p>
          <a:endParaRPr lang="en-US"/>
        </a:p>
      </dgm:t>
    </dgm:pt>
    <dgm:pt modelId="{D3453CED-E526-8F4D-B7D6-6BE1C7714813}">
      <dgm:prSet phldrT="[Text]"/>
      <dgm:spPr/>
      <dgm:t>
        <a:bodyPr/>
        <a:lstStyle/>
        <a:p>
          <a:r>
            <a:rPr lang="en-US" dirty="0"/>
            <a:t>Bootloader</a:t>
          </a:r>
        </a:p>
      </dgm:t>
    </dgm:pt>
    <dgm:pt modelId="{AC0B8E77-1A79-6847-8E64-7CCC84FE5466}" type="parTrans" cxnId="{4D3453E2-E3A5-094A-9445-6BCE857D8A03}">
      <dgm:prSet/>
      <dgm:spPr/>
      <dgm:t>
        <a:bodyPr/>
        <a:lstStyle/>
        <a:p>
          <a:endParaRPr lang="en-US"/>
        </a:p>
      </dgm:t>
    </dgm:pt>
    <dgm:pt modelId="{F45CB4B4-D562-784E-811B-0EC73F3492EB}" type="sibTrans" cxnId="{4D3453E2-E3A5-094A-9445-6BCE857D8A03}">
      <dgm:prSet/>
      <dgm:spPr/>
      <dgm:t>
        <a:bodyPr/>
        <a:lstStyle/>
        <a:p>
          <a:endParaRPr lang="en-US"/>
        </a:p>
      </dgm:t>
    </dgm:pt>
    <dgm:pt modelId="{16C998B8-E9EA-6443-A69B-0CAB6971BA00}">
      <dgm:prSet phldrT="[Text]"/>
      <dgm:spPr/>
      <dgm:t>
        <a:bodyPr/>
        <a:lstStyle/>
        <a:p>
          <a:r>
            <a:rPr lang="en-US" dirty="0"/>
            <a:t>x86: </a:t>
          </a:r>
          <a:r>
            <a:rPr lang="en-US" dirty="0" err="1"/>
            <a:t>Lilo</a:t>
          </a:r>
          <a:r>
            <a:rPr lang="en-US" dirty="0"/>
            <a:t>, GRUB2, </a:t>
          </a:r>
          <a:r>
            <a:rPr lang="en-US" dirty="0" err="1"/>
            <a:t>Syslinux</a:t>
          </a:r>
          <a:r>
            <a:rPr lang="en-US" dirty="0"/>
            <a:t>, NLDR, Windows Boot Manager</a:t>
          </a:r>
        </a:p>
      </dgm:t>
    </dgm:pt>
    <dgm:pt modelId="{61DD0FCA-2B4C-1846-B0D2-B9DD6DD68D0D}" type="parTrans" cxnId="{EB6D1318-657C-9C4E-80E4-93134B6C6BF6}">
      <dgm:prSet/>
      <dgm:spPr/>
      <dgm:t>
        <a:bodyPr/>
        <a:lstStyle/>
        <a:p>
          <a:endParaRPr lang="en-US"/>
        </a:p>
      </dgm:t>
    </dgm:pt>
    <dgm:pt modelId="{141168DE-B832-E340-8DE7-EC9035823105}" type="sibTrans" cxnId="{EB6D1318-657C-9C4E-80E4-93134B6C6BF6}">
      <dgm:prSet/>
      <dgm:spPr/>
      <dgm:t>
        <a:bodyPr/>
        <a:lstStyle/>
        <a:p>
          <a:endParaRPr lang="en-US"/>
        </a:p>
      </dgm:t>
    </dgm:pt>
    <dgm:pt modelId="{A2AD9064-E6A3-4A40-84E6-724B8DBE2BAC}">
      <dgm:prSet phldrT="[Text]"/>
      <dgm:spPr/>
      <dgm:t>
        <a:bodyPr/>
        <a:lstStyle/>
        <a:p>
          <a:r>
            <a:rPr lang="en-US" dirty="0"/>
            <a:t>ARM: U-Boot, </a:t>
          </a:r>
          <a:r>
            <a:rPr lang="en-US" dirty="0" err="1"/>
            <a:t>Barebox</a:t>
          </a:r>
          <a:endParaRPr lang="en-US" dirty="0"/>
        </a:p>
      </dgm:t>
    </dgm:pt>
    <dgm:pt modelId="{94706030-FAAB-8642-9666-10BDCEDD3C5C}" type="parTrans" cxnId="{2A3F553B-1A1A-B949-9201-ECF164C9C828}">
      <dgm:prSet/>
      <dgm:spPr/>
      <dgm:t>
        <a:bodyPr/>
        <a:lstStyle/>
        <a:p>
          <a:endParaRPr lang="en-US"/>
        </a:p>
      </dgm:t>
    </dgm:pt>
    <dgm:pt modelId="{8523F42C-269C-AE4C-9593-D3846D896F40}" type="sibTrans" cxnId="{2A3F553B-1A1A-B949-9201-ECF164C9C828}">
      <dgm:prSet/>
      <dgm:spPr/>
      <dgm:t>
        <a:bodyPr/>
        <a:lstStyle/>
        <a:p>
          <a:endParaRPr lang="en-US"/>
        </a:p>
      </dgm:t>
    </dgm:pt>
    <dgm:pt modelId="{BF0F4BF8-CB10-7D48-8BC7-5D4B24F87673}">
      <dgm:prSet phldrT="[Text]"/>
      <dgm:spPr/>
      <dgm:t>
        <a:bodyPr/>
        <a:lstStyle/>
        <a:p>
          <a:r>
            <a:rPr lang="fr-FR" noProof="0" dirty="0" err="1"/>
            <a:t>Sistemul</a:t>
          </a:r>
          <a:r>
            <a:rPr lang="fr-FR" noProof="0" dirty="0"/>
            <a:t> de </a:t>
          </a:r>
          <a:r>
            <a:rPr lang="fr-FR" noProof="0" dirty="0" err="1"/>
            <a:t>operare</a:t>
          </a:r>
          <a:endParaRPr lang="fr-FR" noProof="0" dirty="0"/>
        </a:p>
      </dgm:t>
    </dgm:pt>
    <dgm:pt modelId="{1FE6A93A-F737-E840-8572-996D01EA1248}" type="parTrans" cxnId="{F743FB35-12F9-834F-B4EC-C8C05989E018}">
      <dgm:prSet/>
      <dgm:spPr/>
      <dgm:t>
        <a:bodyPr/>
        <a:lstStyle/>
        <a:p>
          <a:endParaRPr lang="en-US"/>
        </a:p>
      </dgm:t>
    </dgm:pt>
    <dgm:pt modelId="{24D2FED7-9503-E34A-9745-0A5E9CAC7E97}" type="sibTrans" cxnId="{F743FB35-12F9-834F-B4EC-C8C05989E018}">
      <dgm:prSet/>
      <dgm:spPr/>
      <dgm:t>
        <a:bodyPr/>
        <a:lstStyle/>
        <a:p>
          <a:endParaRPr lang="en-US"/>
        </a:p>
      </dgm:t>
    </dgm:pt>
    <dgm:pt modelId="{22541D8A-A5C7-BA4A-8117-69F25EA1D02E}">
      <dgm:prSet phldrT="[Text]"/>
      <dgm:spPr/>
      <dgm:t>
        <a:bodyPr/>
        <a:lstStyle/>
        <a:p>
          <a:r>
            <a:rPr lang="fr-FR" noProof="0" dirty="0"/>
            <a:t>Windows</a:t>
          </a:r>
        </a:p>
      </dgm:t>
    </dgm:pt>
    <dgm:pt modelId="{79000CE2-A85E-824B-84C6-64AF0FA7EF98}" type="parTrans" cxnId="{11ADACA8-EA2B-7042-98B4-3A289E992B1B}">
      <dgm:prSet/>
      <dgm:spPr/>
      <dgm:t>
        <a:bodyPr/>
        <a:lstStyle/>
        <a:p>
          <a:endParaRPr lang="en-US"/>
        </a:p>
      </dgm:t>
    </dgm:pt>
    <dgm:pt modelId="{DD2C5F72-3AE5-514B-9D13-6107024525BF}" type="sibTrans" cxnId="{11ADACA8-EA2B-7042-98B4-3A289E992B1B}">
      <dgm:prSet/>
      <dgm:spPr/>
      <dgm:t>
        <a:bodyPr/>
        <a:lstStyle/>
        <a:p>
          <a:endParaRPr lang="en-US"/>
        </a:p>
      </dgm:t>
    </dgm:pt>
    <dgm:pt modelId="{BA91D714-A613-1F45-83B3-04F7DF296945}">
      <dgm:prSet phldrT="[Text]"/>
      <dgm:spPr/>
      <dgm:t>
        <a:bodyPr/>
        <a:lstStyle/>
        <a:p>
          <a:r>
            <a:rPr lang="fr-FR" noProof="0" dirty="0"/>
            <a:t>Linux</a:t>
          </a:r>
        </a:p>
      </dgm:t>
    </dgm:pt>
    <dgm:pt modelId="{D4F02180-67B8-FE4C-9D59-A2D6F2AF7BE8}" type="parTrans" cxnId="{BD2DD224-A691-504C-B67A-9E161AFBC29E}">
      <dgm:prSet/>
      <dgm:spPr/>
      <dgm:t>
        <a:bodyPr/>
        <a:lstStyle/>
        <a:p>
          <a:endParaRPr lang="en-US"/>
        </a:p>
      </dgm:t>
    </dgm:pt>
    <dgm:pt modelId="{B9C47F45-56CF-1248-B49C-0587BEFE6E73}" type="sibTrans" cxnId="{BD2DD224-A691-504C-B67A-9E161AFBC29E}">
      <dgm:prSet/>
      <dgm:spPr/>
      <dgm:t>
        <a:bodyPr/>
        <a:lstStyle/>
        <a:p>
          <a:endParaRPr lang="en-US"/>
        </a:p>
      </dgm:t>
    </dgm:pt>
    <dgm:pt modelId="{670F1545-427C-054A-A600-E3A71E1118BD}">
      <dgm:prSet/>
      <dgm:spPr/>
      <dgm:t>
        <a:bodyPr/>
        <a:lstStyle/>
        <a:p>
          <a:r>
            <a:rPr lang="fr-FR" noProof="0" dirty="0" err="1"/>
            <a:t>Interfața</a:t>
          </a:r>
          <a:r>
            <a:rPr lang="fr-FR" noProof="0" dirty="0"/>
            <a:t> </a:t>
          </a:r>
          <a:r>
            <a:rPr lang="fr-FR" noProof="0" dirty="0" err="1"/>
            <a:t>cu</a:t>
          </a:r>
          <a:r>
            <a:rPr lang="fr-FR" noProof="0" dirty="0"/>
            <a:t> </a:t>
          </a:r>
          <a:r>
            <a:rPr lang="fr-FR" noProof="0" dirty="0" err="1"/>
            <a:t>utilizatorul</a:t>
          </a:r>
          <a:r>
            <a:rPr lang="fr-FR" noProof="0" dirty="0"/>
            <a:t> (UI/GUI)</a:t>
          </a:r>
        </a:p>
      </dgm:t>
    </dgm:pt>
    <dgm:pt modelId="{4FA1A79A-0D89-DC4E-96C2-4EB626204F77}" type="parTrans" cxnId="{B0A422C4-81B0-7A48-BCCF-38336D53009E}">
      <dgm:prSet/>
      <dgm:spPr/>
      <dgm:t>
        <a:bodyPr/>
        <a:lstStyle/>
        <a:p>
          <a:endParaRPr lang="en-US"/>
        </a:p>
      </dgm:t>
    </dgm:pt>
    <dgm:pt modelId="{0D4E3270-15F0-F24E-9FA9-DF160B1B6ADC}" type="sibTrans" cxnId="{B0A422C4-81B0-7A48-BCCF-38336D53009E}">
      <dgm:prSet/>
      <dgm:spPr/>
      <dgm:t>
        <a:bodyPr/>
        <a:lstStyle/>
        <a:p>
          <a:endParaRPr lang="en-US"/>
        </a:p>
      </dgm:t>
    </dgm:pt>
    <dgm:pt modelId="{2D7CA0F9-7DC9-9345-9681-7B2EF0D35C60}">
      <dgm:prSet/>
      <dgm:spPr/>
      <dgm:t>
        <a:bodyPr/>
        <a:lstStyle/>
        <a:p>
          <a:r>
            <a:rPr lang="fr-FR" noProof="0" dirty="0"/>
            <a:t>Windows: Windows Explorer - </a:t>
          </a:r>
          <a:r>
            <a:rPr lang="fr-FR" noProof="0" dirty="0" err="1"/>
            <a:t>explorer.exe</a:t>
          </a:r>
          <a:endParaRPr lang="fr-FR" noProof="0" dirty="0"/>
        </a:p>
      </dgm:t>
    </dgm:pt>
    <dgm:pt modelId="{F029BF46-6880-7945-B229-5DF6B6FFD2F9}" type="parTrans" cxnId="{FDA1A5DD-6623-F74F-8CE9-BC18C2DBCE62}">
      <dgm:prSet/>
      <dgm:spPr/>
      <dgm:t>
        <a:bodyPr/>
        <a:lstStyle/>
        <a:p>
          <a:endParaRPr lang="en-US"/>
        </a:p>
      </dgm:t>
    </dgm:pt>
    <dgm:pt modelId="{2E871B0A-AA49-1E42-80FC-E5D68815264F}" type="sibTrans" cxnId="{FDA1A5DD-6623-F74F-8CE9-BC18C2DBCE62}">
      <dgm:prSet/>
      <dgm:spPr/>
      <dgm:t>
        <a:bodyPr/>
        <a:lstStyle/>
        <a:p>
          <a:endParaRPr lang="en-US"/>
        </a:p>
      </dgm:t>
    </dgm:pt>
    <dgm:pt modelId="{134FD82F-D522-1E4F-A11F-01A40F769BF7}">
      <dgm:prSet/>
      <dgm:spPr/>
      <dgm:t>
        <a:bodyPr/>
        <a:lstStyle/>
        <a:p>
          <a:r>
            <a:rPr lang="fr-FR" noProof="0" dirty="0"/>
            <a:t>Linux: XFCE, GNOME, KDE, ...</a:t>
          </a:r>
        </a:p>
      </dgm:t>
    </dgm:pt>
    <dgm:pt modelId="{16438D4C-2820-C043-BBD5-38C05EB715BA}" type="parTrans" cxnId="{DF391843-E7FE-8645-9CBC-DC118751EBB9}">
      <dgm:prSet/>
      <dgm:spPr/>
      <dgm:t>
        <a:bodyPr/>
        <a:lstStyle/>
        <a:p>
          <a:endParaRPr lang="en-US"/>
        </a:p>
      </dgm:t>
    </dgm:pt>
    <dgm:pt modelId="{7B7A1B98-E30A-1845-BC17-F93755FAB041}" type="sibTrans" cxnId="{DF391843-E7FE-8645-9CBC-DC118751EBB9}">
      <dgm:prSet/>
      <dgm:spPr/>
      <dgm:t>
        <a:bodyPr/>
        <a:lstStyle/>
        <a:p>
          <a:endParaRPr lang="en-US"/>
        </a:p>
      </dgm:t>
    </dgm:pt>
    <dgm:pt modelId="{725D4091-36B1-B04A-8FE0-2DCD47366643}" type="pres">
      <dgm:prSet presAssocID="{C0C35CD5-560F-0145-9BE1-10B369988B1F}" presName="outerComposite" presStyleCnt="0">
        <dgm:presLayoutVars>
          <dgm:chMax val="5"/>
          <dgm:dir/>
          <dgm:resizeHandles val="exact"/>
        </dgm:presLayoutVars>
      </dgm:prSet>
      <dgm:spPr/>
    </dgm:pt>
    <dgm:pt modelId="{6C8F5666-A15A-1648-9441-E7E8EA3FB66C}" type="pres">
      <dgm:prSet presAssocID="{C0C35CD5-560F-0145-9BE1-10B369988B1F}" presName="dummyMaxCanvas" presStyleCnt="0">
        <dgm:presLayoutVars/>
      </dgm:prSet>
      <dgm:spPr/>
    </dgm:pt>
    <dgm:pt modelId="{6FE7683C-01B2-EE48-8389-3E1615322C22}" type="pres">
      <dgm:prSet presAssocID="{C0C35CD5-560F-0145-9BE1-10B369988B1F}" presName="FourNodes_1" presStyleLbl="node1" presStyleIdx="0" presStyleCnt="4">
        <dgm:presLayoutVars>
          <dgm:bulletEnabled val="1"/>
        </dgm:presLayoutVars>
      </dgm:prSet>
      <dgm:spPr/>
    </dgm:pt>
    <dgm:pt modelId="{E82831E5-CDC3-C245-9E1E-32356C8202AE}" type="pres">
      <dgm:prSet presAssocID="{C0C35CD5-560F-0145-9BE1-10B369988B1F}" presName="FourNodes_2" presStyleLbl="node1" presStyleIdx="1" presStyleCnt="4">
        <dgm:presLayoutVars>
          <dgm:bulletEnabled val="1"/>
        </dgm:presLayoutVars>
      </dgm:prSet>
      <dgm:spPr/>
    </dgm:pt>
    <dgm:pt modelId="{40A117C7-2AC7-FE4D-94CF-A4D90B14E244}" type="pres">
      <dgm:prSet presAssocID="{C0C35CD5-560F-0145-9BE1-10B369988B1F}" presName="FourNodes_3" presStyleLbl="node1" presStyleIdx="2" presStyleCnt="4">
        <dgm:presLayoutVars>
          <dgm:bulletEnabled val="1"/>
        </dgm:presLayoutVars>
      </dgm:prSet>
      <dgm:spPr/>
    </dgm:pt>
    <dgm:pt modelId="{5CF5616C-AD2A-674B-8BA3-D6491C11F157}" type="pres">
      <dgm:prSet presAssocID="{C0C35CD5-560F-0145-9BE1-10B369988B1F}" presName="FourNodes_4" presStyleLbl="node1" presStyleIdx="3" presStyleCnt="4">
        <dgm:presLayoutVars>
          <dgm:bulletEnabled val="1"/>
        </dgm:presLayoutVars>
      </dgm:prSet>
      <dgm:spPr/>
    </dgm:pt>
    <dgm:pt modelId="{77FB28C4-AFDA-A14C-9DD1-7EE1F88DCE97}" type="pres">
      <dgm:prSet presAssocID="{C0C35CD5-560F-0145-9BE1-10B369988B1F}" presName="FourConn_1-2" presStyleLbl="fgAccFollowNode1" presStyleIdx="0" presStyleCnt="3">
        <dgm:presLayoutVars>
          <dgm:bulletEnabled val="1"/>
        </dgm:presLayoutVars>
      </dgm:prSet>
      <dgm:spPr/>
    </dgm:pt>
    <dgm:pt modelId="{4D26EA92-5A60-114D-B36A-F7F4FF8C5D3B}" type="pres">
      <dgm:prSet presAssocID="{C0C35CD5-560F-0145-9BE1-10B369988B1F}" presName="FourConn_2-3" presStyleLbl="fgAccFollowNode1" presStyleIdx="1" presStyleCnt="3">
        <dgm:presLayoutVars>
          <dgm:bulletEnabled val="1"/>
        </dgm:presLayoutVars>
      </dgm:prSet>
      <dgm:spPr/>
    </dgm:pt>
    <dgm:pt modelId="{B0C5F0FF-CC9F-D14E-B2E3-2F25D7BF6681}" type="pres">
      <dgm:prSet presAssocID="{C0C35CD5-560F-0145-9BE1-10B369988B1F}" presName="FourConn_3-4" presStyleLbl="fgAccFollowNode1" presStyleIdx="2" presStyleCnt="3">
        <dgm:presLayoutVars>
          <dgm:bulletEnabled val="1"/>
        </dgm:presLayoutVars>
      </dgm:prSet>
      <dgm:spPr/>
    </dgm:pt>
    <dgm:pt modelId="{324ACDE5-4768-2F4A-895D-32CDD6475789}" type="pres">
      <dgm:prSet presAssocID="{C0C35CD5-560F-0145-9BE1-10B369988B1F}" presName="FourNodes_1_text" presStyleLbl="node1" presStyleIdx="3" presStyleCnt="4">
        <dgm:presLayoutVars>
          <dgm:bulletEnabled val="1"/>
        </dgm:presLayoutVars>
      </dgm:prSet>
      <dgm:spPr/>
    </dgm:pt>
    <dgm:pt modelId="{F0F81338-A3FF-A448-8A8B-ED65A6E5604D}" type="pres">
      <dgm:prSet presAssocID="{C0C35CD5-560F-0145-9BE1-10B369988B1F}" presName="FourNodes_2_text" presStyleLbl="node1" presStyleIdx="3" presStyleCnt="4">
        <dgm:presLayoutVars>
          <dgm:bulletEnabled val="1"/>
        </dgm:presLayoutVars>
      </dgm:prSet>
      <dgm:spPr/>
    </dgm:pt>
    <dgm:pt modelId="{7C0D0F66-6359-0D46-BF11-4D2A233624FB}" type="pres">
      <dgm:prSet presAssocID="{C0C35CD5-560F-0145-9BE1-10B369988B1F}" presName="FourNodes_3_text" presStyleLbl="node1" presStyleIdx="3" presStyleCnt="4">
        <dgm:presLayoutVars>
          <dgm:bulletEnabled val="1"/>
        </dgm:presLayoutVars>
      </dgm:prSet>
      <dgm:spPr/>
    </dgm:pt>
    <dgm:pt modelId="{71730831-98C9-ED43-BF6A-AFDD6ACE2A8F}" type="pres">
      <dgm:prSet presAssocID="{C0C35CD5-560F-0145-9BE1-10B369988B1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8B82720A-2120-6A4A-8A4B-ED84F04AF597}" type="presOf" srcId="{D3453CED-E526-8F4D-B7D6-6BE1C7714813}" destId="{F0F81338-A3FF-A448-8A8B-ED65A6E5604D}" srcOrd="1" destOrd="0" presId="urn:microsoft.com/office/officeart/2005/8/layout/vProcess5"/>
    <dgm:cxn modelId="{B7898B0F-AEDB-2B47-9FE3-48B76C530612}" type="presOf" srcId="{D3453CED-E526-8F4D-B7D6-6BE1C7714813}" destId="{E82831E5-CDC3-C245-9E1E-32356C8202AE}" srcOrd="0" destOrd="0" presId="urn:microsoft.com/office/officeart/2005/8/layout/vProcess5"/>
    <dgm:cxn modelId="{4E448017-84F4-374E-8AED-62B1510D2F64}" type="presOf" srcId="{7D4ABA1A-4FD7-8C4D-AD77-9783625D17DE}" destId="{6FE7683C-01B2-EE48-8389-3E1615322C22}" srcOrd="0" destOrd="0" presId="urn:microsoft.com/office/officeart/2005/8/layout/vProcess5"/>
    <dgm:cxn modelId="{EB6D1318-657C-9C4E-80E4-93134B6C6BF6}" srcId="{D3453CED-E526-8F4D-B7D6-6BE1C7714813}" destId="{16C998B8-E9EA-6443-A69B-0CAB6971BA00}" srcOrd="0" destOrd="0" parTransId="{61DD0FCA-2B4C-1846-B0D2-B9DD6DD68D0D}" sibTransId="{141168DE-B832-E340-8DE7-EC9035823105}"/>
    <dgm:cxn modelId="{BD2DD224-A691-504C-B67A-9E161AFBC29E}" srcId="{BF0F4BF8-CB10-7D48-8BC7-5D4B24F87673}" destId="{BA91D714-A613-1F45-83B3-04F7DF296945}" srcOrd="1" destOrd="0" parTransId="{D4F02180-67B8-FE4C-9D59-A2D6F2AF7BE8}" sibTransId="{B9C47F45-56CF-1248-B49C-0587BEFE6E73}"/>
    <dgm:cxn modelId="{21D7A633-A09C-F241-AA6D-5585BBF856D7}" type="presOf" srcId="{BA91D714-A613-1F45-83B3-04F7DF296945}" destId="{7C0D0F66-6359-0D46-BF11-4D2A233624FB}" srcOrd="1" destOrd="2" presId="urn:microsoft.com/office/officeart/2005/8/layout/vProcess5"/>
    <dgm:cxn modelId="{F743FB35-12F9-834F-B4EC-C8C05989E018}" srcId="{C0C35CD5-560F-0145-9BE1-10B369988B1F}" destId="{BF0F4BF8-CB10-7D48-8BC7-5D4B24F87673}" srcOrd="2" destOrd="0" parTransId="{1FE6A93A-F737-E840-8572-996D01EA1248}" sibTransId="{24D2FED7-9503-E34A-9745-0A5E9CAC7E97}"/>
    <dgm:cxn modelId="{7FAF7036-81B2-4A49-9D1E-FC128F71B25D}" type="presOf" srcId="{22541D8A-A5C7-BA4A-8117-69F25EA1D02E}" destId="{7C0D0F66-6359-0D46-BF11-4D2A233624FB}" srcOrd="1" destOrd="1" presId="urn:microsoft.com/office/officeart/2005/8/layout/vProcess5"/>
    <dgm:cxn modelId="{ACD61D39-3D26-FD46-A395-B31086CF2C4D}" type="presOf" srcId="{2D7CA0F9-7DC9-9345-9681-7B2EF0D35C60}" destId="{71730831-98C9-ED43-BF6A-AFDD6ACE2A8F}" srcOrd="1" destOrd="1" presId="urn:microsoft.com/office/officeart/2005/8/layout/vProcess5"/>
    <dgm:cxn modelId="{2A3F553B-1A1A-B949-9201-ECF164C9C828}" srcId="{D3453CED-E526-8F4D-B7D6-6BE1C7714813}" destId="{A2AD9064-E6A3-4A40-84E6-724B8DBE2BAC}" srcOrd="1" destOrd="0" parTransId="{94706030-FAAB-8642-9666-10BDCEDD3C5C}" sibTransId="{8523F42C-269C-AE4C-9593-D3846D896F40}"/>
    <dgm:cxn modelId="{6EBC9E3C-7327-C045-BE58-3F26715EED99}" srcId="{C0C35CD5-560F-0145-9BE1-10B369988B1F}" destId="{7D4ABA1A-4FD7-8C4D-AD77-9783625D17DE}" srcOrd="0" destOrd="0" parTransId="{85E4A6DB-E1E5-EB46-A093-63F180B593E8}" sibTransId="{D60BB556-BF55-1146-AE35-0A7EFE663AEC}"/>
    <dgm:cxn modelId="{DF391843-E7FE-8645-9CBC-DC118751EBB9}" srcId="{670F1545-427C-054A-A600-E3A71E1118BD}" destId="{134FD82F-D522-1E4F-A11F-01A40F769BF7}" srcOrd="1" destOrd="0" parTransId="{16438D4C-2820-C043-BBD5-38C05EB715BA}" sibTransId="{7B7A1B98-E30A-1845-BC17-F93755FAB041}"/>
    <dgm:cxn modelId="{4B0BF44F-228D-A24A-BD25-0A5D85D5B924}" type="presOf" srcId="{24D2FED7-9503-E34A-9745-0A5E9CAC7E97}" destId="{B0C5F0FF-CC9F-D14E-B2E3-2F25D7BF6681}" srcOrd="0" destOrd="0" presId="urn:microsoft.com/office/officeart/2005/8/layout/vProcess5"/>
    <dgm:cxn modelId="{68422457-C29B-EE44-9964-3E2436F8BADB}" type="presOf" srcId="{7D4ABA1A-4FD7-8C4D-AD77-9783625D17DE}" destId="{324ACDE5-4768-2F4A-895D-32CDD6475789}" srcOrd="1" destOrd="0" presId="urn:microsoft.com/office/officeart/2005/8/layout/vProcess5"/>
    <dgm:cxn modelId="{4868E86B-7AB5-914B-81FE-6DE4FFA20BB7}" type="presOf" srcId="{16C998B8-E9EA-6443-A69B-0CAB6971BA00}" destId="{E82831E5-CDC3-C245-9E1E-32356C8202AE}" srcOrd="0" destOrd="1" presId="urn:microsoft.com/office/officeart/2005/8/layout/vProcess5"/>
    <dgm:cxn modelId="{AD06306C-4FB1-C648-9767-CB85C564A016}" type="presOf" srcId="{BA91D714-A613-1F45-83B3-04F7DF296945}" destId="{40A117C7-2AC7-FE4D-94CF-A4D90B14E244}" srcOrd="0" destOrd="2" presId="urn:microsoft.com/office/officeart/2005/8/layout/vProcess5"/>
    <dgm:cxn modelId="{8B9DA37D-AA1A-E247-9823-2DF4BE72FC83}" type="presOf" srcId="{A2AD9064-E6A3-4A40-84E6-724B8DBE2BAC}" destId="{F0F81338-A3FF-A448-8A8B-ED65A6E5604D}" srcOrd="1" destOrd="2" presId="urn:microsoft.com/office/officeart/2005/8/layout/vProcess5"/>
    <dgm:cxn modelId="{02245E7F-5201-F74A-9868-7F2BF62EE56E}" srcId="{7D4ABA1A-4FD7-8C4D-AD77-9783625D17DE}" destId="{092AA4ED-4280-EF40-928E-7350D6D25570}" srcOrd="1" destOrd="0" parTransId="{5586C08C-ED70-8A4F-8CCC-AC93C885D7B6}" sibTransId="{C87892DF-141A-0543-9EA6-A27F357FF800}"/>
    <dgm:cxn modelId="{2D77D785-4E6A-5744-95BE-552F55D00711}" type="presOf" srcId="{19C4D74F-B7D0-DC4C-9DD7-BBB963EF89DA}" destId="{324ACDE5-4768-2F4A-895D-32CDD6475789}" srcOrd="1" destOrd="1" presId="urn:microsoft.com/office/officeart/2005/8/layout/vProcess5"/>
    <dgm:cxn modelId="{976DFD8A-8F77-074A-AFBE-5CCC8ED59397}" type="presOf" srcId="{C0C35CD5-560F-0145-9BE1-10B369988B1F}" destId="{725D4091-36B1-B04A-8FE0-2DCD47366643}" srcOrd="0" destOrd="0" presId="urn:microsoft.com/office/officeart/2005/8/layout/vProcess5"/>
    <dgm:cxn modelId="{88C0C78C-EEA5-4E4B-ADD2-51136C7FC05F}" type="presOf" srcId="{092AA4ED-4280-EF40-928E-7350D6D25570}" destId="{324ACDE5-4768-2F4A-895D-32CDD6475789}" srcOrd="1" destOrd="2" presId="urn:microsoft.com/office/officeart/2005/8/layout/vProcess5"/>
    <dgm:cxn modelId="{80FA8398-FFBD-624E-AA94-0DE2F8478078}" type="presOf" srcId="{134FD82F-D522-1E4F-A11F-01A40F769BF7}" destId="{5CF5616C-AD2A-674B-8BA3-D6491C11F157}" srcOrd="0" destOrd="2" presId="urn:microsoft.com/office/officeart/2005/8/layout/vProcess5"/>
    <dgm:cxn modelId="{1F5ED0A2-F486-E847-849A-0CACBF1948F5}" type="presOf" srcId="{A2AD9064-E6A3-4A40-84E6-724B8DBE2BAC}" destId="{E82831E5-CDC3-C245-9E1E-32356C8202AE}" srcOrd="0" destOrd="2" presId="urn:microsoft.com/office/officeart/2005/8/layout/vProcess5"/>
    <dgm:cxn modelId="{6B1F10A6-486E-184C-B206-4471E078DE0A}" type="presOf" srcId="{134FD82F-D522-1E4F-A11F-01A40F769BF7}" destId="{71730831-98C9-ED43-BF6A-AFDD6ACE2A8F}" srcOrd="1" destOrd="2" presId="urn:microsoft.com/office/officeart/2005/8/layout/vProcess5"/>
    <dgm:cxn modelId="{11ADACA8-EA2B-7042-98B4-3A289E992B1B}" srcId="{BF0F4BF8-CB10-7D48-8BC7-5D4B24F87673}" destId="{22541D8A-A5C7-BA4A-8117-69F25EA1D02E}" srcOrd="0" destOrd="0" parTransId="{79000CE2-A85E-824B-84C6-64AF0FA7EF98}" sibTransId="{DD2C5F72-3AE5-514B-9D13-6107024525BF}"/>
    <dgm:cxn modelId="{C02D5BB9-9D9E-D04E-A57B-280FEE24D04E}" type="presOf" srcId="{22541D8A-A5C7-BA4A-8117-69F25EA1D02E}" destId="{40A117C7-2AC7-FE4D-94CF-A4D90B14E244}" srcOrd="0" destOrd="1" presId="urn:microsoft.com/office/officeart/2005/8/layout/vProcess5"/>
    <dgm:cxn modelId="{B7FB2EBA-D722-F342-887D-D8CD80346D56}" type="presOf" srcId="{BF0F4BF8-CB10-7D48-8BC7-5D4B24F87673}" destId="{7C0D0F66-6359-0D46-BF11-4D2A233624FB}" srcOrd="1" destOrd="0" presId="urn:microsoft.com/office/officeart/2005/8/layout/vProcess5"/>
    <dgm:cxn modelId="{A88460BC-DD03-084A-BCC4-8D7704AAFD00}" type="presOf" srcId="{092AA4ED-4280-EF40-928E-7350D6D25570}" destId="{6FE7683C-01B2-EE48-8389-3E1615322C22}" srcOrd="0" destOrd="2" presId="urn:microsoft.com/office/officeart/2005/8/layout/vProcess5"/>
    <dgm:cxn modelId="{2DC319C0-0D7C-2846-B7FE-4577458F3248}" type="presOf" srcId="{F45CB4B4-D562-784E-811B-0EC73F3492EB}" destId="{4D26EA92-5A60-114D-B36A-F7F4FF8C5D3B}" srcOrd="0" destOrd="0" presId="urn:microsoft.com/office/officeart/2005/8/layout/vProcess5"/>
    <dgm:cxn modelId="{38CEDDC3-81BB-4A43-888F-9FCB5987E52C}" type="presOf" srcId="{16C998B8-E9EA-6443-A69B-0CAB6971BA00}" destId="{F0F81338-A3FF-A448-8A8B-ED65A6E5604D}" srcOrd="1" destOrd="1" presId="urn:microsoft.com/office/officeart/2005/8/layout/vProcess5"/>
    <dgm:cxn modelId="{B0A422C4-81B0-7A48-BCCF-38336D53009E}" srcId="{C0C35CD5-560F-0145-9BE1-10B369988B1F}" destId="{670F1545-427C-054A-A600-E3A71E1118BD}" srcOrd="3" destOrd="0" parTransId="{4FA1A79A-0D89-DC4E-96C2-4EB626204F77}" sibTransId="{0D4E3270-15F0-F24E-9FA9-DF160B1B6ADC}"/>
    <dgm:cxn modelId="{FDA1A5DD-6623-F74F-8CE9-BC18C2DBCE62}" srcId="{670F1545-427C-054A-A600-E3A71E1118BD}" destId="{2D7CA0F9-7DC9-9345-9681-7B2EF0D35C60}" srcOrd="0" destOrd="0" parTransId="{F029BF46-6880-7945-B229-5DF6B6FFD2F9}" sibTransId="{2E871B0A-AA49-1E42-80FC-E5D68815264F}"/>
    <dgm:cxn modelId="{3CCFE7E1-D74D-024B-9C2C-BB69EDD72E13}" srcId="{7D4ABA1A-4FD7-8C4D-AD77-9783625D17DE}" destId="{19C4D74F-B7D0-DC4C-9DD7-BBB963EF89DA}" srcOrd="0" destOrd="0" parTransId="{50197A1E-4177-8E43-8C2C-B6A1AB690997}" sibTransId="{A7F5D381-07C0-914E-ACB6-FB3688E5301C}"/>
    <dgm:cxn modelId="{4D3453E2-E3A5-094A-9445-6BCE857D8A03}" srcId="{C0C35CD5-560F-0145-9BE1-10B369988B1F}" destId="{D3453CED-E526-8F4D-B7D6-6BE1C7714813}" srcOrd="1" destOrd="0" parTransId="{AC0B8E77-1A79-6847-8E64-7CCC84FE5466}" sibTransId="{F45CB4B4-D562-784E-811B-0EC73F3492EB}"/>
    <dgm:cxn modelId="{28DF9BEB-B4B0-D04F-A42D-A32A2AD30AFD}" type="presOf" srcId="{19C4D74F-B7D0-DC4C-9DD7-BBB963EF89DA}" destId="{6FE7683C-01B2-EE48-8389-3E1615322C22}" srcOrd="0" destOrd="1" presId="urn:microsoft.com/office/officeart/2005/8/layout/vProcess5"/>
    <dgm:cxn modelId="{6143CFF0-07A9-4646-82D9-F836FC65F787}" type="presOf" srcId="{2D7CA0F9-7DC9-9345-9681-7B2EF0D35C60}" destId="{5CF5616C-AD2A-674B-8BA3-D6491C11F157}" srcOrd="0" destOrd="1" presId="urn:microsoft.com/office/officeart/2005/8/layout/vProcess5"/>
    <dgm:cxn modelId="{681FE6F3-827F-BB49-8BCF-95FD75F67D00}" type="presOf" srcId="{670F1545-427C-054A-A600-E3A71E1118BD}" destId="{5CF5616C-AD2A-674B-8BA3-D6491C11F157}" srcOrd="0" destOrd="0" presId="urn:microsoft.com/office/officeart/2005/8/layout/vProcess5"/>
    <dgm:cxn modelId="{5F1F3BF5-6D18-D34C-B1ED-4208A62E585F}" type="presOf" srcId="{670F1545-427C-054A-A600-E3A71E1118BD}" destId="{71730831-98C9-ED43-BF6A-AFDD6ACE2A8F}" srcOrd="1" destOrd="0" presId="urn:microsoft.com/office/officeart/2005/8/layout/vProcess5"/>
    <dgm:cxn modelId="{7F40DBF6-7B6F-D048-A4C2-2D6504FA5E25}" type="presOf" srcId="{BF0F4BF8-CB10-7D48-8BC7-5D4B24F87673}" destId="{40A117C7-2AC7-FE4D-94CF-A4D90B14E244}" srcOrd="0" destOrd="0" presId="urn:microsoft.com/office/officeart/2005/8/layout/vProcess5"/>
    <dgm:cxn modelId="{860160F7-BF9A-0848-A350-85371BA72DBC}" type="presOf" srcId="{D60BB556-BF55-1146-AE35-0A7EFE663AEC}" destId="{77FB28C4-AFDA-A14C-9DD1-7EE1F88DCE97}" srcOrd="0" destOrd="0" presId="urn:microsoft.com/office/officeart/2005/8/layout/vProcess5"/>
    <dgm:cxn modelId="{B3F63560-BF9A-394F-A5AE-B21A12B66AEE}" type="presParOf" srcId="{725D4091-36B1-B04A-8FE0-2DCD47366643}" destId="{6C8F5666-A15A-1648-9441-E7E8EA3FB66C}" srcOrd="0" destOrd="0" presId="urn:microsoft.com/office/officeart/2005/8/layout/vProcess5"/>
    <dgm:cxn modelId="{DCF1B3C3-2009-2E4D-9389-F8EB59A058C5}" type="presParOf" srcId="{725D4091-36B1-B04A-8FE0-2DCD47366643}" destId="{6FE7683C-01B2-EE48-8389-3E1615322C22}" srcOrd="1" destOrd="0" presId="urn:microsoft.com/office/officeart/2005/8/layout/vProcess5"/>
    <dgm:cxn modelId="{988EB8F8-CA55-AA4F-8468-41EBB3FD31BF}" type="presParOf" srcId="{725D4091-36B1-B04A-8FE0-2DCD47366643}" destId="{E82831E5-CDC3-C245-9E1E-32356C8202AE}" srcOrd="2" destOrd="0" presId="urn:microsoft.com/office/officeart/2005/8/layout/vProcess5"/>
    <dgm:cxn modelId="{7592F8BD-2969-8E4F-8D57-74402D129D75}" type="presParOf" srcId="{725D4091-36B1-B04A-8FE0-2DCD47366643}" destId="{40A117C7-2AC7-FE4D-94CF-A4D90B14E244}" srcOrd="3" destOrd="0" presId="urn:microsoft.com/office/officeart/2005/8/layout/vProcess5"/>
    <dgm:cxn modelId="{C4D9A61E-8D80-1746-BB57-D366874E4CDD}" type="presParOf" srcId="{725D4091-36B1-B04A-8FE0-2DCD47366643}" destId="{5CF5616C-AD2A-674B-8BA3-D6491C11F157}" srcOrd="4" destOrd="0" presId="urn:microsoft.com/office/officeart/2005/8/layout/vProcess5"/>
    <dgm:cxn modelId="{36BE4367-AC89-6C4F-9E54-CE62BE57BC09}" type="presParOf" srcId="{725D4091-36B1-B04A-8FE0-2DCD47366643}" destId="{77FB28C4-AFDA-A14C-9DD1-7EE1F88DCE97}" srcOrd="5" destOrd="0" presId="urn:microsoft.com/office/officeart/2005/8/layout/vProcess5"/>
    <dgm:cxn modelId="{87C9B84D-D87D-C744-BA1E-B8307FECD3A0}" type="presParOf" srcId="{725D4091-36B1-B04A-8FE0-2DCD47366643}" destId="{4D26EA92-5A60-114D-B36A-F7F4FF8C5D3B}" srcOrd="6" destOrd="0" presId="urn:microsoft.com/office/officeart/2005/8/layout/vProcess5"/>
    <dgm:cxn modelId="{2737F832-2356-1342-A982-A20F7EC7496D}" type="presParOf" srcId="{725D4091-36B1-B04A-8FE0-2DCD47366643}" destId="{B0C5F0FF-CC9F-D14E-B2E3-2F25D7BF6681}" srcOrd="7" destOrd="0" presId="urn:microsoft.com/office/officeart/2005/8/layout/vProcess5"/>
    <dgm:cxn modelId="{B020287B-1586-514B-806D-5C4DABD82729}" type="presParOf" srcId="{725D4091-36B1-B04A-8FE0-2DCD47366643}" destId="{324ACDE5-4768-2F4A-895D-32CDD6475789}" srcOrd="8" destOrd="0" presId="urn:microsoft.com/office/officeart/2005/8/layout/vProcess5"/>
    <dgm:cxn modelId="{4F61F72F-1330-174E-836E-9E11DFD62137}" type="presParOf" srcId="{725D4091-36B1-B04A-8FE0-2DCD47366643}" destId="{F0F81338-A3FF-A448-8A8B-ED65A6E5604D}" srcOrd="9" destOrd="0" presId="urn:microsoft.com/office/officeart/2005/8/layout/vProcess5"/>
    <dgm:cxn modelId="{52A26D11-28EF-4740-A8EA-27E530B2E1A1}" type="presParOf" srcId="{725D4091-36B1-B04A-8FE0-2DCD47366643}" destId="{7C0D0F66-6359-0D46-BF11-4D2A233624FB}" srcOrd="10" destOrd="0" presId="urn:microsoft.com/office/officeart/2005/8/layout/vProcess5"/>
    <dgm:cxn modelId="{97101CA8-9EEE-9245-B72C-DA5576B95C00}" type="presParOf" srcId="{725D4091-36B1-B04A-8FE0-2DCD47366643}" destId="{71730831-98C9-ED43-BF6A-AFDD6ACE2A8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E7683C-01B2-EE48-8389-3E1615322C22}">
      <dsp:nvSpPr>
        <dsp:cNvPr id="0" name=""/>
        <dsp:cNvSpPr/>
      </dsp:nvSpPr>
      <dsp:spPr>
        <a:xfrm>
          <a:off x="0" y="0"/>
          <a:ext cx="6583680" cy="995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Machine Boot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x86: BIOS / UEFI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ARM: </a:t>
          </a:r>
          <a:r>
            <a:rPr lang="en-US" sz="1400" kern="1200" dirty="0" err="1"/>
            <a:t>Adresa</a:t>
          </a:r>
          <a:r>
            <a:rPr lang="en-US" sz="1400" kern="1200" dirty="0"/>
            <a:t> de start</a:t>
          </a:r>
        </a:p>
      </dsp:txBody>
      <dsp:txXfrm>
        <a:off x="29163" y="29163"/>
        <a:ext cx="5425092" cy="937385"/>
      </dsp:txXfrm>
    </dsp:sp>
    <dsp:sp modelId="{E82831E5-CDC3-C245-9E1E-32356C8202AE}">
      <dsp:nvSpPr>
        <dsp:cNvPr id="0" name=""/>
        <dsp:cNvSpPr/>
      </dsp:nvSpPr>
      <dsp:spPr>
        <a:xfrm>
          <a:off x="551383" y="1176750"/>
          <a:ext cx="6583680" cy="995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Bootloader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x86: </a:t>
          </a:r>
          <a:r>
            <a:rPr lang="en-US" sz="1400" kern="1200" dirty="0" err="1"/>
            <a:t>Lilo</a:t>
          </a:r>
          <a:r>
            <a:rPr lang="en-US" sz="1400" kern="1200" dirty="0"/>
            <a:t>, GRUB2, </a:t>
          </a:r>
          <a:r>
            <a:rPr lang="en-US" sz="1400" kern="1200" dirty="0" err="1"/>
            <a:t>Syslinux</a:t>
          </a:r>
          <a:r>
            <a:rPr lang="en-US" sz="1400" kern="1200" dirty="0"/>
            <a:t>, NLDR, Windows Boot Manager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ARM: U-Boot, </a:t>
          </a:r>
          <a:r>
            <a:rPr lang="en-US" sz="1400" kern="1200" dirty="0" err="1"/>
            <a:t>Barebox</a:t>
          </a:r>
          <a:endParaRPr lang="en-US" sz="1400" kern="1200" dirty="0"/>
        </a:p>
      </dsp:txBody>
      <dsp:txXfrm>
        <a:off x="580546" y="1205913"/>
        <a:ext cx="5326758" cy="937385"/>
      </dsp:txXfrm>
    </dsp:sp>
    <dsp:sp modelId="{40A117C7-2AC7-FE4D-94CF-A4D90B14E244}">
      <dsp:nvSpPr>
        <dsp:cNvPr id="0" name=""/>
        <dsp:cNvSpPr/>
      </dsp:nvSpPr>
      <dsp:spPr>
        <a:xfrm>
          <a:off x="1094536" y="2353500"/>
          <a:ext cx="6583680" cy="995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noProof="0" dirty="0" err="1"/>
            <a:t>Sistemul</a:t>
          </a:r>
          <a:r>
            <a:rPr lang="fr-FR" sz="1800" kern="1200" noProof="0" dirty="0"/>
            <a:t> de </a:t>
          </a:r>
          <a:r>
            <a:rPr lang="fr-FR" sz="1800" kern="1200" noProof="0" dirty="0" err="1"/>
            <a:t>operare</a:t>
          </a:r>
          <a:endParaRPr lang="fr-FR" sz="1800" kern="1200" noProof="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noProof="0" dirty="0"/>
            <a:t>Windows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noProof="0" dirty="0"/>
            <a:t>Linux</a:t>
          </a:r>
        </a:p>
      </dsp:txBody>
      <dsp:txXfrm>
        <a:off x="1123699" y="2382663"/>
        <a:ext cx="5334987" cy="937385"/>
      </dsp:txXfrm>
    </dsp:sp>
    <dsp:sp modelId="{5CF5616C-AD2A-674B-8BA3-D6491C11F157}">
      <dsp:nvSpPr>
        <dsp:cNvPr id="0" name=""/>
        <dsp:cNvSpPr/>
      </dsp:nvSpPr>
      <dsp:spPr>
        <a:xfrm>
          <a:off x="1645920" y="3530251"/>
          <a:ext cx="6583680" cy="9957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noProof="0" dirty="0" err="1"/>
            <a:t>Interfața</a:t>
          </a:r>
          <a:r>
            <a:rPr lang="fr-FR" sz="1800" kern="1200" noProof="0" dirty="0"/>
            <a:t> </a:t>
          </a:r>
          <a:r>
            <a:rPr lang="fr-FR" sz="1800" kern="1200" noProof="0" dirty="0" err="1"/>
            <a:t>cu</a:t>
          </a:r>
          <a:r>
            <a:rPr lang="fr-FR" sz="1800" kern="1200" noProof="0" dirty="0"/>
            <a:t> </a:t>
          </a:r>
          <a:r>
            <a:rPr lang="fr-FR" sz="1800" kern="1200" noProof="0" dirty="0" err="1"/>
            <a:t>utilizatorul</a:t>
          </a:r>
          <a:r>
            <a:rPr lang="fr-FR" sz="1800" kern="1200" noProof="0" dirty="0"/>
            <a:t> (UI/GUI)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noProof="0" dirty="0"/>
            <a:t>Windows: Windows Explorer - </a:t>
          </a:r>
          <a:r>
            <a:rPr lang="fr-FR" sz="1400" kern="1200" noProof="0" dirty="0" err="1"/>
            <a:t>explorer.exe</a:t>
          </a:r>
          <a:endParaRPr lang="fr-FR" sz="1400" kern="1200" noProof="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400" kern="1200" noProof="0" dirty="0"/>
            <a:t>Linux: XFCE, GNOME, KDE, ...</a:t>
          </a:r>
        </a:p>
      </dsp:txBody>
      <dsp:txXfrm>
        <a:off x="1675083" y="3559414"/>
        <a:ext cx="5326758" cy="937385"/>
      </dsp:txXfrm>
    </dsp:sp>
    <dsp:sp modelId="{77FB28C4-AFDA-A14C-9DD1-7EE1F88DCE97}">
      <dsp:nvSpPr>
        <dsp:cNvPr id="0" name=""/>
        <dsp:cNvSpPr/>
      </dsp:nvSpPr>
      <dsp:spPr>
        <a:xfrm>
          <a:off x="5936467" y="762624"/>
          <a:ext cx="647212" cy="6472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6082090" y="762624"/>
        <a:ext cx="355966" cy="487027"/>
      </dsp:txXfrm>
    </dsp:sp>
    <dsp:sp modelId="{4D26EA92-5A60-114D-B36A-F7F4FF8C5D3B}">
      <dsp:nvSpPr>
        <dsp:cNvPr id="0" name=""/>
        <dsp:cNvSpPr/>
      </dsp:nvSpPr>
      <dsp:spPr>
        <a:xfrm>
          <a:off x="6487850" y="1939375"/>
          <a:ext cx="647212" cy="6472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6633473" y="1939375"/>
        <a:ext cx="355966" cy="487027"/>
      </dsp:txXfrm>
    </dsp:sp>
    <dsp:sp modelId="{B0C5F0FF-CC9F-D14E-B2E3-2F25D7BF6681}">
      <dsp:nvSpPr>
        <dsp:cNvPr id="0" name=""/>
        <dsp:cNvSpPr/>
      </dsp:nvSpPr>
      <dsp:spPr>
        <a:xfrm>
          <a:off x="7031004" y="3116125"/>
          <a:ext cx="647212" cy="64721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900" kern="1200"/>
        </a:p>
      </dsp:txBody>
      <dsp:txXfrm>
        <a:off x="7176627" y="3116125"/>
        <a:ext cx="355966" cy="487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01A42E-C745-4D52-ACD7-4CA427CF4F78}" type="datetimeFigureOut">
              <a:rPr lang="en-US" smtClean="0"/>
              <a:pPr/>
              <a:t>2/16/20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F0CB2F-E359-427D-B4C1-80D122151B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10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6110FA-B3C3-4C93-B177-7D383B68ACCB}" type="datetimeFigureOut">
              <a:rPr lang="en-US" smtClean="0"/>
              <a:pPr/>
              <a:t>2/16/20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096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191000"/>
            <a:ext cx="54864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301EB-536E-459D-BF26-B7AF0B3C17C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5981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0600" y="381000"/>
            <a:ext cx="4876800" cy="3657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B301EB-536E-459D-BF26-B7AF0B3C17C8}" type="slidenum">
              <a:rPr lang="en-US" smtClean="0"/>
              <a:pPr/>
              <a:t>56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400" y="2438400"/>
            <a:ext cx="4648200" cy="106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38600" y="3886200"/>
            <a:ext cx="4495800" cy="533400"/>
          </a:xfrm>
        </p:spPr>
        <p:txBody>
          <a:bodyPr>
            <a:noAutofit/>
          </a:bodyPr>
          <a:lstStyle>
            <a:lvl1pPr marL="0" indent="0" algn="l">
              <a:buNone/>
              <a:defRPr sz="3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E80A-9FA1-D94C-9AC8-2DFDB75B3324}" type="datetime1">
              <a:rPr lang="ro-RO" smtClean="0"/>
              <a:t>16.02.2020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81000" y="1828800"/>
            <a:ext cx="3352800" cy="3276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7162800" cy="5635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69270-5514-9246-900B-ED888FCCAE8F}" type="datetime1">
              <a:rPr lang="ro-RO" smtClean="0"/>
              <a:t>16.02.2020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03BC7-FB55-9845-80D6-BD0683244A6F}" type="datetime1">
              <a:rPr lang="ro-RO" smtClean="0"/>
              <a:t>16.02.2020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75D13-A941-B64F-A884-37CF169C52DA}" type="datetime1">
              <a:rPr lang="ro-RO" smtClean="0"/>
              <a:t>16.02.2020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7D384-E5A5-3B4C-AD13-366CF706A15D}" type="datetime1">
              <a:rPr lang="ro-RO" smtClean="0"/>
              <a:t>16.02.2020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9910C-8865-0A4C-AE0D-9CBC416F8CC4}" type="datetime1">
              <a:rPr lang="ro-RO" smtClean="0"/>
              <a:t>16.02.2020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28600" y="990600"/>
            <a:ext cx="8763000" cy="0"/>
          </a:xfrm>
          <a:prstGeom prst="line">
            <a:avLst/>
          </a:prstGeom>
          <a:ln w="25400"/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3ABE3-8843-4443-8D05-18EF7E1F058A}" type="datetime1">
              <a:rPr lang="ro-RO" smtClean="0"/>
              <a:t>16.02.2020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543F9-D243-B946-B36A-E4C465AE7595}" type="datetime1">
              <a:rPr lang="ro-RO" smtClean="0"/>
              <a:t>16.02.2020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F6018-3745-8847-AB04-EDAB368A0BAF}" type="datetime1">
              <a:rPr lang="ro-RO" smtClean="0"/>
              <a:t>16.02.2020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583E6-3D2B-B144-96B3-0591C89AACD2}" type="datetime1">
              <a:rPr lang="ro-RO" smtClean="0"/>
              <a:t>16.02.2020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5110F-C4CB-6649-9BAC-7584921789EB}" type="datetime1">
              <a:rPr lang="ro-RO" smtClean="0"/>
              <a:t>16.02.2020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746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70BE0-75C7-0E48-86F9-13113292EB8F}" type="datetime1">
              <a:rPr lang="ro-RO" smtClean="0"/>
              <a:t>16.02.2020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5EE2D-F026-4E21-871A-E6BCBAD13C3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9DE6-865C-8F49-845D-89F89C77661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74646" y="152400"/>
            <a:ext cx="905346" cy="436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C00000"/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FFC000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B050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cs.curs.pub.ro/" TargetMode="External"/><Relationship Id="rId2" Type="http://schemas.openxmlformats.org/officeDocument/2006/relationships/hyperlink" Target="http://ocw.cs.pub.ro/courses/so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://cs.curs.pub.ro/" TargetMode="External"/><Relationship Id="rId2" Type="http://schemas.openxmlformats.org/officeDocument/2006/relationships/hyperlink" Target="http://ocw.cs.pub.ro/courses/so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o-RO" b="1"/>
              <a:t>Sisteme de Operare</a:t>
            </a:r>
            <a:br>
              <a:rPr lang="ro-RO" b="1"/>
            </a:br>
            <a:endParaRPr lang="ro-RO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/>
              <a:t>Introducere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F9C9583-0B73-A247-96DD-90634298AA0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268" b="-51268"/>
          <a:stretch/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3">
            <a:extLst>
              <a:ext uri="{FF2B5EF4-FFF2-40B4-BE49-F238E27FC236}">
                <a16:creationId xmlns:a16="http://schemas.microsoft.com/office/drawing/2014/main" id="{61F68853-64AF-0940-92D9-2C2FF2B78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ro-RO" altLang="ro-RO" dirty="0"/>
              <a:t>Cine suntem</a:t>
            </a:r>
          </a:p>
        </p:txBody>
      </p:sp>
      <p:sp>
        <p:nvSpPr>
          <p:cNvPr id="15363" name="Content Placeholder 4">
            <a:extLst>
              <a:ext uri="{FF2B5EF4-FFF2-40B4-BE49-F238E27FC236}">
                <a16:creationId xmlns:a16="http://schemas.microsoft.com/office/drawing/2014/main" id="{D2B9CB66-5E17-304E-858C-1DEEDBA6F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ro-RO" altLang="ro-RO" sz="2800" dirty="0"/>
              <a:t>Curs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sz="2400" dirty="0"/>
              <a:t>Alexandru Radovici (CA), Mihai </a:t>
            </a:r>
            <a:r>
              <a:rPr lang="ro-RO" altLang="ro-RO" sz="2400" dirty="0" err="1"/>
              <a:t>Carabaș</a:t>
            </a:r>
            <a:r>
              <a:rPr lang="ro-RO" altLang="ro-RO" sz="2400" dirty="0"/>
              <a:t> (CB), Răzvan </a:t>
            </a:r>
            <a:r>
              <a:rPr lang="ro-RO" altLang="ro-RO" sz="2400" dirty="0" err="1"/>
              <a:t>Deaconescu</a:t>
            </a:r>
            <a:r>
              <a:rPr lang="ro-RO" altLang="ro-RO" sz="2400" dirty="0"/>
              <a:t> (CC)</a:t>
            </a:r>
          </a:p>
          <a:p>
            <a:pPr eaLnBrk="1" hangingPunct="1">
              <a:lnSpc>
                <a:spcPct val="120000"/>
              </a:lnSpc>
            </a:pPr>
            <a:r>
              <a:rPr lang="ro-RO" altLang="ro-RO" sz="2800" dirty="0"/>
              <a:t>Coordonator curs: Mihai </a:t>
            </a:r>
            <a:r>
              <a:rPr lang="ro-RO" altLang="ro-RO" sz="2800" dirty="0" err="1"/>
              <a:t>Carabaș</a:t>
            </a:r>
            <a:endParaRPr lang="ro-RO" altLang="ro-RO" sz="2800" dirty="0"/>
          </a:p>
          <a:p>
            <a:pPr eaLnBrk="1" hangingPunct="1">
              <a:lnSpc>
                <a:spcPct val="120000"/>
              </a:lnSpc>
            </a:pPr>
            <a:r>
              <a:rPr lang="ro-RO" altLang="ro-RO" sz="2800" dirty="0">
                <a:cs typeface="Calibri" panose="020F0502020204030204" pitchFamily="34" charset="0"/>
              </a:rPr>
              <a:t>Laborator: 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sz="2400" dirty="0">
                <a:cs typeface="Calibri" panose="020F0502020204030204" pitchFamily="34" charset="0"/>
              </a:rPr>
              <a:t>Costin </a:t>
            </a:r>
            <a:r>
              <a:rPr lang="ro-RO" altLang="ro-RO" sz="2400" dirty="0" err="1">
                <a:cs typeface="Calibri" panose="020F0502020204030204" pitchFamily="34" charset="0"/>
              </a:rPr>
              <a:t>Carabaș</a:t>
            </a:r>
            <a:r>
              <a:rPr lang="ro-RO" altLang="ro-RO" sz="2400" dirty="0">
                <a:cs typeface="Calibri" panose="020F0502020204030204" pitchFamily="34" charset="0"/>
              </a:rPr>
              <a:t>, Răzvan Nițu, Răzvan </a:t>
            </a:r>
            <a:r>
              <a:rPr lang="ro-RO" altLang="ro-RO" sz="2400" dirty="0" err="1">
                <a:cs typeface="Calibri" panose="020F0502020204030204" pitchFamily="34" charset="0"/>
              </a:rPr>
              <a:t>Crainea</a:t>
            </a:r>
            <a:r>
              <a:rPr lang="ro-RO" altLang="ro-RO" sz="2400" dirty="0">
                <a:cs typeface="Calibri" panose="020F0502020204030204" pitchFamily="34" charset="0"/>
              </a:rPr>
              <a:t>, Elena Mihăilescu, Alexandru </a:t>
            </a:r>
            <a:r>
              <a:rPr lang="ro-RO" altLang="ro-RO" sz="2400" dirty="0" err="1">
                <a:cs typeface="Calibri" panose="020F0502020204030204" pitchFamily="34" charset="0"/>
              </a:rPr>
              <a:t>Jercăianu</a:t>
            </a:r>
            <a:r>
              <a:rPr lang="ro-RO" altLang="ro-RO" sz="2400" dirty="0">
                <a:cs typeface="Calibri" panose="020F0502020204030204" pitchFamily="34" charset="0"/>
              </a:rPr>
              <a:t>, Ioana Ciornei, Irina </a:t>
            </a:r>
            <a:r>
              <a:rPr lang="ro-RO" altLang="ro-RO" sz="2400" dirty="0" err="1">
                <a:cs typeface="Calibri" panose="020F0502020204030204" pitchFamily="34" charset="0"/>
              </a:rPr>
              <a:t>Preșa</a:t>
            </a:r>
            <a:r>
              <a:rPr lang="ro-RO" altLang="ro-RO" sz="2400" dirty="0">
                <a:cs typeface="Calibri" panose="020F0502020204030204" pitchFamily="34" charset="0"/>
              </a:rPr>
              <a:t>, Alexandru Rotaru, George Muraru, Octavian Grigorescu, Iustin Dumitrescu, Costin Lupu, Mihai Bărbulescu, Adrian </a:t>
            </a:r>
            <a:r>
              <a:rPr lang="ro-RO" altLang="ro-RO" sz="2400" dirty="0" err="1">
                <a:cs typeface="Calibri" panose="020F0502020204030204" pitchFamily="34" charset="0"/>
              </a:rPr>
              <a:t>Șendroiu</a:t>
            </a:r>
            <a:r>
              <a:rPr lang="ro-RO" altLang="ro-RO" sz="2400" dirty="0">
                <a:cs typeface="Calibri" panose="020F0502020204030204" pitchFamily="34" charset="0"/>
              </a:rPr>
              <a:t>, Vladimir Diaconescu, Darius Mihai, Vladimir Olteanu, Bogdan </a:t>
            </a:r>
            <a:r>
              <a:rPr lang="ro-RO" altLang="ro-RO" sz="2400" dirty="0" err="1">
                <a:cs typeface="Calibri" panose="020F0502020204030204" pitchFamily="34" charset="0"/>
              </a:rPr>
              <a:t>Purcareata</a:t>
            </a:r>
            <a:r>
              <a:rPr lang="ro-RO" altLang="ro-RO" sz="2400" dirty="0">
                <a:cs typeface="Calibri" panose="020F0502020204030204" pitchFamily="34" charset="0"/>
              </a:rPr>
              <a:t>, Alex Morega</a:t>
            </a:r>
          </a:p>
          <a:p>
            <a:pPr eaLnBrk="1" hangingPunct="1">
              <a:lnSpc>
                <a:spcPct val="120000"/>
              </a:lnSpc>
            </a:pPr>
            <a:r>
              <a:rPr lang="ro-RO" altLang="ro-RO" sz="2800" dirty="0"/>
              <a:t>Colaboratori: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sz="2400" dirty="0"/>
              <a:t>Robert </a:t>
            </a:r>
            <a:r>
              <a:rPr lang="ro-RO" altLang="ro-RO" sz="2400" dirty="0" err="1"/>
              <a:t>Baronescu</a:t>
            </a:r>
            <a:endParaRPr lang="ro-RO" altLang="ro-RO" sz="2400" dirty="0"/>
          </a:p>
        </p:txBody>
      </p:sp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7B7D5A04-802F-1D4C-8C41-9001B5929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9E423C-BFB1-B44A-9C3E-86716D870A17}" type="slidenum">
              <a:rPr lang="ro-RO" altLang="ro-RO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ro-RO" altLang="ro-RO" sz="12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511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3">
            <a:extLst>
              <a:ext uri="{FF2B5EF4-FFF2-40B4-BE49-F238E27FC236}">
                <a16:creationId xmlns:a16="http://schemas.microsoft.com/office/drawing/2014/main" id="{9E4C5503-784B-AD4F-8EAB-C6C1128A3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Cursuri de SO</a:t>
            </a:r>
            <a:endParaRPr lang="en-US" altLang="ro-RO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0F8F43-9650-4A79-9F67-DE0947055E39}"/>
              </a:ext>
            </a:extLst>
          </p:cNvPr>
          <p:cNvSpPr/>
          <p:nvPr/>
        </p:nvSpPr>
        <p:spPr>
          <a:xfrm>
            <a:off x="1600200" y="1752600"/>
            <a:ext cx="5715000" cy="990600"/>
          </a:xfrm>
          <a:prstGeom prst="rect">
            <a:avLst/>
          </a:prstGeom>
          <a:noFill/>
          <a:ln w="50800" cap="rnd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400" b="1" dirty="0">
                <a:solidFill>
                  <a:schemeClr val="accent6"/>
                </a:solidFill>
              </a:rPr>
              <a:t>USO</a:t>
            </a:r>
            <a:endParaRPr lang="en-US" sz="2400" b="1" dirty="0">
              <a:solidFill>
                <a:schemeClr val="accent6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1CF952-787E-40A4-A153-A249213FF2BB}"/>
              </a:ext>
            </a:extLst>
          </p:cNvPr>
          <p:cNvSpPr/>
          <p:nvPr/>
        </p:nvSpPr>
        <p:spPr>
          <a:xfrm>
            <a:off x="1600200" y="3352800"/>
            <a:ext cx="5715000" cy="990600"/>
          </a:xfrm>
          <a:prstGeom prst="rect">
            <a:avLst/>
          </a:prstGeom>
          <a:noFill/>
          <a:ln w="50800" cap="rnd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400" b="1" dirty="0">
                <a:solidFill>
                  <a:srgbClr val="00B050"/>
                </a:solidFill>
              </a:rPr>
              <a:t>SO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F57DBC-0E79-4451-A0F3-BAE0BB4F89B5}"/>
              </a:ext>
            </a:extLst>
          </p:cNvPr>
          <p:cNvSpPr/>
          <p:nvPr/>
        </p:nvSpPr>
        <p:spPr>
          <a:xfrm>
            <a:off x="1600200" y="4953000"/>
            <a:ext cx="5715000" cy="990600"/>
          </a:xfrm>
          <a:prstGeom prst="rect">
            <a:avLst/>
          </a:prstGeom>
          <a:noFill/>
          <a:ln w="50800" cap="rnd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o-RO" sz="2400" b="1" dirty="0">
                <a:solidFill>
                  <a:srgbClr val="FF0000"/>
                </a:solidFill>
              </a:rPr>
              <a:t>SO2</a:t>
            </a:r>
            <a:endParaRPr lang="en-US" sz="2400" b="1" dirty="0">
              <a:solidFill>
                <a:srgbClr val="FF0000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8DD4D8-0A6D-4BD6-A227-EA975AEE6310}"/>
              </a:ext>
            </a:extLst>
          </p:cNvPr>
          <p:cNvCxnSpPr/>
          <p:nvPr/>
        </p:nvCxnSpPr>
        <p:spPr>
          <a:xfrm>
            <a:off x="609600" y="4648200"/>
            <a:ext cx="8077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19" name="TextBox 10">
            <a:extLst>
              <a:ext uri="{FF2B5EF4-FFF2-40B4-BE49-F238E27FC236}">
                <a16:creationId xmlns:a16="http://schemas.microsoft.com/office/drawing/2014/main" id="{1B41D1E2-B945-5240-88C1-728760BEE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724400"/>
            <a:ext cx="13557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kernel space</a:t>
            </a:r>
            <a:endParaRPr lang="en-US" altLang="ro-RO" sz="1800"/>
          </a:p>
        </p:txBody>
      </p:sp>
      <p:sp>
        <p:nvSpPr>
          <p:cNvPr id="13320" name="TextBox 11">
            <a:extLst>
              <a:ext uri="{FF2B5EF4-FFF2-40B4-BE49-F238E27FC236}">
                <a16:creationId xmlns:a16="http://schemas.microsoft.com/office/drawing/2014/main" id="{9E7BF057-FA3D-F54D-AA08-5826D68A2C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191000"/>
            <a:ext cx="1179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user space</a:t>
            </a:r>
            <a:endParaRPr lang="en-US" altLang="ro-RO" sz="1800"/>
          </a:p>
        </p:txBody>
      </p:sp>
      <p:sp>
        <p:nvSpPr>
          <p:cNvPr id="13321" name="TextBox 12">
            <a:extLst>
              <a:ext uri="{FF2B5EF4-FFF2-40B4-BE49-F238E27FC236}">
                <a16:creationId xmlns:a16="http://schemas.microsoft.com/office/drawing/2014/main" id="{578ED5FA-F38F-DB4A-AAC9-C206504D89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3657600"/>
            <a:ext cx="1195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system API</a:t>
            </a:r>
            <a:endParaRPr lang="en-US" altLang="ro-RO" sz="1800"/>
          </a:p>
        </p:txBody>
      </p:sp>
      <p:sp>
        <p:nvSpPr>
          <p:cNvPr id="13322" name="TextBox 13">
            <a:extLst>
              <a:ext uri="{FF2B5EF4-FFF2-40B4-BE49-F238E27FC236}">
                <a16:creationId xmlns:a16="http://schemas.microsoft.com/office/drawing/2014/main" id="{A8EDEADE-031D-8746-B31D-9CD7C6B2F8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2057400"/>
            <a:ext cx="1477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user interface</a:t>
            </a:r>
            <a:endParaRPr lang="en-US" altLang="ro-RO" sz="1800"/>
          </a:p>
        </p:txBody>
      </p:sp>
      <p:sp>
        <p:nvSpPr>
          <p:cNvPr id="13323" name="Slide Number Placeholder 14">
            <a:extLst>
              <a:ext uri="{FF2B5EF4-FFF2-40B4-BE49-F238E27FC236}">
                <a16:creationId xmlns:a16="http://schemas.microsoft.com/office/drawing/2014/main" id="{2C5AE0C5-B025-0C4D-AEF6-6199A269F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CF71ED-2661-3F4A-865A-2E49789FDF91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7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356A8D9-EDEE-5944-96A7-248FE1DB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Legături cu alte discipline</a:t>
            </a:r>
            <a:endParaRPr lang="en-US" altLang="ro-RO"/>
          </a:p>
        </p:txBody>
      </p:sp>
      <p:sp>
        <p:nvSpPr>
          <p:cNvPr id="14339" name="Text Placeholder 3">
            <a:extLst>
              <a:ext uri="{FF2B5EF4-FFF2-40B4-BE49-F238E27FC236}">
                <a16:creationId xmlns:a16="http://schemas.microsoft.com/office/drawing/2014/main" id="{7C4FD00D-BA66-F54B-90CB-10A81E5894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Cunoștințe utile din</a:t>
            </a:r>
            <a:endParaRPr lang="en-US" altLang="ro-RO"/>
          </a:p>
        </p:txBody>
      </p:sp>
      <p:sp>
        <p:nvSpPr>
          <p:cNvPr id="14340" name="Content Placeholder 4">
            <a:extLst>
              <a:ext uri="{FF2B5EF4-FFF2-40B4-BE49-F238E27FC236}">
                <a16:creationId xmlns:a16="http://schemas.microsoft.com/office/drawing/2014/main" id="{1730B479-9364-9A4A-B007-E4E8952433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USO</a:t>
            </a:r>
          </a:p>
          <a:p>
            <a:pPr eaLnBrk="1" hangingPunct="1"/>
            <a:r>
              <a:rPr lang="ro-RO" altLang="ro-RO"/>
              <a:t>Programare</a:t>
            </a:r>
          </a:p>
          <a:p>
            <a:pPr eaLnBrk="1" hangingPunct="1"/>
            <a:r>
              <a:rPr lang="ro-RO" altLang="ro-RO"/>
              <a:t>SD</a:t>
            </a:r>
          </a:p>
          <a:p>
            <a:pPr eaLnBrk="1" hangingPunct="1"/>
            <a:r>
              <a:rPr lang="ro-RO" altLang="ro-RO"/>
              <a:t>IOCLA</a:t>
            </a:r>
          </a:p>
          <a:p>
            <a:pPr eaLnBrk="1" hangingPunct="1"/>
            <a:r>
              <a:rPr lang="ro-RO" altLang="ro-RO"/>
              <a:t>CN</a:t>
            </a:r>
          </a:p>
          <a:p>
            <a:pPr eaLnBrk="1" hangingPunct="1"/>
            <a:r>
              <a:rPr lang="ro-RO" altLang="ro-RO"/>
              <a:t>PC</a:t>
            </a:r>
            <a:endParaRPr lang="en-US" altLang="ro-RO"/>
          </a:p>
        </p:txBody>
      </p:sp>
      <p:sp>
        <p:nvSpPr>
          <p:cNvPr id="14341" name="Text Placeholder 5">
            <a:extLst>
              <a:ext uri="{FF2B5EF4-FFF2-40B4-BE49-F238E27FC236}">
                <a16:creationId xmlns:a16="http://schemas.microsoft.com/office/drawing/2014/main" id="{328D6074-442E-964D-9F0F-F889DC31C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Cunoștințe utile pentru</a:t>
            </a:r>
            <a:endParaRPr lang="en-US" altLang="ro-RO"/>
          </a:p>
        </p:txBody>
      </p:sp>
      <p:sp>
        <p:nvSpPr>
          <p:cNvPr id="14342" name="Content Placeholder 6">
            <a:extLst>
              <a:ext uri="{FF2B5EF4-FFF2-40B4-BE49-F238E27FC236}">
                <a16:creationId xmlns:a16="http://schemas.microsoft.com/office/drawing/2014/main" id="{0EE97FEB-A550-CB46-B326-507FB1950B7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SO2</a:t>
            </a:r>
          </a:p>
          <a:p>
            <a:pPr eaLnBrk="1" hangingPunct="1"/>
            <a:r>
              <a:rPr lang="ro-RO" altLang="ro-RO"/>
              <a:t>CPL</a:t>
            </a:r>
          </a:p>
          <a:p>
            <a:pPr eaLnBrk="1" hangingPunct="1"/>
            <a:r>
              <a:rPr lang="ro-RO" altLang="ro-RO"/>
              <a:t>BD</a:t>
            </a:r>
          </a:p>
          <a:p>
            <a:pPr eaLnBrk="1" hangingPunct="1"/>
            <a:r>
              <a:rPr lang="ro-RO" altLang="ro-RO"/>
              <a:t>APP</a:t>
            </a:r>
          </a:p>
          <a:p>
            <a:pPr eaLnBrk="1" hangingPunct="1"/>
            <a:r>
              <a:rPr lang="ro-RO" altLang="ro-RO"/>
              <a:t>SPRC</a:t>
            </a:r>
            <a:endParaRPr lang="en-US" altLang="ro-RO"/>
          </a:p>
        </p:txBody>
      </p:sp>
      <p:sp>
        <p:nvSpPr>
          <p:cNvPr id="14343" name="Slide Number Placeholder 7">
            <a:extLst>
              <a:ext uri="{FF2B5EF4-FFF2-40B4-BE49-F238E27FC236}">
                <a16:creationId xmlns:a16="http://schemas.microsoft.com/office/drawing/2014/main" id="{677D48FC-53C0-3C4B-8201-7002D115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108C2B-078F-F542-8778-87850BA754E3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025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Bibliografie</a:t>
            </a:r>
            <a:endParaRPr lang="fr-F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305800" cy="487679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Andrew Tanenbaum</a:t>
            </a:r>
            <a:r>
              <a:rPr lang="en-US" dirty="0"/>
              <a:t>, </a:t>
            </a:r>
            <a:r>
              <a:rPr lang="en-US" i="1" dirty="0"/>
              <a:t>Modern Operating Systems, 2</a:t>
            </a:r>
            <a:r>
              <a:rPr lang="en-US" i="1" baseline="30000" dirty="0"/>
              <a:t>nd</a:t>
            </a:r>
            <a:r>
              <a:rPr lang="en-US" i="1" dirty="0"/>
              <a:t> Edition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dirty="0"/>
              <a:t>A. </a:t>
            </a:r>
            <a:r>
              <a:rPr lang="en-US" b="1" dirty="0" err="1"/>
              <a:t>Silberschatz</a:t>
            </a:r>
            <a:r>
              <a:rPr lang="en-US" b="1" dirty="0"/>
              <a:t>, P. Baer Galvin, G. Gagne</a:t>
            </a:r>
            <a:r>
              <a:rPr lang="en-US" dirty="0"/>
              <a:t>, </a:t>
            </a:r>
            <a:r>
              <a:rPr lang="en-US" i="1" dirty="0"/>
              <a:t>Operating Systems Concepts</a:t>
            </a:r>
            <a:r>
              <a:rPr lang="en-US" dirty="0"/>
              <a:t>, 9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  <a:endParaRPr lang="en-US" b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b="1" dirty="0"/>
              <a:t>Michael </a:t>
            </a:r>
            <a:r>
              <a:rPr lang="en-US" b="1" dirty="0" err="1"/>
              <a:t>Kerrisk</a:t>
            </a:r>
            <a:r>
              <a:rPr lang="en-US" dirty="0"/>
              <a:t>, </a:t>
            </a:r>
            <a:r>
              <a:rPr lang="en-US" i="1" dirty="0"/>
              <a:t>The Linux Programming Interface</a:t>
            </a:r>
            <a:r>
              <a:rPr lang="en-US" dirty="0"/>
              <a:t>, </a:t>
            </a:r>
            <a:endParaRPr lang="en-US" b="1" dirty="0"/>
          </a:p>
          <a:p>
            <a:pPr marL="0" indent="0">
              <a:buNone/>
            </a:pPr>
            <a:br>
              <a:rPr lang="ro-RO" dirty="0"/>
            </a:br>
            <a:r>
              <a:rPr lang="ro-RO" b="1" dirty="0"/>
              <a:t>Johnson H. </a:t>
            </a:r>
            <a:r>
              <a:rPr lang="ro-RO" b="1" dirty="0" err="1"/>
              <a:t>Hart</a:t>
            </a:r>
            <a:r>
              <a:rPr lang="ro-RO" dirty="0"/>
              <a:t>, </a:t>
            </a:r>
            <a:r>
              <a:rPr lang="ro-RO" i="1" dirty="0"/>
              <a:t>Windows </a:t>
            </a:r>
            <a:r>
              <a:rPr lang="ro-RO" i="1" dirty="0" err="1"/>
              <a:t>System</a:t>
            </a:r>
            <a:r>
              <a:rPr lang="ro-RO" i="1" dirty="0"/>
              <a:t> </a:t>
            </a:r>
            <a:r>
              <a:rPr lang="ro-RO" i="1" dirty="0" err="1"/>
              <a:t>Programming</a:t>
            </a:r>
            <a:r>
              <a:rPr lang="ro-RO" dirty="0"/>
              <a:t>, 4</a:t>
            </a:r>
            <a:r>
              <a:rPr lang="ro-RO" baseline="30000" dirty="0"/>
              <a:t>th</a:t>
            </a:r>
            <a:r>
              <a:rPr lang="ro-RO" dirty="0"/>
              <a:t> </a:t>
            </a:r>
            <a:r>
              <a:rPr lang="ro-RO" dirty="0" err="1"/>
              <a:t>Edition</a:t>
            </a:r>
            <a:endParaRPr lang="ro-RO" i="1" dirty="0"/>
          </a:p>
          <a:p>
            <a:pPr marL="0" indent="0">
              <a:buNone/>
            </a:pPr>
            <a:endParaRPr lang="ro-R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418BB-E4C0-5F40-9F79-1ECC8F6C6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A51B2940-A0C9-8D43-9A56-42F52AB2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/>
              <a:t>Bibliografie suplimentară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2B6DC1F7-336D-724C-ADE3-7C9B9426C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 dirty="0" err="1"/>
              <a:t>Beginning</a:t>
            </a:r>
            <a:r>
              <a:rPr lang="ro-RO" altLang="ro-RO" dirty="0"/>
              <a:t> Linux </a:t>
            </a:r>
            <a:r>
              <a:rPr lang="ro-RO" altLang="ro-RO" dirty="0" err="1"/>
              <a:t>Programming</a:t>
            </a:r>
            <a:endParaRPr lang="ro-RO" altLang="ro-RO" dirty="0"/>
          </a:p>
          <a:p>
            <a:pPr eaLnBrk="1" hangingPunct="1"/>
            <a:r>
              <a:rPr lang="ro-RO" altLang="ro-RO" dirty="0" err="1"/>
              <a:t>Advanced</a:t>
            </a:r>
            <a:r>
              <a:rPr lang="ro-RO" altLang="ro-RO" dirty="0"/>
              <a:t> </a:t>
            </a:r>
            <a:r>
              <a:rPr lang="ro-RO" altLang="ro-RO" dirty="0" err="1"/>
              <a:t>Programming</a:t>
            </a:r>
            <a:r>
              <a:rPr lang="ro-RO" altLang="ro-RO" dirty="0"/>
              <a:t> in </a:t>
            </a:r>
            <a:r>
              <a:rPr lang="ro-RO" altLang="ro-RO" dirty="0" err="1"/>
              <a:t>the</a:t>
            </a:r>
            <a:r>
              <a:rPr lang="ro-RO" altLang="ro-RO" dirty="0"/>
              <a:t> Unix </a:t>
            </a:r>
            <a:r>
              <a:rPr lang="ro-RO" altLang="ro-RO" dirty="0" err="1"/>
              <a:t>Environment</a:t>
            </a:r>
            <a:endParaRPr lang="ro-RO" altLang="ro-RO" dirty="0"/>
          </a:p>
          <a:p>
            <a:pPr eaLnBrk="1" hangingPunct="1"/>
            <a:r>
              <a:rPr lang="ro-RO" altLang="ro-RO" dirty="0"/>
              <a:t>Linux </a:t>
            </a:r>
            <a:r>
              <a:rPr lang="ro-RO" altLang="ro-RO" dirty="0" err="1"/>
              <a:t>System</a:t>
            </a:r>
            <a:r>
              <a:rPr lang="ro-RO" altLang="ro-RO" dirty="0"/>
              <a:t> </a:t>
            </a:r>
            <a:r>
              <a:rPr lang="ro-RO" altLang="ro-RO" dirty="0" err="1"/>
              <a:t>Programming</a:t>
            </a:r>
            <a:endParaRPr lang="ro-RO" altLang="ro-RO" dirty="0"/>
          </a:p>
          <a:p>
            <a:pPr eaLnBrk="1" hangingPunct="1"/>
            <a:r>
              <a:rPr lang="ro-RO" altLang="ro-RO" dirty="0"/>
              <a:t>Win32 </a:t>
            </a:r>
            <a:r>
              <a:rPr lang="ro-RO" altLang="ro-RO" dirty="0" err="1"/>
              <a:t>Programming</a:t>
            </a:r>
            <a:endParaRPr lang="ro-RO" altLang="ro-RO" dirty="0"/>
          </a:p>
          <a:p>
            <a:pPr eaLnBrk="1" hangingPunct="1"/>
            <a:r>
              <a:rPr lang="ro-RO" altLang="ro-RO" dirty="0" err="1"/>
              <a:t>Programming</a:t>
            </a:r>
            <a:r>
              <a:rPr lang="ro-RO" altLang="ro-RO" dirty="0"/>
              <a:t> Windows</a:t>
            </a:r>
          </a:p>
          <a:p>
            <a:pPr eaLnBrk="1" hangingPunct="1"/>
            <a:r>
              <a:rPr lang="ro-RO" altLang="ro-RO" dirty="0" err="1"/>
              <a:t>Linkers</a:t>
            </a:r>
            <a:r>
              <a:rPr lang="ro-RO" altLang="ro-RO" dirty="0"/>
              <a:t> </a:t>
            </a:r>
            <a:r>
              <a:rPr lang="ro-RO" altLang="ro-RO" dirty="0" err="1"/>
              <a:t>and</a:t>
            </a:r>
            <a:r>
              <a:rPr lang="ro-RO" altLang="ro-RO" dirty="0"/>
              <a:t> </a:t>
            </a:r>
            <a:r>
              <a:rPr lang="ro-RO" altLang="ro-RO" dirty="0" err="1"/>
              <a:t>Loaders</a:t>
            </a:r>
            <a:endParaRPr lang="ro-RO" altLang="ro-RO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93EAEAE2-6656-FA45-AC42-0208CBDE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546FB8-44E9-3E48-B65D-514D740A0285}" type="slidenum">
              <a:rPr lang="ro-RO" altLang="ro-RO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ro-RO" altLang="ro-RO" sz="12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945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3B090020-63A1-BE46-BDC7-459B52A90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Resursele cursului de SO</a:t>
            </a:r>
            <a:endParaRPr lang="en-US" altLang="ro-RO"/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D30126D6-9732-E94A-9FEC-B292249D1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110000"/>
              </a:lnSpc>
            </a:pPr>
            <a:r>
              <a:rPr lang="ro-RO" altLang="ro-RO" sz="3000" dirty="0"/>
              <a:t>echipa</a:t>
            </a:r>
          </a:p>
          <a:p>
            <a:pPr eaLnBrk="1" hangingPunct="1">
              <a:lnSpc>
                <a:spcPct val="110000"/>
              </a:lnSpc>
            </a:pPr>
            <a:r>
              <a:rPr lang="ro-RO" altLang="ro-RO" sz="3000" dirty="0" err="1"/>
              <a:t>wiki</a:t>
            </a:r>
            <a:r>
              <a:rPr lang="ro-RO" altLang="ro-RO" sz="3000" dirty="0"/>
              <a:t>: </a:t>
            </a:r>
            <a:r>
              <a:rPr lang="ro-RO" altLang="ro-RO" sz="3000" dirty="0">
                <a:hlinkClick r:id="rId2"/>
              </a:rPr>
              <a:t>http://ocw.cs.pub.ro/courses/so/</a:t>
            </a:r>
            <a:endParaRPr lang="ro-RO" altLang="ro-RO" sz="3000" dirty="0"/>
          </a:p>
          <a:p>
            <a:pPr eaLnBrk="1" hangingPunct="1">
              <a:lnSpc>
                <a:spcPct val="110000"/>
              </a:lnSpc>
            </a:pPr>
            <a:r>
              <a:rPr lang="ro-RO" altLang="ro-RO" sz="3000" dirty="0" err="1"/>
              <a:t>moodle</a:t>
            </a:r>
            <a:r>
              <a:rPr lang="ro-RO" altLang="ro-RO" sz="3000" dirty="0"/>
              <a:t>: </a:t>
            </a:r>
            <a:r>
              <a:rPr lang="ro-RO" altLang="ro-RO" sz="3000" dirty="0">
                <a:hlinkClick r:id="rId3"/>
              </a:rPr>
              <a:t>http://cs.curs.pub.ro</a:t>
            </a:r>
            <a:endParaRPr lang="ro-RO" altLang="ro-RO" sz="3000" dirty="0"/>
          </a:p>
          <a:p>
            <a:pPr eaLnBrk="1" hangingPunct="1">
              <a:lnSpc>
                <a:spcPct val="110000"/>
              </a:lnSpc>
            </a:pPr>
            <a:r>
              <a:rPr lang="ro-RO" altLang="ro-RO" sz="3000" dirty="0"/>
              <a:t>listă de discuții</a:t>
            </a:r>
          </a:p>
          <a:p>
            <a:pPr eaLnBrk="1" hangingPunct="1">
              <a:lnSpc>
                <a:spcPct val="110000"/>
              </a:lnSpc>
            </a:pPr>
            <a:r>
              <a:rPr lang="ro-RO" altLang="ro-RO" sz="3000" dirty="0" err="1"/>
              <a:t>slide</a:t>
            </a:r>
            <a:r>
              <a:rPr lang="ro-RO" altLang="ro-RO" sz="3000" dirty="0"/>
              <a:t>-uri cursuri</a:t>
            </a:r>
          </a:p>
          <a:p>
            <a:pPr eaLnBrk="1" hangingPunct="1">
              <a:lnSpc>
                <a:spcPct val="110000"/>
              </a:lnSpc>
            </a:pPr>
            <a:r>
              <a:rPr lang="ro-RO" altLang="ro-RO" sz="3000" dirty="0"/>
              <a:t>catalog și calendar Google</a:t>
            </a:r>
          </a:p>
          <a:p>
            <a:pPr eaLnBrk="1" hangingPunct="1">
              <a:lnSpc>
                <a:spcPct val="110000"/>
              </a:lnSpc>
            </a:pPr>
            <a:r>
              <a:rPr lang="ro-RO" altLang="ro-RO" sz="3000" dirty="0"/>
              <a:t>mașini virtuale</a:t>
            </a:r>
          </a:p>
          <a:p>
            <a:pPr eaLnBrk="1" hangingPunct="1">
              <a:lnSpc>
                <a:spcPct val="110000"/>
              </a:lnSpc>
            </a:pPr>
            <a:r>
              <a:rPr lang="ro-RO" altLang="ro-RO" sz="3000" dirty="0"/>
              <a:t>interfața </a:t>
            </a:r>
            <a:r>
              <a:rPr lang="ro-RO" altLang="ro-RO" sz="3000" dirty="0" err="1"/>
              <a:t>vmchecker</a:t>
            </a:r>
            <a:endParaRPr lang="ro-RO" altLang="ro-RO" sz="3000" dirty="0"/>
          </a:p>
          <a:p>
            <a:pPr eaLnBrk="1" hangingPunct="1">
              <a:lnSpc>
                <a:spcPct val="110000"/>
              </a:lnSpc>
            </a:pPr>
            <a:r>
              <a:rPr lang="ro-RO" altLang="ro-RO" sz="3000" dirty="0"/>
              <a:t>documentație</a:t>
            </a:r>
          </a:p>
          <a:p>
            <a:pPr eaLnBrk="1" hangingPunct="1">
              <a:lnSpc>
                <a:spcPct val="110000"/>
              </a:lnSpc>
            </a:pPr>
            <a:r>
              <a:rPr lang="ro-RO" altLang="ro-RO" sz="3000" dirty="0"/>
              <a:t>pagina de Facebook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9EB6AF71-C8F1-5649-B28D-4BCCB0A0E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4268DA-981E-6A46-A209-076C6E3175DF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614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E4FE627-853F-2C4E-82A8-D357E9BA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Comunitatea SO</a:t>
            </a:r>
            <a:endParaRPr lang="en-US" altLang="ro-RO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4E3A8B12-CA4A-3F42-A44C-BFFAC0973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 dirty="0"/>
              <a:t>întrebări, discuții, sugestii, feedback</a:t>
            </a:r>
          </a:p>
          <a:p>
            <a:pPr eaLnBrk="1" hangingPunct="1"/>
            <a:r>
              <a:rPr lang="ro-RO" altLang="ro-RO" dirty="0"/>
              <a:t>live (cursuri, laboratoare), listă, Facebook</a:t>
            </a:r>
          </a:p>
          <a:p>
            <a:pPr lvl="1" eaLnBrk="1" hangingPunct="1"/>
            <a:r>
              <a:rPr lang="ro-RO" altLang="ro-RO" dirty="0"/>
              <a:t>să parcurgeți indicațiile de comunicare pe listă</a:t>
            </a:r>
          </a:p>
          <a:p>
            <a:pPr eaLnBrk="1" hangingPunct="1"/>
            <a:r>
              <a:rPr lang="ro-RO" altLang="ro-RO" dirty="0"/>
              <a:t>colaborare în timpul laboratorului</a:t>
            </a:r>
          </a:p>
          <a:p>
            <a:pPr lvl="1" eaLnBrk="1" hangingPunct="1"/>
            <a:r>
              <a:rPr lang="ro-RO" altLang="ro-RO" dirty="0"/>
              <a:t>încurajăm să discutați și vă ajutați între voi</a:t>
            </a:r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C59F2572-1039-D040-A0B2-C6B1301D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204C66-9F89-394A-B463-B0CCFBC3A1DF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9854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5F54C271-8DCE-4247-A85C-786C9C456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/>
              <a:t>Conținut</a:t>
            </a:r>
          </a:p>
        </p:txBody>
      </p:sp>
      <p:sp>
        <p:nvSpPr>
          <p:cNvPr id="29698" name="Text Placeholder 2">
            <a:extLst>
              <a:ext uri="{FF2B5EF4-FFF2-40B4-BE49-F238E27FC236}">
                <a16:creationId xmlns:a16="http://schemas.microsoft.com/office/drawing/2014/main" id="{835ADF3C-F0C8-8449-97C1-E02BB5067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 dirty="0"/>
              <a:t>Cursuri</a:t>
            </a:r>
          </a:p>
        </p:txBody>
      </p:sp>
      <p:sp>
        <p:nvSpPr>
          <p:cNvPr id="29699" name="Content Placeholder 3">
            <a:extLst>
              <a:ext uri="{FF2B5EF4-FFF2-40B4-BE49-F238E27FC236}">
                <a16:creationId xmlns:a16="http://schemas.microsoft.com/office/drawing/2014/main" id="{9911CC36-1B6A-1749-9269-77C0BB3946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o-RO" altLang="ro-RO" dirty="0"/>
              <a:t>14 cursuri</a:t>
            </a:r>
          </a:p>
          <a:p>
            <a:pPr lvl="1"/>
            <a:r>
              <a:rPr lang="ro-RO" altLang="ro-RO" dirty="0"/>
              <a:t>7 cursuri practice</a:t>
            </a:r>
          </a:p>
          <a:p>
            <a:r>
              <a:rPr lang="ro-RO" altLang="ro-RO" dirty="0" err="1"/>
              <a:t>slide</a:t>
            </a:r>
            <a:r>
              <a:rPr lang="ro-RO" altLang="ro-RO" dirty="0"/>
              <a:t>-uri</a:t>
            </a:r>
          </a:p>
          <a:p>
            <a:r>
              <a:rPr lang="ro-RO" altLang="ro-RO" dirty="0"/>
              <a:t>suport bibliografic</a:t>
            </a:r>
          </a:p>
          <a:p>
            <a:pPr lvl="1"/>
            <a:r>
              <a:rPr lang="ro-RO" altLang="ro-RO" dirty="0"/>
              <a:t>foarte important de parcurs</a:t>
            </a:r>
          </a:p>
          <a:p>
            <a:r>
              <a:rPr lang="ro-RO" altLang="ro-RO" dirty="0"/>
              <a:t>bogat în informații</a:t>
            </a:r>
          </a:p>
          <a:p>
            <a:r>
              <a:rPr lang="ro-RO" altLang="ro-RO" dirty="0"/>
              <a:t>interactiv</a:t>
            </a:r>
            <a:endParaRPr lang="en-US" altLang="ro-RO" dirty="0"/>
          </a:p>
          <a:p>
            <a:pPr lvl="1" eaLnBrk="1" hangingPunct="1"/>
            <a:endParaRPr lang="ro-RO" altLang="ro-RO" dirty="0"/>
          </a:p>
        </p:txBody>
      </p:sp>
      <p:sp>
        <p:nvSpPr>
          <p:cNvPr id="29700" name="Text Placeholder 4">
            <a:extLst>
              <a:ext uri="{FF2B5EF4-FFF2-40B4-BE49-F238E27FC236}">
                <a16:creationId xmlns:a16="http://schemas.microsoft.com/office/drawing/2014/main" id="{54FF137B-69BD-8D41-A10B-A6AD88E2FA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ro-RO" altLang="ro-RO" dirty="0"/>
              <a:t>Laboratoare</a:t>
            </a:r>
          </a:p>
        </p:txBody>
      </p:sp>
      <p:sp>
        <p:nvSpPr>
          <p:cNvPr id="29701" name="Content Placeholder 5">
            <a:extLst>
              <a:ext uri="{FF2B5EF4-FFF2-40B4-BE49-F238E27FC236}">
                <a16:creationId xmlns:a16="http://schemas.microsoft.com/office/drawing/2014/main" id="{B965863A-187B-1D49-A9F9-06EF2DAB6D3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o-RO" altLang="ro-RO" dirty="0"/>
              <a:t>12 laboratoare</a:t>
            </a:r>
          </a:p>
          <a:p>
            <a:pPr lvl="1"/>
            <a:r>
              <a:rPr lang="ro-RO" altLang="ro-RO" dirty="0"/>
              <a:t>corelate cursurilor</a:t>
            </a:r>
          </a:p>
          <a:p>
            <a:pPr lvl="1"/>
            <a:r>
              <a:rPr lang="ro-RO" altLang="ro-RO" dirty="0"/>
              <a:t>după curs</a:t>
            </a:r>
          </a:p>
          <a:p>
            <a:r>
              <a:rPr lang="ro-RO" altLang="ro-RO" dirty="0"/>
              <a:t>practice</a:t>
            </a:r>
          </a:p>
          <a:p>
            <a:r>
              <a:rPr lang="ro-RO" altLang="ro-RO" dirty="0"/>
              <a:t>joc, discuții, exerciții</a:t>
            </a:r>
          </a:p>
          <a:p>
            <a:r>
              <a:rPr lang="ro-RO" altLang="ro-RO" dirty="0" err="1"/>
              <a:t>tutorial</a:t>
            </a:r>
            <a:r>
              <a:rPr lang="ro-RO" altLang="ro-RO" dirty="0"/>
              <a:t>, task-</a:t>
            </a:r>
            <a:r>
              <a:rPr lang="ro-RO" altLang="ro-RO" dirty="0" err="1"/>
              <a:t>based</a:t>
            </a:r>
            <a:r>
              <a:rPr lang="ro-RO" altLang="ro-RO" dirty="0"/>
              <a:t>, </a:t>
            </a:r>
            <a:r>
              <a:rPr lang="ro-RO" altLang="ro-RO" dirty="0" err="1"/>
              <a:t>learn</a:t>
            </a:r>
            <a:r>
              <a:rPr lang="ro-RO" altLang="ro-RO" dirty="0"/>
              <a:t> </a:t>
            </a:r>
            <a:r>
              <a:rPr lang="ro-RO" altLang="ro-RO" dirty="0" err="1"/>
              <a:t>by</a:t>
            </a:r>
            <a:r>
              <a:rPr lang="ro-RO" altLang="ro-RO" dirty="0"/>
              <a:t> </a:t>
            </a:r>
            <a:r>
              <a:rPr lang="ro-RO" altLang="ro-RO" dirty="0" err="1"/>
              <a:t>doing</a:t>
            </a:r>
            <a:endParaRPr lang="ro-RO" altLang="ro-RO" dirty="0"/>
          </a:p>
          <a:p>
            <a:r>
              <a:rPr lang="ro-RO" altLang="ro-RO" dirty="0"/>
              <a:t>încurajăm colaborarea</a:t>
            </a:r>
            <a:endParaRPr lang="en-US" altLang="ro-RO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8E05B1-7DA1-5940-B204-0DFBAA599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9</a:t>
            </a:fld>
            <a:endParaRPr lang="ro-RO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27C82A5-9C29-7647-9FCF-F88F491FB64F}"/>
              </a:ext>
            </a:extLst>
          </p:cNvPr>
          <p:cNvGrpSpPr/>
          <p:nvPr/>
        </p:nvGrpSpPr>
        <p:grpSpPr>
          <a:xfrm>
            <a:off x="1066800" y="4876800"/>
            <a:ext cx="2981185" cy="1363421"/>
            <a:chOff x="1578396" y="2336883"/>
            <a:chExt cx="6339288" cy="289922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47A83AF-3A44-844B-89A9-A66D3C118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4507" y="2729865"/>
              <a:ext cx="1242906" cy="139827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2205699-88D8-3243-984D-A9DCCC7A3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88135" y="2336883"/>
              <a:ext cx="1730129" cy="2044699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2A5C59D-7BA5-634D-A7EA-DBEA2A4E5BDA}"/>
                </a:ext>
              </a:extLst>
            </p:cNvPr>
            <p:cNvSpPr/>
            <p:nvPr/>
          </p:nvSpPr>
          <p:spPr>
            <a:xfrm>
              <a:off x="1578396" y="4381584"/>
              <a:ext cx="2554192" cy="65446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ro-RO" altLang="ro-RO" sz="1400" dirty="0"/>
                <a:t>C Standard 11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642B25-25AA-1240-BA8C-9366B672F32B}"/>
                </a:ext>
              </a:extLst>
            </p:cNvPr>
            <p:cNvSpPr/>
            <p:nvPr/>
          </p:nvSpPr>
          <p:spPr>
            <a:xfrm>
              <a:off x="6187555" y="4581639"/>
              <a:ext cx="1730129" cy="65446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ro-RO" altLang="ro-RO" sz="1400"/>
                <a:t>Linux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6921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F97BB-AE3E-CA4B-BD06-E4539DD4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m-CH"/>
              <a:t>Cursuri Practice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5B94A80-F59E-FE46-92C7-E83DC0FAB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m-CH" b="1" dirty="0"/>
              <a:t>Explicații</a:t>
            </a:r>
          </a:p>
          <a:p>
            <a:r>
              <a:rPr lang="rm-CH" dirty="0"/>
              <a:t>Limbajul Rust</a:t>
            </a:r>
          </a:p>
          <a:p>
            <a:r>
              <a:rPr lang="rm-CH" dirty="0"/>
              <a:t>Bootare Bare Metal</a:t>
            </a:r>
          </a:p>
          <a:p>
            <a:pPr lvl="1"/>
            <a:r>
              <a:rPr lang="rm-CH" dirty="0"/>
              <a:t>C</a:t>
            </a:r>
          </a:p>
          <a:p>
            <a:pPr lvl="1"/>
            <a:r>
              <a:rPr lang="rm-CH" dirty="0"/>
              <a:t>Rust</a:t>
            </a:r>
          </a:p>
          <a:p>
            <a:r>
              <a:rPr lang="rm-CH" dirty="0"/>
              <a:t>Sisteme RTOS</a:t>
            </a:r>
          </a:p>
          <a:p>
            <a:pPr lvl="1"/>
            <a:r>
              <a:rPr lang="rm-CH" dirty="0"/>
              <a:t>FreeRTOS</a:t>
            </a:r>
          </a:p>
          <a:p>
            <a:pPr lvl="1"/>
            <a:r>
              <a:rPr lang="rm-CH" dirty="0"/>
              <a:t>Zephyr</a:t>
            </a:r>
          </a:p>
          <a:p>
            <a:pPr lvl="1"/>
            <a:r>
              <a:rPr lang="rm-CH" dirty="0"/>
              <a:t>TockOS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98E679-7C9A-CF44-B4DA-58F1A478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m-CH" smtClean="0"/>
              <a:pPr/>
              <a:t>10</a:t>
            </a:fld>
            <a:endParaRPr lang="rm-C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C7D428-99DB-8E4F-B671-0F374A565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543" y="1821686"/>
            <a:ext cx="1490295" cy="14902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1CB1E2C-EAFF-CC44-A953-8C4833E06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1896574"/>
            <a:ext cx="1270000" cy="127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AAA6B0F-4DB8-DD4D-BC56-AA2254ACB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4178883"/>
            <a:ext cx="261620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51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83E082C7-7192-1341-91FB-CFCDE8DA9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/>
              <a:t>Teme</a:t>
            </a:r>
          </a:p>
        </p:txBody>
      </p:sp>
      <p:sp>
        <p:nvSpPr>
          <p:cNvPr id="19459" name="Text Placeholder 2">
            <a:extLst>
              <a:ext uri="{FF2B5EF4-FFF2-40B4-BE49-F238E27FC236}">
                <a16:creationId xmlns:a16="http://schemas.microsoft.com/office/drawing/2014/main" id="{2A8F3A6E-CC44-4B42-BA67-2607AD3C0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 dirty="0"/>
              <a:t>Conținut</a:t>
            </a:r>
          </a:p>
        </p:txBody>
      </p:sp>
      <p:sp>
        <p:nvSpPr>
          <p:cNvPr id="19460" name="Content Placeholder 3">
            <a:extLst>
              <a:ext uri="{FF2B5EF4-FFF2-40B4-BE49-F238E27FC236}">
                <a16:creationId xmlns:a16="http://schemas.microsoft.com/office/drawing/2014/main" id="{1C9B3175-117C-4948-9C5E-CF3965D79A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ro-RO" altLang="ro-RO" dirty="0"/>
              <a:t>Cross-</a:t>
            </a:r>
            <a:r>
              <a:rPr lang="ro-RO" altLang="ro-RO" dirty="0" err="1"/>
              <a:t>platform</a:t>
            </a:r>
            <a:r>
              <a:rPr lang="ro-RO" altLang="ro-RO" dirty="0"/>
              <a:t> </a:t>
            </a:r>
            <a:r>
              <a:rPr lang="ro-RO" altLang="ro-RO" dirty="0" err="1"/>
              <a:t>development</a:t>
            </a:r>
            <a:endParaRPr lang="ro-RO" altLang="ro-RO" dirty="0"/>
          </a:p>
          <a:p>
            <a:pPr eaLnBrk="1" hangingPunct="1"/>
            <a:r>
              <a:rPr lang="ro-RO" altLang="ro-RO" dirty="0"/>
              <a:t>Mini-</a:t>
            </a:r>
            <a:r>
              <a:rPr lang="ro-RO" altLang="ro-RO" dirty="0" err="1"/>
              <a:t>shell</a:t>
            </a:r>
            <a:endParaRPr lang="ro-RO" altLang="ro-RO" dirty="0"/>
          </a:p>
          <a:p>
            <a:pPr eaLnBrk="1" hangingPunct="1"/>
            <a:r>
              <a:rPr lang="ro-RO" altLang="ro-RO" dirty="0"/>
              <a:t>Memorie virtuala</a:t>
            </a:r>
          </a:p>
          <a:p>
            <a:pPr eaLnBrk="1" hangingPunct="1"/>
            <a:r>
              <a:rPr lang="ro-RO" altLang="ro-RO" dirty="0"/>
              <a:t>Planificator de </a:t>
            </a:r>
            <a:r>
              <a:rPr lang="ro-RO" altLang="ro-RO" dirty="0" err="1"/>
              <a:t>thread</a:t>
            </a:r>
            <a:r>
              <a:rPr lang="ro-RO" altLang="ro-RO" dirty="0"/>
              <a:t>-uri</a:t>
            </a:r>
          </a:p>
          <a:p>
            <a:pPr eaLnBrk="1" hangingPunct="1"/>
            <a:r>
              <a:rPr lang="ro-RO" altLang="ro-RO" dirty="0"/>
              <a:t>Web server asincron</a:t>
            </a:r>
          </a:p>
        </p:txBody>
      </p:sp>
      <p:sp>
        <p:nvSpPr>
          <p:cNvPr id="19461" name="Text Placeholder 4">
            <a:extLst>
              <a:ext uri="{FF2B5EF4-FFF2-40B4-BE49-F238E27FC236}">
                <a16:creationId xmlns:a16="http://schemas.microsoft.com/office/drawing/2014/main" id="{20635373-7E32-E042-9CA7-020C246044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ro-RO" altLang="ro-RO" dirty="0"/>
              <a:t>Dezvoltare</a:t>
            </a:r>
          </a:p>
        </p:txBody>
      </p:sp>
      <p:sp>
        <p:nvSpPr>
          <p:cNvPr id="19462" name="Content Placeholder 5">
            <a:extLst>
              <a:ext uri="{FF2B5EF4-FFF2-40B4-BE49-F238E27FC236}">
                <a16:creationId xmlns:a16="http://schemas.microsoft.com/office/drawing/2014/main" id="{E8976558-BC68-664E-9570-902859BE425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/>
            <a:r>
              <a:rPr lang="ro-RO" altLang="ro-RO" dirty="0"/>
              <a:t>Linux și Windows</a:t>
            </a:r>
          </a:p>
          <a:p>
            <a:pPr eaLnBrk="1" hangingPunct="1"/>
            <a:r>
              <a:rPr lang="ro-RO" altLang="ro-RO" dirty="0"/>
              <a:t>aprofundare API</a:t>
            </a:r>
          </a:p>
          <a:p>
            <a:pPr eaLnBrk="1" hangingPunct="1"/>
            <a:r>
              <a:rPr lang="ro-RO" altLang="ro-RO" dirty="0"/>
              <a:t>8-20 de ore pe temă</a:t>
            </a:r>
          </a:p>
          <a:p>
            <a:pPr eaLnBrk="1" hangingPunct="1"/>
            <a:r>
              <a:rPr lang="ro-RO" altLang="ro-RO" dirty="0"/>
              <a:t>teste publice</a:t>
            </a:r>
          </a:p>
          <a:p>
            <a:pPr lvl="1" eaLnBrk="1" hangingPunct="1"/>
            <a:r>
              <a:rPr lang="ro-RO" altLang="ro-RO" dirty="0"/>
              <a:t>testare pe </a:t>
            </a:r>
            <a:r>
              <a:rPr lang="ro-RO" altLang="ro-RO" dirty="0" err="1"/>
              <a:t>vmchcker</a:t>
            </a:r>
            <a:endParaRPr lang="ro-RO" altLang="ro-RO" dirty="0"/>
          </a:p>
          <a:p>
            <a:pPr eaLnBrk="1" hangingPunct="1"/>
            <a:r>
              <a:rPr lang="ro-RO" altLang="ro-RO" dirty="0"/>
              <a:t>întrebări și suport pe listă</a:t>
            </a:r>
          </a:p>
        </p:txBody>
      </p:sp>
      <p:sp>
        <p:nvSpPr>
          <p:cNvPr id="19463" name="Slide Number Placeholder 6">
            <a:extLst>
              <a:ext uri="{FF2B5EF4-FFF2-40B4-BE49-F238E27FC236}">
                <a16:creationId xmlns:a16="http://schemas.microsoft.com/office/drawing/2014/main" id="{2FED5DD0-F8F3-5C4F-B33C-57FF984B2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EB5ECE-C7BC-254F-891F-6A7746B6F461}" type="slidenum">
              <a:rPr lang="ro-RO" altLang="ro-RO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ro-RO" altLang="ro-RO" sz="1200" dirty="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752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79C51014-8B1E-BF44-988F-8AD1E3C12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Despre rezolvare teme</a:t>
            </a:r>
            <a:endParaRPr lang="en-US" altLang="ro-RO"/>
          </a:p>
        </p:txBody>
      </p:sp>
      <p:sp>
        <p:nvSpPr>
          <p:cNvPr id="20483" name="Content Placeholder 6">
            <a:extLst>
              <a:ext uri="{FF2B5EF4-FFF2-40B4-BE49-F238E27FC236}">
                <a16:creationId xmlns:a16="http://schemas.microsoft.com/office/drawing/2014/main" id="{ABB45742-79A0-C34D-A423-10CAFED52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 sz="3000"/>
              <a:t>Temele te ajută să înțelegi mai bine conceptele</a:t>
            </a:r>
          </a:p>
          <a:p>
            <a:pPr eaLnBrk="1" hangingPunct="1"/>
            <a:r>
              <a:rPr lang="ro-RO" altLang="ro-RO" sz="3000"/>
              <a:t>Temele îți dezvoltă abilitățile de programare</a:t>
            </a:r>
          </a:p>
          <a:p>
            <a:pPr eaLnBrk="1" hangingPunct="1"/>
            <a:r>
              <a:rPr lang="ro-RO" altLang="ro-RO" sz="3000"/>
              <a:t>Pot fi dificile, dar e </a:t>
            </a:r>
            <a:r>
              <a:rPr lang="ro-RO" altLang="en-US" sz="3000"/>
              <a:t>“</a:t>
            </a:r>
            <a:r>
              <a:rPr lang="ro-RO" altLang="ro-RO" sz="3000"/>
              <a:t>rewarding</a:t>
            </a:r>
            <a:r>
              <a:rPr lang="ro-RO" altLang="en-US" sz="3000"/>
              <a:t>”</a:t>
            </a:r>
            <a:r>
              <a:rPr lang="ro-RO" altLang="ro-RO" sz="3000"/>
              <a:t> când îți ies</a:t>
            </a:r>
          </a:p>
          <a:p>
            <a:pPr eaLnBrk="1" hangingPunct="1"/>
            <a:r>
              <a:rPr lang="ro-RO" altLang="ro-RO" sz="3000"/>
              <a:t>Temele sunt </a:t>
            </a:r>
            <a:r>
              <a:rPr lang="ro-RO" altLang="ro-RO" sz="3000" b="1"/>
              <a:t>individuale</a:t>
            </a:r>
          </a:p>
          <a:p>
            <a:pPr lvl="1" eaLnBrk="1" hangingPunct="1"/>
            <a:r>
              <a:rPr lang="ro-RO" altLang="ro-RO" sz="2600"/>
              <a:t>Puteți discuta între voi în limitele bunului simț</a:t>
            </a:r>
          </a:p>
          <a:p>
            <a:pPr lvl="1" eaLnBrk="1" hangingPunct="1"/>
            <a:r>
              <a:rPr lang="ro-RO" altLang="ro-RO" sz="2600"/>
              <a:t>Întrebați cu încredere pe lista de discuții</a:t>
            </a:r>
          </a:p>
          <a:p>
            <a:pPr lvl="1" eaLnBrk="1" hangingPunct="1"/>
            <a:r>
              <a:rPr lang="ro-RO" altLang="ro-RO" sz="2600"/>
              <a:t>Parcurgeți regulile de realizare ale temelor</a:t>
            </a:r>
          </a:p>
          <a:p>
            <a:pPr eaLnBrk="1" hangingPunct="1"/>
            <a:r>
              <a:rPr lang="ro-RO" altLang="ro-RO" sz="3000"/>
              <a:t>Folosiți GitLab sau BitBucket sau GitHub (privat)</a:t>
            </a:r>
            <a:endParaRPr lang="en-US" altLang="ro-RO" sz="3000"/>
          </a:p>
        </p:txBody>
      </p:sp>
      <p:sp>
        <p:nvSpPr>
          <p:cNvPr id="20484" name="Slide Number Placeholder 7">
            <a:extLst>
              <a:ext uri="{FF2B5EF4-FFF2-40B4-BE49-F238E27FC236}">
                <a16:creationId xmlns:a16="http://schemas.microsoft.com/office/drawing/2014/main" id="{8953FFC0-232F-3140-AC54-C6C506F31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637220-5610-AF47-8DAC-10CBEAB45A26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2214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Examen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/>
              <a:t>Curs</a:t>
            </a:r>
          </a:p>
          <a:p>
            <a:pPr lvl="1"/>
            <a:r>
              <a:rPr lang="ro-RO"/>
              <a:t>4 lucrări de curs (1p)</a:t>
            </a:r>
          </a:p>
          <a:p>
            <a:r>
              <a:rPr lang="ro-RO"/>
              <a:t>Sesiune</a:t>
            </a:r>
          </a:p>
          <a:p>
            <a:pPr lvl="1"/>
            <a:r>
              <a:rPr lang="ro-RO"/>
              <a:t>examen (4p)</a:t>
            </a:r>
          </a:p>
          <a:p>
            <a:r>
              <a:rPr lang="ro-RO"/>
              <a:t>Teme</a:t>
            </a:r>
          </a:p>
          <a:p>
            <a:pPr lvl="1"/>
            <a:r>
              <a:rPr lang="ro-RO"/>
              <a:t>5 teme (4 - 9p)</a:t>
            </a:r>
          </a:p>
          <a:p>
            <a:r>
              <a:rPr lang="ro-RO"/>
              <a:t>Laborator</a:t>
            </a:r>
          </a:p>
          <a:p>
            <a:pPr lvl="1"/>
            <a:r>
              <a:rPr lang="ro-RO"/>
              <a:t>12 laboratoare (1p)</a:t>
            </a:r>
          </a:p>
          <a:p>
            <a:endParaRPr lang="ro-RO"/>
          </a:p>
          <a:p>
            <a:pPr lvl="1"/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1E96B-AA1A-DF46-A0D8-D4919311A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4739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0265C-8F55-244D-8CE2-8BA468B41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Computer </a:t>
            </a:r>
            <a:r>
              <a:rPr lang="fr-FR" dirty="0" err="1"/>
              <a:t>Technology</a:t>
            </a:r>
            <a:endParaRPr lang="fr-FR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1166E92-0123-3E4D-99D0-52D079FFA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042" y="1600200"/>
            <a:ext cx="5497916" cy="4525963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03ACBC-6376-A643-8493-7B3A539B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228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572000" cy="4525963"/>
          </a:xfrm>
        </p:spPr>
        <p:txBody>
          <a:bodyPr>
            <a:normAutofit/>
          </a:bodyPr>
          <a:lstStyle/>
          <a:p>
            <a:r>
              <a:rPr lang="ro-RO" altLang="ro-RO"/>
              <a:t>De ce (un curs) de SO?</a:t>
            </a:r>
          </a:p>
          <a:p>
            <a:r>
              <a:rPr lang="ro-RO" altLang="ro-RO"/>
              <a:t>Despre cursul de SO</a:t>
            </a:r>
          </a:p>
          <a:p>
            <a:r>
              <a:rPr lang="ro-RO" altLang="ro-RO"/>
              <a:t>Despre sisteme de operare</a:t>
            </a:r>
          </a:p>
          <a:p>
            <a:r>
              <a:rPr lang="ro-RO" altLang="ro-RO"/>
              <a:t>Sisteme de calcul. Hardware</a:t>
            </a:r>
          </a:p>
          <a:p>
            <a:r>
              <a:rPr lang="ro-RO" altLang="ro-RO"/>
              <a:t>Concepte importante în SO</a:t>
            </a:r>
          </a:p>
          <a:p>
            <a:r>
              <a:rPr lang="ro-RO" altLang="ro-RO"/>
              <a:t>Structura unui SO</a:t>
            </a:r>
          </a:p>
        </p:txBody>
      </p:sp>
      <p:pic>
        <p:nvPicPr>
          <p:cNvPr id="6" name="Content Placeholder 5" descr="checklist2.gif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5372100" y="2434431"/>
            <a:ext cx="2590800" cy="28575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A1572-7B95-894A-BCE2-FBE8C5D5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15</a:t>
            </a:fld>
            <a:endParaRPr lang="ro-RO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Modern Operating Systems</a:t>
            </a:r>
          </a:p>
          <a:p>
            <a:pPr lvl="1"/>
            <a:r>
              <a:rPr lang="ro-RO"/>
              <a:t>Capitolul 1</a:t>
            </a:r>
          </a:p>
          <a:p>
            <a:r>
              <a:rPr lang="ro-RO"/>
              <a:t>Operating Systems Concepts</a:t>
            </a:r>
          </a:p>
          <a:p>
            <a:pPr lvl="1"/>
            <a:r>
              <a:rPr lang="ro-RO"/>
              <a:t>Capitolul 1</a:t>
            </a:r>
          </a:p>
          <a:p>
            <a:pPr marL="457200" lvl="1" indent="0">
              <a:buNone/>
            </a:pPr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CAAA-57D9-064F-A3FB-02529212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79617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6D41-0686-3E4A-9356-F30DE37D3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Pornirea sistemului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98AB557-2D7A-0143-B1A5-2B61485A2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9991578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83E0E-5E46-FF42-8177-7474E61BF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17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601449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3">
            <a:extLst>
              <a:ext uri="{FF2B5EF4-FFF2-40B4-BE49-F238E27FC236}">
                <a16:creationId xmlns:a16="http://schemas.microsoft.com/office/drawing/2014/main" id="{7D0036BA-8095-3744-968C-870662BF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Ce este un SO?</a:t>
            </a:r>
            <a:endParaRPr lang="en-US" altLang="ro-RO"/>
          </a:p>
        </p:txBody>
      </p:sp>
      <p:pic>
        <p:nvPicPr>
          <p:cNvPr id="24579" name="Content Placeholder 5" descr="OSCE-OS.png">
            <a:extLst>
              <a:ext uri="{FF2B5EF4-FFF2-40B4-BE49-F238E27FC236}">
                <a16:creationId xmlns:a16="http://schemas.microsoft.com/office/drawing/2014/main" id="{EAB45C65-738F-264D-8E28-42EBDA93A2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16088" y="1600200"/>
            <a:ext cx="5711825" cy="4525963"/>
          </a:xfrm>
        </p:spPr>
      </p:pic>
      <p:sp>
        <p:nvSpPr>
          <p:cNvPr id="24580" name="TextBox 6">
            <a:extLst>
              <a:ext uri="{FF2B5EF4-FFF2-40B4-BE49-F238E27FC236}">
                <a16:creationId xmlns:a16="http://schemas.microsoft.com/office/drawing/2014/main" id="{5976EAF3-EA94-CF4D-A6DD-A41CFA3F9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6248400"/>
            <a:ext cx="19923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OSCE, fig. 1.1, pg. 4</a:t>
            </a:r>
            <a:endParaRPr lang="en-US" altLang="ro-RO" sz="1800"/>
          </a:p>
        </p:txBody>
      </p:sp>
      <p:sp>
        <p:nvSpPr>
          <p:cNvPr id="24581" name="Slide Number Placeholder 7">
            <a:extLst>
              <a:ext uri="{FF2B5EF4-FFF2-40B4-BE49-F238E27FC236}">
                <a16:creationId xmlns:a16="http://schemas.microsoft.com/office/drawing/2014/main" id="{5E3ACDA8-0966-D34D-A858-E73B63383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E114A0-D9C8-FC49-BCAA-6EE66BA7F642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27807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3">
            <a:extLst>
              <a:ext uri="{FF2B5EF4-FFF2-40B4-BE49-F238E27FC236}">
                <a16:creationId xmlns:a16="http://schemas.microsoft.com/office/drawing/2014/main" id="{E19272BB-B5BB-1741-A031-1E011A48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Ce este un SO?</a:t>
            </a:r>
            <a:endParaRPr lang="en-US" altLang="ro-RO"/>
          </a:p>
        </p:txBody>
      </p:sp>
      <p:sp>
        <p:nvSpPr>
          <p:cNvPr id="25603" name="Content Placeholder 4">
            <a:extLst>
              <a:ext uri="{FF2B5EF4-FFF2-40B4-BE49-F238E27FC236}">
                <a16:creationId xmlns:a16="http://schemas.microsoft.com/office/drawing/2014/main" id="{0BCC0F57-09B7-9A45-A6A3-EF8D7EF1A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un set de programe</a:t>
            </a:r>
          </a:p>
          <a:p>
            <a:pPr eaLnBrk="1" hangingPunct="1"/>
            <a:r>
              <a:rPr lang="ro-RO" altLang="ro-RO"/>
              <a:t>vedere top-down: extensie a mașinii fizice</a:t>
            </a:r>
          </a:p>
          <a:p>
            <a:pPr eaLnBrk="1" hangingPunct="1"/>
            <a:r>
              <a:rPr lang="ro-RO" altLang="ro-RO"/>
              <a:t>vedere bottom-up: gestionar al resurselor fizice</a:t>
            </a:r>
          </a:p>
          <a:p>
            <a:pPr eaLnBrk="1" hangingPunct="1"/>
            <a:r>
              <a:rPr lang="ro-RO" altLang="ro-RO"/>
              <a:t>scris în general în C</a:t>
            </a:r>
          </a:p>
          <a:p>
            <a:pPr eaLnBrk="1" hangingPunct="1"/>
            <a:r>
              <a:rPr lang="ro-RO" altLang="ro-RO"/>
              <a:t>relativ transparent utilizatorului (</a:t>
            </a:r>
            <a:r>
              <a:rPr lang="ro-RO" altLang="en-US"/>
              <a:t>“</a:t>
            </a:r>
            <a:r>
              <a:rPr lang="ro-RO" altLang="ro-RO"/>
              <a:t>trebuie să meargă)</a:t>
            </a:r>
            <a:endParaRPr lang="en-US" altLang="ro-RO"/>
          </a:p>
        </p:txBody>
      </p:sp>
      <p:sp>
        <p:nvSpPr>
          <p:cNvPr id="25604" name="Slide Number Placeholder 5">
            <a:extLst>
              <a:ext uri="{FF2B5EF4-FFF2-40B4-BE49-F238E27FC236}">
                <a16:creationId xmlns:a16="http://schemas.microsoft.com/office/drawing/2014/main" id="{BB7F2D7E-89B4-B54C-87E9-CEDA9F63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3E554F-8A0E-2D40-B97F-A76819BDA6F6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DDC564-FC28-4A3E-A286-043B9264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</p:spTree>
    <p:extLst>
      <p:ext uri="{BB962C8B-B14F-4D97-AF65-F5344CB8AC3E}">
        <p14:creationId xmlns:p14="http://schemas.microsoft.com/office/powerpoint/2010/main" val="1598882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98CDD-C0B4-4615-90AC-1FFECF31B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Structura unui 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3DCEA-B6AF-4869-9906-213BF4009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674" y="1825625"/>
            <a:ext cx="4192326" cy="4351338"/>
          </a:xfrm>
        </p:spPr>
        <p:txBody>
          <a:bodyPr>
            <a:normAutofit fontScale="77500" lnSpcReduction="20000"/>
          </a:bodyPr>
          <a:lstStyle/>
          <a:p>
            <a:r>
              <a:rPr lang="ro-RO" b="1"/>
              <a:t>Nucleul (kernelul)</a:t>
            </a:r>
          </a:p>
          <a:p>
            <a:pPr lvl="1">
              <a:lnSpc>
                <a:spcPct val="120000"/>
              </a:lnSpc>
            </a:pPr>
            <a:r>
              <a:rPr lang="ro-RO"/>
              <a:t>Gestionează resursele fizice</a:t>
            </a:r>
          </a:p>
          <a:p>
            <a:pPr lvl="1"/>
            <a:r>
              <a:rPr lang="ro-RO"/>
              <a:t>Oferă o interfață comună aplicațiilor</a:t>
            </a:r>
          </a:p>
          <a:p>
            <a:pPr lvl="1"/>
            <a:endParaRPr lang="ro-RO"/>
          </a:p>
          <a:p>
            <a:r>
              <a:rPr lang="ro-RO" b="1"/>
              <a:t>Programele de bază</a:t>
            </a:r>
          </a:p>
          <a:p>
            <a:pPr lvl="1"/>
            <a:r>
              <a:rPr lang="ro-RO"/>
              <a:t>Permit interacțiunea cu nucleul și cu sistemul fizic</a:t>
            </a:r>
          </a:p>
          <a:p>
            <a:pPr lvl="1"/>
            <a:r>
              <a:rPr lang="ro-RO"/>
              <a:t>exemple: interpretoare de comenzi, utilitare de gestiune a utilizatorilor, biblioteci</a:t>
            </a:r>
          </a:p>
          <a:p>
            <a:endParaRPr lang="ro-RO"/>
          </a:p>
          <a:p>
            <a:endParaRPr lang="ro-RO"/>
          </a:p>
          <a:p>
            <a:endParaRPr lang="ro-RO"/>
          </a:p>
          <a:p>
            <a:endParaRPr lang="ro-RO"/>
          </a:p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721A1-06F3-4BAF-823C-B583D4BE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D1A3A-F4F6-4011-98A4-C9B5FF2B46BF}" type="slidenum">
              <a:rPr lang="ro-RO" smtClean="0"/>
              <a:t>20</a:t>
            </a:fld>
            <a:endParaRPr lang="ro-RO"/>
          </a:p>
        </p:txBody>
      </p:sp>
      <p:pic>
        <p:nvPicPr>
          <p:cNvPr id="6" name="Content Placeholder 14" descr="Picture2.png">
            <a:extLst>
              <a:ext uri="{FF2B5EF4-FFF2-40B4-BE49-F238E27FC236}">
                <a16:creationId xmlns:a16="http://schemas.microsoft.com/office/drawing/2014/main" id="{4CE8D650-C388-407A-9758-6E8EED628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365" y="1998723"/>
            <a:ext cx="4100435" cy="31097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1628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EA7798D-1FCD-714D-B153-2ACDD1120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Legătura SO - hardware</a:t>
            </a:r>
            <a:endParaRPr lang="en-US" altLang="ro-RO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FFF1E0FA-4C20-1544-AD73-B96CCFE2A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 dirty="0"/>
              <a:t>SO este primul nivel software peste hardware</a:t>
            </a:r>
          </a:p>
          <a:p>
            <a:pPr eaLnBrk="1" hangingPunct="1"/>
            <a:r>
              <a:rPr lang="ro-RO" altLang="ro-RO" dirty="0"/>
              <a:t>Un SO performant </a:t>
            </a:r>
          </a:p>
          <a:p>
            <a:pPr lvl="1" eaLnBrk="1" hangingPunct="1"/>
            <a:r>
              <a:rPr lang="ro-RO" altLang="ro-RO" dirty="0"/>
              <a:t>folosește facilitățile hardware</a:t>
            </a:r>
          </a:p>
          <a:p>
            <a:pPr lvl="1" eaLnBrk="1" hangingPunct="1"/>
            <a:r>
              <a:rPr lang="ro-RO" altLang="ro-RO" dirty="0"/>
              <a:t>expune facilitățile hardware aplicațiilor</a:t>
            </a:r>
          </a:p>
          <a:p>
            <a:pPr eaLnBrk="1" hangingPunct="1"/>
            <a:r>
              <a:rPr lang="ro-RO" altLang="ro-RO" dirty="0"/>
              <a:t>Hardware-</a:t>
            </a:r>
            <a:r>
              <a:rPr lang="ro-RO" altLang="ro-RO" dirty="0" err="1"/>
              <a:t>ul</a:t>
            </a:r>
            <a:r>
              <a:rPr lang="ro-RO" altLang="ro-RO" dirty="0"/>
              <a:t> are nevoie de SO pentru a putea fi folosit (pentru a construi aplicații/software)</a:t>
            </a:r>
          </a:p>
          <a:p>
            <a:pPr eaLnBrk="1" hangingPunct="1"/>
            <a:r>
              <a:rPr lang="ro-RO" altLang="ro-RO" dirty="0"/>
              <a:t>SO evoluează pe măsură ce evoluează hardware-</a:t>
            </a:r>
            <a:r>
              <a:rPr lang="ro-RO" altLang="ro-RO" dirty="0" err="1"/>
              <a:t>ul</a:t>
            </a:r>
            <a:endParaRPr lang="ro-RO" altLang="ro-RO" dirty="0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01CEB35C-C401-2B44-B692-BCB0951E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BD8B58-7ACC-D748-A283-F6EE6D9110BA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624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B7144D-ED03-3C4A-A3AE-60DC07FF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Sistem</a:t>
            </a:r>
            <a:r>
              <a:rPr lang="fr-FR" dirty="0"/>
              <a:t> de calcul, Hardware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F7CF34-E467-1048-BDAE-B0757D7CE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09BC24-D04B-D045-849A-03BF11102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749379"/>
            <a:ext cx="5816203" cy="3101975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4A9B30A-1F89-AB4B-A7A9-ABCC7BC55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816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3">
            <a:extLst>
              <a:ext uri="{FF2B5EF4-FFF2-40B4-BE49-F238E27FC236}">
                <a16:creationId xmlns:a16="http://schemas.microsoft.com/office/drawing/2014/main" id="{86CCC08D-F414-044C-ABE8-F3DAFB772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Sistem de calcul</a:t>
            </a:r>
            <a:endParaRPr lang="en-US" altLang="ro-RO"/>
          </a:p>
        </p:txBody>
      </p:sp>
      <p:sp>
        <p:nvSpPr>
          <p:cNvPr id="28675" name="Content Placeholder 4">
            <a:extLst>
              <a:ext uri="{FF2B5EF4-FFF2-40B4-BE49-F238E27FC236}">
                <a16:creationId xmlns:a16="http://schemas.microsoft.com/office/drawing/2014/main" id="{A7302149-BBD8-A746-AFDC-4059403F2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Sistemul fizic (hardware) + sisteme de operare și aplicații</a:t>
            </a:r>
          </a:p>
          <a:p>
            <a:pPr eaLnBrk="1" hangingPunct="1"/>
            <a:r>
              <a:rPr lang="ro-RO" altLang="ro-RO"/>
              <a:t>Baza pentru a dezvolta aplicații, a folosi aplicații, a construi sisteme</a:t>
            </a:r>
          </a:p>
          <a:p>
            <a:pPr eaLnBrk="1" hangingPunct="1"/>
            <a:r>
              <a:rPr lang="ro-RO" altLang="ro-RO"/>
              <a:t>În general interconectat cu alte sisteme</a:t>
            </a:r>
          </a:p>
          <a:p>
            <a:pPr eaLnBrk="1" hangingPunct="1"/>
            <a:r>
              <a:rPr lang="ro-RO" altLang="ro-RO"/>
              <a:t>De la servere cu mii de core-uri la dispozitive mici din zona IoT (Internet of Things)</a:t>
            </a:r>
            <a:endParaRPr lang="en-US" altLang="ro-RO"/>
          </a:p>
        </p:txBody>
      </p:sp>
      <p:sp>
        <p:nvSpPr>
          <p:cNvPr id="28676" name="Slide Number Placeholder 5">
            <a:extLst>
              <a:ext uri="{FF2B5EF4-FFF2-40B4-BE49-F238E27FC236}">
                <a16:creationId xmlns:a16="http://schemas.microsoft.com/office/drawing/2014/main" id="{61B6D7B4-5AF9-AE42-8D67-C931E3976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369112-82C6-3443-830D-2D1A91229A44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8904253-F4D7-4217-9ADC-4834CC3F3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</p:spTree>
    <p:extLst>
      <p:ext uri="{BB962C8B-B14F-4D97-AF65-F5344CB8AC3E}">
        <p14:creationId xmlns:p14="http://schemas.microsoft.com/office/powerpoint/2010/main" val="1831684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1E39F806-9B2C-2648-A80C-5DE38CE60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0"/>
            <a:ext cx="8229600" cy="1143000"/>
          </a:xfrm>
        </p:spPr>
        <p:txBody>
          <a:bodyPr/>
          <a:lstStyle/>
          <a:p>
            <a:pPr eaLnBrk="1" hangingPunct="1"/>
            <a:r>
              <a:rPr lang="ro-RO" altLang="ro-RO" dirty="0"/>
              <a:t>Hardware-</a:t>
            </a:r>
            <a:r>
              <a:rPr lang="ro-RO" altLang="ro-RO" dirty="0" err="1"/>
              <a:t>ul</a:t>
            </a:r>
            <a:r>
              <a:rPr lang="ro-RO" altLang="ro-RO" dirty="0"/>
              <a:t> unui sistem de calcul</a:t>
            </a:r>
            <a:endParaRPr lang="en-US" altLang="ro-RO" dirty="0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A4E23E5A-6E3A-5343-B849-3A75FFC49E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eaLnBrk="1" hangingPunct="1">
              <a:lnSpc>
                <a:spcPct val="120000"/>
              </a:lnSpc>
            </a:pPr>
            <a:r>
              <a:rPr lang="ro-RO" altLang="ro-RO" sz="2800" b="1" dirty="0"/>
              <a:t>Procesor</a:t>
            </a:r>
            <a:r>
              <a:rPr lang="ro-RO" altLang="ro-RO" sz="2800" dirty="0"/>
              <a:t> (CPU)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dirty="0"/>
              <a:t>rulează codul (instrucțiunile) proceselor</a:t>
            </a:r>
          </a:p>
          <a:p>
            <a:pPr eaLnBrk="1" hangingPunct="1">
              <a:lnSpc>
                <a:spcPct val="120000"/>
              </a:lnSpc>
            </a:pPr>
            <a:r>
              <a:rPr lang="ro-RO" altLang="ro-RO" sz="2800" b="1" dirty="0"/>
              <a:t>Memorie de lucru </a:t>
            </a:r>
            <a:r>
              <a:rPr lang="ro-RO" altLang="ro-RO" sz="2800" dirty="0"/>
              <a:t>(RAM)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dirty="0"/>
              <a:t>stochează datele și codul proceselor</a:t>
            </a:r>
          </a:p>
          <a:p>
            <a:pPr eaLnBrk="1" hangingPunct="1">
              <a:lnSpc>
                <a:spcPct val="120000"/>
              </a:lnSpc>
            </a:pPr>
            <a:r>
              <a:rPr lang="ro-RO" altLang="ro-RO" sz="2800" b="1" dirty="0"/>
              <a:t>Magistrale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dirty="0"/>
              <a:t>leagă CPU, module de memorie, dispozitive de I/E</a:t>
            </a:r>
          </a:p>
          <a:p>
            <a:pPr eaLnBrk="1" hangingPunct="1">
              <a:lnSpc>
                <a:spcPct val="120000"/>
              </a:lnSpc>
            </a:pPr>
            <a:r>
              <a:rPr lang="ro-RO" altLang="ro-RO" sz="2800" b="1" dirty="0"/>
              <a:t>Dispozitive periferice</a:t>
            </a:r>
            <a:r>
              <a:rPr lang="ro-RO" altLang="ro-RO" sz="2800" dirty="0"/>
              <a:t> (de intrare/ieșire, I/E, I/O)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dirty="0"/>
              <a:t>comunicarea cu exteriorul: utilizator, alte sisteme de calcul, alte dispozitive</a:t>
            </a:r>
          </a:p>
          <a:p>
            <a:pPr eaLnBrk="1" hangingPunct="1">
              <a:lnSpc>
                <a:spcPct val="120000"/>
              </a:lnSpc>
            </a:pPr>
            <a:r>
              <a:rPr lang="ro-RO" altLang="ro-RO" sz="2800" b="1" dirty="0"/>
              <a:t>Spațiu de stocare</a:t>
            </a:r>
            <a:r>
              <a:rPr lang="ro-RO" altLang="ro-RO" sz="2800" dirty="0"/>
              <a:t> (disc-uri, flash, ROM, NVRAM)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dirty="0"/>
              <a:t>Programe (din care vor lua naștere procese)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dirty="0"/>
              <a:t>Date pentru procese</a:t>
            </a:r>
          </a:p>
          <a:p>
            <a:pPr lvl="1" eaLnBrk="1" hangingPunct="1">
              <a:lnSpc>
                <a:spcPct val="120000"/>
              </a:lnSpc>
            </a:pPr>
            <a:r>
              <a:rPr lang="ro-RO" altLang="ro-RO" dirty="0"/>
              <a:t>Informații pentru utilizator (fișiere)</a:t>
            </a:r>
          </a:p>
        </p:txBody>
      </p:sp>
      <p:sp>
        <p:nvSpPr>
          <p:cNvPr id="29700" name="Slide Number Placeholder 3">
            <a:extLst>
              <a:ext uri="{FF2B5EF4-FFF2-40B4-BE49-F238E27FC236}">
                <a16:creationId xmlns:a16="http://schemas.microsoft.com/office/drawing/2014/main" id="{6B21F3D0-C573-0E42-BA27-9EFA3050A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BB9C82-EC5D-4B4E-8A20-B4C793939A51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0401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B0795FF-3BA0-9E47-8460-793B5D5A4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Procesor și memorie</a:t>
            </a:r>
            <a:endParaRPr lang="en-US" altLang="ro-RO"/>
          </a:p>
        </p:txBody>
      </p:sp>
      <p:pic>
        <p:nvPicPr>
          <p:cNvPr id="30723" name="Content Placeholder 3" descr="OSCE-dual-core-cache.png">
            <a:extLst>
              <a:ext uri="{FF2B5EF4-FFF2-40B4-BE49-F238E27FC236}">
                <a16:creationId xmlns:a16="http://schemas.microsoft.com/office/drawing/2014/main" id="{5A2EE7BA-AE34-8549-B35D-314823C0F6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9838" y="2325688"/>
            <a:ext cx="4124325" cy="3076575"/>
          </a:xfrm>
        </p:spPr>
      </p:pic>
      <p:sp>
        <p:nvSpPr>
          <p:cNvPr id="30724" name="TextBox 4">
            <a:extLst>
              <a:ext uri="{FF2B5EF4-FFF2-40B4-BE49-F238E27FC236}">
                <a16:creationId xmlns:a16="http://schemas.microsoft.com/office/drawing/2014/main" id="{BA7C481B-9295-E14C-930F-B3853C4A8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5562600"/>
            <a:ext cx="2109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OSCE, fig. 1.7, pg. 16</a:t>
            </a:r>
            <a:endParaRPr lang="en-US" altLang="ro-RO" sz="1800"/>
          </a:p>
        </p:txBody>
      </p:sp>
      <p:sp>
        <p:nvSpPr>
          <p:cNvPr id="30725" name="Slide Number Placeholder 5">
            <a:extLst>
              <a:ext uri="{FF2B5EF4-FFF2-40B4-BE49-F238E27FC236}">
                <a16:creationId xmlns:a16="http://schemas.microsoft.com/office/drawing/2014/main" id="{3D127C7F-FEA0-9A4D-A821-E8EC6E8EC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B0AD5E-9E26-3A44-A6A8-22133DA9F597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0159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69833138-2775-A748-9B61-707036196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Magistrale</a:t>
            </a:r>
            <a:endParaRPr lang="en-US" altLang="ro-RO"/>
          </a:p>
        </p:txBody>
      </p:sp>
      <p:pic>
        <p:nvPicPr>
          <p:cNvPr id="31747" name="Content Placeholder 3" descr="Computer_system_bus.png">
            <a:extLst>
              <a:ext uri="{FF2B5EF4-FFF2-40B4-BE49-F238E27FC236}">
                <a16:creationId xmlns:a16="http://schemas.microsoft.com/office/drawing/2014/main" id="{C7AD745B-BF75-0049-8CE4-AC753813FD9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2725" y="1600200"/>
            <a:ext cx="6178550" cy="4525963"/>
          </a:xfrm>
        </p:spPr>
      </p:pic>
      <p:sp>
        <p:nvSpPr>
          <p:cNvPr id="31748" name="TextBox 4">
            <a:extLst>
              <a:ext uri="{FF2B5EF4-FFF2-40B4-BE49-F238E27FC236}">
                <a16:creationId xmlns:a16="http://schemas.microsoft.com/office/drawing/2014/main" id="{5C5154BC-DFA7-234C-A6D5-29A5CACF40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6019800"/>
            <a:ext cx="52736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https://en.wikipedia.org/wiki/Bus_%28computing%29</a:t>
            </a:r>
            <a:endParaRPr lang="en-US" altLang="ro-RO" sz="1800"/>
          </a:p>
        </p:txBody>
      </p:sp>
      <p:sp>
        <p:nvSpPr>
          <p:cNvPr id="31749" name="Slide Number Placeholder 5">
            <a:extLst>
              <a:ext uri="{FF2B5EF4-FFF2-40B4-BE49-F238E27FC236}">
                <a16:creationId xmlns:a16="http://schemas.microsoft.com/office/drawing/2014/main" id="{55FE97EF-90F7-2145-842C-882FBD9C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AA08AA-D80F-2F42-8C37-2CC0B4682F75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698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E1BC2095-F4E4-F04A-8777-C64908927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 dirty="0"/>
              <a:t>Exemplu</a:t>
            </a:r>
          </a:p>
        </p:txBody>
      </p:sp>
      <p:pic>
        <p:nvPicPr>
          <p:cNvPr id="32771" name="Content Placeholder 5" descr="Screen Shot 2017-02-20 at 18.08.53.png">
            <a:extLst>
              <a:ext uri="{FF2B5EF4-FFF2-40B4-BE49-F238E27FC236}">
                <a16:creationId xmlns:a16="http://schemas.microsoft.com/office/drawing/2014/main" id="{C102E945-6F8B-1147-8902-4AC83C83F56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36" b="18236"/>
          <a:stretch>
            <a:fillRect/>
          </a:stretch>
        </p:blipFill>
        <p:spPr/>
      </p:pic>
      <p:sp>
        <p:nvSpPr>
          <p:cNvPr id="32773" name="Slide Number Placeholder 4">
            <a:extLst>
              <a:ext uri="{FF2B5EF4-FFF2-40B4-BE49-F238E27FC236}">
                <a16:creationId xmlns:a16="http://schemas.microsoft.com/office/drawing/2014/main" id="{2F125DC8-6F26-E740-81D2-31E04727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EB381B-663F-8045-955A-24D7AD65D8BE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0717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1FF99CF3-D9EE-914C-8A96-7F372382E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Memorie</a:t>
            </a:r>
            <a:endParaRPr lang="en-US" altLang="ro-RO"/>
          </a:p>
        </p:txBody>
      </p:sp>
      <p:pic>
        <p:nvPicPr>
          <p:cNvPr id="33795" name="Content Placeholder 3" descr="OSCE-memory-performance.png">
            <a:extLst>
              <a:ext uri="{FF2B5EF4-FFF2-40B4-BE49-F238E27FC236}">
                <a16:creationId xmlns:a16="http://schemas.microsoft.com/office/drawing/2014/main" id="{AE8E89E6-C302-0E4D-B011-57E6D3CAD5F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166938"/>
            <a:ext cx="8229600" cy="3392487"/>
          </a:xfrm>
        </p:spPr>
      </p:pic>
      <p:sp>
        <p:nvSpPr>
          <p:cNvPr id="33796" name="TextBox 4">
            <a:extLst>
              <a:ext uri="{FF2B5EF4-FFF2-40B4-BE49-F238E27FC236}">
                <a16:creationId xmlns:a16="http://schemas.microsoft.com/office/drawing/2014/main" id="{022FE3ED-B0B5-F24E-B580-27238D33D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6019800"/>
            <a:ext cx="2227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OSCE, fig. 1.11, pg. 28</a:t>
            </a:r>
            <a:endParaRPr lang="en-US" altLang="ro-RO" sz="1800"/>
          </a:p>
        </p:txBody>
      </p:sp>
      <p:sp>
        <p:nvSpPr>
          <p:cNvPr id="33797" name="Slide Number Placeholder 5">
            <a:extLst>
              <a:ext uri="{FF2B5EF4-FFF2-40B4-BE49-F238E27FC236}">
                <a16:creationId xmlns:a16="http://schemas.microsoft.com/office/drawing/2014/main" id="{59B1B769-CCC3-CB45-AE27-619672EF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A6E2A2-3B4E-DB4D-A195-E70292802FEC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9087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00DB71F-EA9F-FF47-8FA4-2FECA46E6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ComponentE</a:t>
            </a:r>
            <a:r>
              <a:rPr lang="fr-FR" dirty="0"/>
              <a:t> Important </a:t>
            </a:r>
            <a:r>
              <a:rPr lang="fr-FR" dirty="0" err="1"/>
              <a:t>în</a:t>
            </a:r>
            <a:r>
              <a:rPr lang="fr-FR" dirty="0"/>
              <a:t> SO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1F049A-2C72-D44B-90B2-35AED0509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DA3D70-C16C-6747-A8B8-5918FF817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263" y="1544640"/>
            <a:ext cx="3746500" cy="2159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4DBE0-EB86-3344-ACD3-8ACF02234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6025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5714FCEA-ABBD-3E4F-B608-7A8FE895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Shell</a:t>
            </a:r>
            <a:endParaRPr lang="en-US" altLang="ro-RO"/>
          </a:p>
        </p:txBody>
      </p:sp>
      <p:sp>
        <p:nvSpPr>
          <p:cNvPr id="35843" name="Content Placeholder 2">
            <a:extLst>
              <a:ext uri="{FF2B5EF4-FFF2-40B4-BE49-F238E27FC236}">
                <a16:creationId xmlns:a16="http://schemas.microsoft.com/office/drawing/2014/main" id="{AE70C551-0378-E94B-A3DF-E090242D8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Interfața utilizator-sistem de operare</a:t>
            </a:r>
          </a:p>
          <a:p>
            <a:pPr eaLnBrk="1" hangingPunct="1"/>
            <a:r>
              <a:rPr lang="ro-RO" altLang="ro-RO"/>
              <a:t>CLI sau GUI</a:t>
            </a:r>
          </a:p>
          <a:p>
            <a:pPr eaLnBrk="1" hangingPunct="1"/>
            <a:r>
              <a:rPr lang="ro-RO" altLang="ro-RO"/>
              <a:t>Bash vs. Windows Explorer / GNOME / KDE</a:t>
            </a:r>
          </a:p>
          <a:p>
            <a:pPr eaLnBrk="1" hangingPunct="1"/>
            <a:r>
              <a:rPr lang="ro-RO" altLang="ro-RO"/>
              <a:t>Un proces care permite pornirea de alte procese/aplicații</a:t>
            </a:r>
          </a:p>
          <a:p>
            <a:pPr lvl="1" eaLnBrk="1" hangingPunct="1"/>
            <a:r>
              <a:rPr lang="ro-RO" altLang="en-US"/>
              <a:t>“</a:t>
            </a:r>
            <a:r>
              <a:rPr lang="ro-RO" altLang="ro-RO"/>
              <a:t>shell spawns a process</a:t>
            </a:r>
            <a:r>
              <a:rPr lang="ro-RO" altLang="en-US"/>
              <a:t>”</a:t>
            </a:r>
            <a:endParaRPr lang="en-US" altLang="ro-RO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30B2CDCE-DAF9-D746-BB20-6C3B0546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CB766F-FA2D-204E-8AED-CFE5C8341B3C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1160D-0EE5-43DA-BD09-53B6B4CC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</p:spTree>
    <p:extLst>
      <p:ext uri="{BB962C8B-B14F-4D97-AF65-F5344CB8AC3E}">
        <p14:creationId xmlns:p14="http://schemas.microsoft.com/office/powerpoint/2010/main" val="27123326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D11B30B8-ADBD-AA4C-B618-200C43D3D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Procese</a:t>
            </a:r>
            <a:endParaRPr lang="en-US" altLang="ro-RO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87A548ED-987E-BB4C-B753-2B355BAF5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altLang="ro-RO"/>
              <a:t>Iau naștere dintr-un program executabil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Program în execuție, entitate dinamică</a:t>
            </a:r>
          </a:p>
          <a:p>
            <a:pPr lvl="1" eaLnBrk="1" hangingPunct="1">
              <a:lnSpc>
                <a:spcPct val="90000"/>
              </a:lnSpc>
            </a:pPr>
            <a:r>
              <a:rPr lang="ro-RO" altLang="ro-RO"/>
              <a:t>Noțiunea de </a:t>
            </a:r>
            <a:r>
              <a:rPr lang="ro-RO" altLang="en-US"/>
              <a:t>“</a:t>
            </a:r>
            <a:r>
              <a:rPr lang="ro-RO" altLang="ro-RO"/>
              <a:t>runtime</a:t>
            </a:r>
            <a:r>
              <a:rPr lang="ro-RO" altLang="en-US"/>
              <a:t>”</a:t>
            </a:r>
            <a:r>
              <a:rPr lang="ro-RO" altLang="ro-RO"/>
              <a:t> (timpul rulării) se referă la proces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Date și cod în memorie, se execută pe CPU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Are asociate resurse: spațiu de adrese de memorie, fișiere deschise, sockeți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SO oferă protecție și comunicare inter-proces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Ierarhie de procese la nivelul SO</a:t>
            </a:r>
            <a:endParaRPr lang="en-US" altLang="ro-RO"/>
          </a:p>
        </p:txBody>
      </p:sp>
      <p:sp>
        <p:nvSpPr>
          <p:cNvPr id="36868" name="TextBox 3">
            <a:extLst>
              <a:ext uri="{FF2B5EF4-FFF2-40B4-BE49-F238E27FC236}">
                <a16:creationId xmlns:a16="http://schemas.microsoft.com/office/drawing/2014/main" id="{FFFC7514-6CE1-7942-AC11-3FAE2BE93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27606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Mai multe la cursurile 3 și 4</a:t>
            </a:r>
            <a:endParaRPr lang="en-US" altLang="ro-RO" sz="1800"/>
          </a:p>
        </p:txBody>
      </p:sp>
      <p:sp>
        <p:nvSpPr>
          <p:cNvPr id="36869" name="Slide Number Placeholder 4">
            <a:extLst>
              <a:ext uri="{FF2B5EF4-FFF2-40B4-BE49-F238E27FC236}">
                <a16:creationId xmlns:a16="http://schemas.microsoft.com/office/drawing/2014/main" id="{D1609069-5502-7F48-8A2A-0393E1ADA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922AC8-E134-4B49-BE0A-62852058CB97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5B3E4-2CFD-428E-A393-1907400A6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</p:spTree>
    <p:extLst>
      <p:ext uri="{BB962C8B-B14F-4D97-AF65-F5344CB8AC3E}">
        <p14:creationId xmlns:p14="http://schemas.microsoft.com/office/powerpoint/2010/main" val="1849090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555BF7DC-CDDE-0C47-BB3D-12E48294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Memoria unui proces</a:t>
            </a:r>
            <a:endParaRPr lang="en-US" altLang="ro-RO"/>
          </a:p>
        </p:txBody>
      </p:sp>
      <p:pic>
        <p:nvPicPr>
          <p:cNvPr id="37891" name="Content Placeholder 3" descr="Virtual_address_space_and_physical_address_space_relationship.png">
            <a:extLst>
              <a:ext uri="{FF2B5EF4-FFF2-40B4-BE49-F238E27FC236}">
                <a16:creationId xmlns:a16="http://schemas.microsoft.com/office/drawing/2014/main" id="{2F5445F0-C873-BB46-BBFB-FDBCC14B48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54263" y="1600200"/>
            <a:ext cx="4435475" cy="4525963"/>
          </a:xfrm>
        </p:spPr>
      </p:pic>
      <p:sp>
        <p:nvSpPr>
          <p:cNvPr id="37892" name="TextBox 4">
            <a:extLst>
              <a:ext uri="{FF2B5EF4-FFF2-40B4-BE49-F238E27FC236}">
                <a16:creationId xmlns:a16="http://schemas.microsoft.com/office/drawing/2014/main" id="{760A08C4-DEEC-8A42-B1A4-C4EEE7ACA5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51355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ro-RO" sz="1800"/>
              <a:t>https://en.wikipedia.org/wiki/Virtual_address_space</a:t>
            </a:r>
          </a:p>
        </p:txBody>
      </p:sp>
      <p:sp>
        <p:nvSpPr>
          <p:cNvPr id="37893" name="TextBox 5">
            <a:extLst>
              <a:ext uri="{FF2B5EF4-FFF2-40B4-BE49-F238E27FC236}">
                <a16:creationId xmlns:a16="http://schemas.microsoft.com/office/drawing/2014/main" id="{ABBD75DA-077B-E34C-8901-D5B41BD72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6172200"/>
            <a:ext cx="2760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Mai multe la cursurile 3 și 5</a:t>
            </a:r>
            <a:endParaRPr lang="en-US" altLang="ro-RO" sz="1800"/>
          </a:p>
        </p:txBody>
      </p:sp>
      <p:sp>
        <p:nvSpPr>
          <p:cNvPr id="37894" name="Slide Number Placeholder 6">
            <a:extLst>
              <a:ext uri="{FF2B5EF4-FFF2-40B4-BE49-F238E27FC236}">
                <a16:creationId xmlns:a16="http://schemas.microsoft.com/office/drawing/2014/main" id="{0507F7A3-C23C-CA4E-AAAB-DA48B6318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312AB9-FA38-EB46-8CC7-5D43493CDE88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2055C-6FDD-4949-9372-0A2C31A8A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</p:spTree>
    <p:extLst>
      <p:ext uri="{BB962C8B-B14F-4D97-AF65-F5344CB8AC3E}">
        <p14:creationId xmlns:p14="http://schemas.microsoft.com/office/powerpoint/2010/main" val="13674879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894C5218-41E8-F349-B5A4-35BD55DD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Memorie virtuală</a:t>
            </a:r>
            <a:endParaRPr lang="en-US" altLang="ro-RO"/>
          </a:p>
        </p:txBody>
      </p:sp>
      <p:sp>
        <p:nvSpPr>
          <p:cNvPr id="38915" name="Content Placeholder 2">
            <a:extLst>
              <a:ext uri="{FF2B5EF4-FFF2-40B4-BE49-F238E27FC236}">
                <a16:creationId xmlns:a16="http://schemas.microsoft.com/office/drawing/2014/main" id="{BE556B74-5B0C-1B49-AEA7-601C414AD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o-RO" altLang="ro-RO" sz="3000"/>
              <a:t>Un proces are un spațiu virtual (inexistent de fapt) de memorie</a:t>
            </a:r>
          </a:p>
          <a:p>
            <a:pPr lvl="1" eaLnBrk="1" hangingPunct="1">
              <a:lnSpc>
                <a:spcPct val="80000"/>
              </a:lnSpc>
            </a:pPr>
            <a:r>
              <a:rPr lang="ro-RO" altLang="ro-RO" sz="2600"/>
              <a:t>Procesul are impresia că toată memoria îi aparține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/>
              <a:t>Memoria virtuală decuplează vederea procesului de memoria sistemului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/>
              <a:t>Procesele lucrează cu adrese virtuale (din spațiul fizic de adrese)</a:t>
            </a:r>
          </a:p>
          <a:p>
            <a:pPr lvl="1" eaLnBrk="1" hangingPunct="1">
              <a:lnSpc>
                <a:spcPct val="80000"/>
              </a:lnSpc>
            </a:pPr>
            <a:r>
              <a:rPr lang="ro-RO" altLang="ro-RO" sz="2600"/>
              <a:t>Adresele fizice sunt adrese din memoria fizică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/>
              <a:t>SO mapează/asociază spațiul virtual al proceselor cu memorie fizică</a:t>
            </a:r>
          </a:p>
        </p:txBody>
      </p:sp>
      <p:sp>
        <p:nvSpPr>
          <p:cNvPr id="38916" name="TextBox 3">
            <a:extLst>
              <a:ext uri="{FF2B5EF4-FFF2-40B4-BE49-F238E27FC236}">
                <a16:creationId xmlns:a16="http://schemas.microsoft.com/office/drawing/2014/main" id="{4F8D9C74-5A3F-9B4D-924C-0040EF436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6172200"/>
            <a:ext cx="27606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Mai multe la cursurile 6 și 7</a:t>
            </a:r>
            <a:endParaRPr lang="en-US" altLang="ro-RO" sz="1800"/>
          </a:p>
        </p:txBody>
      </p:sp>
      <p:sp>
        <p:nvSpPr>
          <p:cNvPr id="38917" name="Slide Number Placeholder 4">
            <a:extLst>
              <a:ext uri="{FF2B5EF4-FFF2-40B4-BE49-F238E27FC236}">
                <a16:creationId xmlns:a16="http://schemas.microsoft.com/office/drawing/2014/main" id="{B0D92A41-CF7B-3A4A-84BF-9D6E10BB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78B2E5-643D-E646-AFB1-D1EEB46A67FE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9F8368-9E2D-4F88-BF35-2BB43624B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</p:spTree>
    <p:extLst>
      <p:ext uri="{BB962C8B-B14F-4D97-AF65-F5344CB8AC3E}">
        <p14:creationId xmlns:p14="http://schemas.microsoft.com/office/powerpoint/2010/main" val="1214318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89CD2BF6-CF03-A548-B5CF-9CAA28850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Thread-uri</a:t>
            </a:r>
            <a:endParaRPr lang="en-US" altLang="ro-RO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D82116D1-1C10-1B4E-B485-308D5D67B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Un proces poate avea mai multe thread-uri</a:t>
            </a:r>
          </a:p>
          <a:p>
            <a:pPr eaLnBrk="1" hangingPunct="1"/>
            <a:r>
              <a:rPr lang="ro-RO" altLang="ro-RO"/>
              <a:t>Thread-urile partajează spațiul virtual de adrese al procesului</a:t>
            </a:r>
          </a:p>
          <a:p>
            <a:pPr eaLnBrk="1" hangingPunct="1"/>
            <a:r>
              <a:rPr lang="ro-RO" altLang="ro-RO"/>
              <a:t>Utile să faci mai multe lucruri cu aceleași date (din spațiul virtual de adrese al procesului)</a:t>
            </a:r>
          </a:p>
          <a:p>
            <a:pPr eaLnBrk="1" hangingPunct="1"/>
            <a:r>
              <a:rPr lang="ro-RO" altLang="ro-RO"/>
              <a:t>Permit folosirea facilităților hardware multi-procesor</a:t>
            </a:r>
            <a:endParaRPr lang="en-US" altLang="ro-RO"/>
          </a:p>
        </p:txBody>
      </p:sp>
      <p:sp>
        <p:nvSpPr>
          <p:cNvPr id="39940" name="TextBox 3">
            <a:extLst>
              <a:ext uri="{FF2B5EF4-FFF2-40B4-BE49-F238E27FC236}">
                <a16:creationId xmlns:a16="http://schemas.microsoft.com/office/drawing/2014/main" id="{A8581146-2F0D-B944-9760-98ABE46C6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2146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Mai multe la cursul 8</a:t>
            </a:r>
            <a:endParaRPr lang="en-US" altLang="ro-RO" sz="1800"/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6A58D158-5DBE-E245-AFDC-01388A62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A4D1DD-3330-BB4E-8C4C-5232CC5AE0D8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BE287-FB04-4729-B268-40CF779D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</p:spTree>
    <p:extLst>
      <p:ext uri="{BB962C8B-B14F-4D97-AF65-F5344CB8AC3E}">
        <p14:creationId xmlns:p14="http://schemas.microsoft.com/office/powerpoint/2010/main" val="17205677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F229FC0B-60A6-FC49-9D3D-BED206A08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Concurență și sincronizare</a:t>
            </a:r>
            <a:endParaRPr lang="en-US" altLang="ro-RO"/>
          </a:p>
        </p:txBody>
      </p:sp>
      <p:sp>
        <p:nvSpPr>
          <p:cNvPr id="40963" name="Content Placeholder 2">
            <a:extLst>
              <a:ext uri="{FF2B5EF4-FFF2-40B4-BE49-F238E27FC236}">
                <a16:creationId xmlns:a16="http://schemas.microsoft.com/office/drawing/2014/main" id="{5687DCE0-AF8A-484D-B306-F281240B4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Thread-urile sau procesele pot concura la achiziția de resurse (date în memorie)</a:t>
            </a:r>
          </a:p>
          <a:p>
            <a:pPr eaLnBrk="1" hangingPunct="1"/>
            <a:r>
              <a:rPr lang="ro-RO" altLang="ro-RO"/>
              <a:t>Accesele concurente pot duce la date inconsecvente sau blocaje</a:t>
            </a:r>
          </a:p>
          <a:p>
            <a:pPr eaLnBrk="1" hangingPunct="1"/>
            <a:r>
              <a:rPr lang="ro-RO" altLang="ro-RO"/>
              <a:t>Sincronizarea garantează accesul consecvent și ordonat la date</a:t>
            </a:r>
            <a:endParaRPr lang="en-US" altLang="ro-RO"/>
          </a:p>
        </p:txBody>
      </p:sp>
      <p:sp>
        <p:nvSpPr>
          <p:cNvPr id="40964" name="TextBox 3">
            <a:extLst>
              <a:ext uri="{FF2B5EF4-FFF2-40B4-BE49-F238E27FC236}">
                <a16:creationId xmlns:a16="http://schemas.microsoft.com/office/drawing/2014/main" id="{0A9DFDDC-B316-974C-BE2D-533AE9ABA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172200"/>
            <a:ext cx="2146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Mai multe la cursul 9</a:t>
            </a:r>
            <a:endParaRPr lang="en-US" altLang="ro-RO" sz="1800"/>
          </a:p>
        </p:txBody>
      </p:sp>
      <p:sp>
        <p:nvSpPr>
          <p:cNvPr id="40965" name="Slide Number Placeholder 4">
            <a:extLst>
              <a:ext uri="{FF2B5EF4-FFF2-40B4-BE49-F238E27FC236}">
                <a16:creationId xmlns:a16="http://schemas.microsoft.com/office/drawing/2014/main" id="{3230F546-1E57-1247-9AB4-C69F7575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A5EBA0-0805-CB41-8471-61C48A860C1F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AFC85-01E2-47E6-A19F-C9586D959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</p:spTree>
    <p:extLst>
      <p:ext uri="{BB962C8B-B14F-4D97-AF65-F5344CB8AC3E}">
        <p14:creationId xmlns:p14="http://schemas.microsoft.com/office/powerpoint/2010/main" val="31793856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1C880DDE-468D-AD44-84D2-B6ED90A12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Moduri de execuție</a:t>
            </a:r>
            <a:endParaRPr lang="en-US" altLang="ro-RO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0BBA1A5C-37F3-FC4A-9533-50270B679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ro-RO" altLang="ro-RO" sz="2700" dirty="0"/>
              <a:t>Procesorul are un </a:t>
            </a:r>
            <a:r>
              <a:rPr lang="ro-RO" altLang="ro-RO" sz="2700" b="1" dirty="0"/>
              <a:t>mod privilegiat</a:t>
            </a:r>
            <a:r>
              <a:rPr lang="ro-RO" altLang="ro-RO" sz="2700" dirty="0"/>
              <a:t>: </a:t>
            </a:r>
            <a:r>
              <a:rPr lang="ro-RO" altLang="ro-RO" sz="2700" dirty="0" err="1"/>
              <a:t>supervisor</a:t>
            </a:r>
            <a:r>
              <a:rPr lang="ro-RO" altLang="ro-RO" sz="2700" dirty="0"/>
              <a:t> mode, </a:t>
            </a:r>
            <a:r>
              <a:rPr lang="ro-RO" altLang="ro-RO" sz="2700" dirty="0" err="1"/>
              <a:t>system</a:t>
            </a:r>
            <a:r>
              <a:rPr lang="ro-RO" altLang="ro-RO" sz="2700" dirty="0"/>
              <a:t> mode, </a:t>
            </a:r>
            <a:r>
              <a:rPr lang="ro-RO" altLang="ro-RO" sz="2700" dirty="0" err="1"/>
              <a:t>kernel</a:t>
            </a:r>
            <a:r>
              <a:rPr lang="ro-RO" altLang="ro-RO" sz="2700" dirty="0"/>
              <a:t> mode</a:t>
            </a:r>
          </a:p>
          <a:p>
            <a:pPr lvl="1" eaLnBrk="1" hangingPunct="1"/>
            <a:r>
              <a:rPr lang="ro-RO" altLang="ro-RO" sz="2400" dirty="0"/>
              <a:t>Pentru acțiuni privilegiate</a:t>
            </a:r>
          </a:p>
          <a:p>
            <a:pPr lvl="1" eaLnBrk="1" hangingPunct="1"/>
            <a:r>
              <a:rPr lang="ro-RO" altLang="ro-RO" sz="2400" dirty="0"/>
              <a:t>Aici rulează sistemul de operare</a:t>
            </a:r>
          </a:p>
          <a:p>
            <a:pPr eaLnBrk="1" hangingPunct="1"/>
            <a:r>
              <a:rPr lang="ro-RO" altLang="ro-RO" sz="2700" dirty="0"/>
              <a:t>Aplicațiile rulează în </a:t>
            </a:r>
            <a:r>
              <a:rPr lang="ro-RO" altLang="ro-RO" sz="2700" b="1" dirty="0"/>
              <a:t>modul neprivilegiat</a:t>
            </a:r>
            <a:r>
              <a:rPr lang="ro-RO" altLang="ro-RO" sz="2700" dirty="0"/>
              <a:t>: </a:t>
            </a:r>
            <a:r>
              <a:rPr lang="ro-RO" altLang="ro-RO" sz="2700" dirty="0" err="1"/>
              <a:t>user</a:t>
            </a:r>
            <a:r>
              <a:rPr lang="ro-RO" altLang="ro-RO" sz="2700" dirty="0"/>
              <a:t> mode</a:t>
            </a:r>
          </a:p>
          <a:p>
            <a:pPr lvl="1" eaLnBrk="1" hangingPunct="1"/>
            <a:r>
              <a:rPr lang="ro-RO" altLang="ro-RO" sz="2400" dirty="0"/>
              <a:t>Nu pot comunica cu hardware-</a:t>
            </a:r>
            <a:r>
              <a:rPr lang="ro-RO" altLang="ro-RO" sz="2400" dirty="0" err="1"/>
              <a:t>ul</a:t>
            </a:r>
            <a:r>
              <a:rPr lang="ro-RO" altLang="ro-RO" sz="2400" dirty="0"/>
              <a:t> sau cu alte procese</a:t>
            </a:r>
          </a:p>
          <a:p>
            <a:pPr lvl="1" eaLnBrk="1" hangingPunct="1"/>
            <a:r>
              <a:rPr lang="ro-RO" altLang="ro-RO" sz="2400" dirty="0"/>
              <a:t>Pot doar acționa asupra spațiului de memorie propriu</a:t>
            </a:r>
          </a:p>
          <a:p>
            <a:pPr eaLnBrk="1" hangingPunct="1"/>
            <a:r>
              <a:rPr lang="ro-RO" altLang="ro-RO" sz="2700" dirty="0"/>
              <a:t>Nucleul intermediază accesul proceselor la hardware sau la resursele altor procese</a:t>
            </a:r>
          </a:p>
          <a:p>
            <a:pPr eaLnBrk="1" hangingPunct="1"/>
            <a:r>
              <a:rPr lang="ro-RO" altLang="ro-RO" sz="2700" dirty="0"/>
              <a:t>Separația modurilor asigură securitatea sistemului</a:t>
            </a:r>
          </a:p>
          <a:p>
            <a:pPr eaLnBrk="1" hangingPunct="1"/>
            <a:r>
              <a:rPr lang="ro-RO" altLang="ro-RO" sz="2700" dirty="0"/>
              <a:t>Tranziția </a:t>
            </a:r>
            <a:r>
              <a:rPr lang="ro-RO" altLang="ro-RO" sz="2700" dirty="0" err="1"/>
              <a:t>user</a:t>
            </a:r>
            <a:r>
              <a:rPr lang="ro-RO" altLang="ro-RO" sz="2700" dirty="0"/>
              <a:t> mode -&gt; </a:t>
            </a:r>
            <a:r>
              <a:rPr lang="ro-RO" altLang="ro-RO" sz="2700" dirty="0" err="1"/>
              <a:t>kernel</a:t>
            </a:r>
            <a:r>
              <a:rPr lang="ro-RO" altLang="ro-RO" sz="2700" dirty="0"/>
              <a:t> mode = </a:t>
            </a:r>
            <a:r>
              <a:rPr lang="ro-RO" altLang="ro-RO" sz="2700" b="1" dirty="0"/>
              <a:t>apel de sistem</a:t>
            </a:r>
          </a:p>
        </p:txBody>
      </p:sp>
      <p:sp>
        <p:nvSpPr>
          <p:cNvPr id="41988" name="TextBox 3">
            <a:extLst>
              <a:ext uri="{FF2B5EF4-FFF2-40B4-BE49-F238E27FC236}">
                <a16:creationId xmlns:a16="http://schemas.microsoft.com/office/drawing/2014/main" id="{06D4B3B6-0E00-9F49-9C7E-CD3F5E6A7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5600" y="6183313"/>
            <a:ext cx="452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Mai multe la cam toate cursurile următoare </a:t>
            </a:r>
            <a:r>
              <a:rPr lang="ro-RO" altLang="ro-RO" sz="1800">
                <a:sym typeface="Wingdings" pitchFamily="2" charset="2"/>
              </a:rPr>
              <a:t></a:t>
            </a:r>
            <a:endParaRPr lang="en-US" altLang="ro-RO" sz="1800"/>
          </a:p>
        </p:txBody>
      </p:sp>
      <p:sp>
        <p:nvSpPr>
          <p:cNvPr id="41989" name="Slide Number Placeholder 4">
            <a:extLst>
              <a:ext uri="{FF2B5EF4-FFF2-40B4-BE49-F238E27FC236}">
                <a16:creationId xmlns:a16="http://schemas.microsoft.com/office/drawing/2014/main" id="{F8E63558-B994-594D-B1D5-541DFE5A7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BE6DADC-87B5-A145-9B90-082C963C2926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0235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80473EED-0E53-524B-96C7-E9D78C6A5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Traziția user mode – kernel mode</a:t>
            </a:r>
            <a:endParaRPr lang="en-US" altLang="ro-RO"/>
          </a:p>
        </p:txBody>
      </p:sp>
      <p:pic>
        <p:nvPicPr>
          <p:cNvPr id="43011" name="Content Placeholder 4" descr="OSCE-syscall.png">
            <a:extLst>
              <a:ext uri="{FF2B5EF4-FFF2-40B4-BE49-F238E27FC236}">
                <a16:creationId xmlns:a16="http://schemas.microsoft.com/office/drawing/2014/main" id="{55CE437E-8ED4-A64D-852B-34EB9E6F12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" y="2133600"/>
            <a:ext cx="8655050" cy="2743200"/>
          </a:xfrm>
        </p:spPr>
      </p:pic>
      <p:sp>
        <p:nvSpPr>
          <p:cNvPr id="43012" name="TextBox 3">
            <a:extLst>
              <a:ext uri="{FF2B5EF4-FFF2-40B4-BE49-F238E27FC236}">
                <a16:creationId xmlns:a16="http://schemas.microsoft.com/office/drawing/2014/main" id="{8622AE63-DE04-9E4B-81D8-15FEB10C8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48400"/>
            <a:ext cx="452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Mai multe la cam toate cursurile următoare </a:t>
            </a:r>
            <a:r>
              <a:rPr lang="ro-RO" altLang="ro-RO" sz="1800">
                <a:sym typeface="Wingdings" pitchFamily="2" charset="2"/>
              </a:rPr>
              <a:t></a:t>
            </a:r>
            <a:endParaRPr lang="en-US" altLang="ro-RO" sz="1800"/>
          </a:p>
        </p:txBody>
      </p:sp>
      <p:sp>
        <p:nvSpPr>
          <p:cNvPr id="43013" name="Slide Number Placeholder 5">
            <a:extLst>
              <a:ext uri="{FF2B5EF4-FFF2-40B4-BE49-F238E27FC236}">
                <a16:creationId xmlns:a16="http://schemas.microsoft.com/office/drawing/2014/main" id="{DB6B70D4-BF2C-0348-8CC8-D27B9095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A8CF17-6122-864F-9B88-B0F1A2E2CA16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43015" name="TextBox 7">
            <a:extLst>
              <a:ext uri="{FF2B5EF4-FFF2-40B4-BE49-F238E27FC236}">
                <a16:creationId xmlns:a16="http://schemas.microsoft.com/office/drawing/2014/main" id="{552E0043-52B6-AE43-AF17-8EA1FA354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5486400"/>
            <a:ext cx="2227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OSCE, fig. 1.10, pg. 22</a:t>
            </a:r>
            <a:endParaRPr lang="en-US" altLang="ro-RO" sz="1800"/>
          </a:p>
        </p:txBody>
      </p:sp>
    </p:spTree>
    <p:extLst>
      <p:ext uri="{BB962C8B-B14F-4D97-AF65-F5344CB8AC3E}">
        <p14:creationId xmlns:p14="http://schemas.microsoft.com/office/powerpoint/2010/main" val="19742889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11FB40BB-4564-3443-9B31-05D5082A9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Apeluri de sistem</a:t>
            </a:r>
            <a:endParaRPr lang="en-US" altLang="ro-RO"/>
          </a:p>
        </p:txBody>
      </p:sp>
      <p:pic>
        <p:nvPicPr>
          <p:cNvPr id="44035" name="Content Placeholder 4" descr="OSCE-syscalls.png">
            <a:extLst>
              <a:ext uri="{FF2B5EF4-FFF2-40B4-BE49-F238E27FC236}">
                <a16:creationId xmlns:a16="http://schemas.microsoft.com/office/drawing/2014/main" id="{343A8D18-7953-4E42-88AE-FAA500BDEB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9788" y="1600200"/>
            <a:ext cx="7464425" cy="4525963"/>
          </a:xfrm>
        </p:spPr>
      </p:pic>
      <p:sp>
        <p:nvSpPr>
          <p:cNvPr id="44036" name="TextBox 3">
            <a:extLst>
              <a:ext uri="{FF2B5EF4-FFF2-40B4-BE49-F238E27FC236}">
                <a16:creationId xmlns:a16="http://schemas.microsoft.com/office/drawing/2014/main" id="{30028C03-EE10-304B-94DF-4DAB82906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48400"/>
            <a:ext cx="452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 dirty="0"/>
              <a:t>Mai multe la cam toate cursurile următoare </a:t>
            </a:r>
            <a:r>
              <a:rPr lang="ro-RO" altLang="ro-RO" sz="1800" dirty="0">
                <a:sym typeface="Wingdings" pitchFamily="2" charset="2"/>
              </a:rPr>
              <a:t></a:t>
            </a:r>
            <a:endParaRPr lang="en-US" altLang="ro-RO" sz="1800" dirty="0"/>
          </a:p>
        </p:txBody>
      </p:sp>
      <p:sp>
        <p:nvSpPr>
          <p:cNvPr id="44037" name="Slide Number Placeholder 5">
            <a:extLst>
              <a:ext uri="{FF2B5EF4-FFF2-40B4-BE49-F238E27FC236}">
                <a16:creationId xmlns:a16="http://schemas.microsoft.com/office/drawing/2014/main" id="{C65C66F8-9C01-F041-A5CE-F637A0F47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5D6409-61AB-5C49-9B4E-B927F173E9D5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44039" name="TextBox 7">
            <a:extLst>
              <a:ext uri="{FF2B5EF4-FFF2-40B4-BE49-F238E27FC236}">
                <a16:creationId xmlns:a16="http://schemas.microsoft.com/office/drawing/2014/main" id="{A3CD3371-89CD-9045-BAC2-EE10568D74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109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OSCE, fig. 2.6, pg. 56</a:t>
            </a:r>
            <a:endParaRPr lang="en-US" altLang="ro-RO" sz="1800"/>
          </a:p>
        </p:txBody>
      </p:sp>
    </p:spTree>
    <p:extLst>
      <p:ext uri="{BB962C8B-B14F-4D97-AF65-F5344CB8AC3E}">
        <p14:creationId xmlns:p14="http://schemas.microsoft.com/office/powerpoint/2010/main" val="21066738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5A108FE8-1144-DD45-969E-7029321F3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Fișiere</a:t>
            </a:r>
            <a:endParaRPr lang="en-US" altLang="ro-RO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B628BF8D-AAB1-E446-860A-763E93F64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Unități de stocare</a:t>
            </a:r>
          </a:p>
          <a:p>
            <a:pPr eaLnBrk="1" hangingPunct="1"/>
            <a:r>
              <a:rPr lang="ro-RO" altLang="ro-RO"/>
              <a:t>Deschise și folosite de procese</a:t>
            </a:r>
          </a:p>
          <a:p>
            <a:pPr eaLnBrk="1" hangingPunct="1"/>
            <a:r>
              <a:rPr lang="ro-RO" altLang="ro-RO"/>
              <a:t>Fișier pe disc (static) și fișier deschis (dinamic, în cadrul unui proces)</a:t>
            </a:r>
          </a:p>
          <a:p>
            <a:pPr eaLnBrk="1" hangingPunct="1"/>
            <a:r>
              <a:rPr lang="ro-RO" altLang="ro-RO"/>
              <a:t>Fișier pe disc: nume, dimensiune, permisiuni, timestamp-uri</a:t>
            </a:r>
          </a:p>
          <a:p>
            <a:pPr eaLnBrk="1" hangingPunct="1"/>
            <a:r>
              <a:rPr lang="ro-RO" altLang="ro-RO"/>
              <a:t>Fișier deschis: handle de fișier, cursor de fișier, drepturi de deschidere, operații pe fișier</a:t>
            </a:r>
            <a:endParaRPr lang="en-US" altLang="ro-RO"/>
          </a:p>
        </p:txBody>
      </p:sp>
      <p:sp>
        <p:nvSpPr>
          <p:cNvPr id="45061" name="Slide Number Placeholder 4">
            <a:extLst>
              <a:ext uri="{FF2B5EF4-FFF2-40B4-BE49-F238E27FC236}">
                <a16:creationId xmlns:a16="http://schemas.microsoft.com/office/drawing/2014/main" id="{9B408E5B-2C6F-1243-83A4-93B62A17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F29A474-9488-6847-A416-A8EFB2738B01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49C931EC-632D-D149-9806-7B52BD20B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248400"/>
            <a:ext cx="452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 dirty="0"/>
              <a:t>Mai multe la cam toate cursurile următoare </a:t>
            </a:r>
            <a:r>
              <a:rPr lang="ro-RO" altLang="ro-RO" sz="1800" dirty="0">
                <a:sym typeface="Wingdings" pitchFamily="2" charset="2"/>
              </a:rPr>
              <a:t></a:t>
            </a:r>
            <a:endParaRPr lang="en-US" altLang="ro-RO" sz="1800" dirty="0"/>
          </a:p>
        </p:txBody>
      </p:sp>
    </p:spTree>
    <p:extLst>
      <p:ext uri="{BB962C8B-B14F-4D97-AF65-F5344CB8AC3E}">
        <p14:creationId xmlns:p14="http://schemas.microsoft.com/office/powerpoint/2010/main" val="3658683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936916-121E-D74E-BDEA-A0DFE3E5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Structura </a:t>
            </a:r>
            <a:r>
              <a:rPr lang="fr-FR" dirty="0" err="1"/>
              <a:t>Unui</a:t>
            </a:r>
            <a:r>
              <a:rPr lang="fr-FR" dirty="0"/>
              <a:t> SO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C901C2C-B13B-A64E-B1A5-6291BAA1B0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CD7695-1D0B-1640-A617-BBD879427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660526"/>
            <a:ext cx="3962400" cy="1905000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124375-3286-C547-A06E-362D964A9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780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67384FC-4D02-463A-9E03-C713B9FAC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o-RO" dirty="0">
                <a:ea typeface="+mj-ea"/>
                <a:cs typeface="+mj-cs"/>
              </a:rPr>
              <a:t>Stiva software pentru un sistem de calcul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A07F5-DC9C-4E30-85A6-0AA633A6C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  <p:sp>
        <p:nvSpPr>
          <p:cNvPr id="47108" name="Slide Number Placeholder 4">
            <a:extLst>
              <a:ext uri="{FF2B5EF4-FFF2-40B4-BE49-F238E27FC236}">
                <a16:creationId xmlns:a16="http://schemas.microsoft.com/office/drawing/2014/main" id="{1D820099-D525-874D-A5C3-4C3302B2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86D0B73-D7D5-474B-8EAD-0C286E35FC21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5B7859-81C4-499B-8103-A130E334B301}"/>
              </a:ext>
            </a:extLst>
          </p:cNvPr>
          <p:cNvSpPr/>
          <p:nvPr/>
        </p:nvSpPr>
        <p:spPr>
          <a:xfrm>
            <a:off x="1905000" y="5181600"/>
            <a:ext cx="563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o-RO" dirty="0"/>
              <a:t>Nucleu (kernel)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C5DCD4-0468-4AF1-807A-67CA8B417670}"/>
              </a:ext>
            </a:extLst>
          </p:cNvPr>
          <p:cNvSpPr/>
          <p:nvPr/>
        </p:nvSpPr>
        <p:spPr>
          <a:xfrm>
            <a:off x="1905000" y="4038600"/>
            <a:ext cx="563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o-RO" dirty="0"/>
              <a:t>Utilitare de sistem, biblioteci low-level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DF0025-EB55-4F66-8ADB-4A8B484515E0}"/>
              </a:ext>
            </a:extLst>
          </p:cNvPr>
          <p:cNvSpPr/>
          <p:nvPr/>
        </p:nvSpPr>
        <p:spPr>
          <a:xfrm>
            <a:off x="1905000" y="2971800"/>
            <a:ext cx="563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o-RO" dirty="0"/>
              <a:t>Framework-uri, biblioteci, servicii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1B97F3-B522-4DD2-BD9B-06E4B91E5224}"/>
              </a:ext>
            </a:extLst>
          </p:cNvPr>
          <p:cNvSpPr/>
          <p:nvPr/>
        </p:nvSpPr>
        <p:spPr>
          <a:xfrm>
            <a:off x="1905000" y="1905000"/>
            <a:ext cx="56388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defRPr/>
            </a:pPr>
            <a:r>
              <a:rPr lang="ro-RO" altLang="ro-RO" sz="1800">
                <a:solidFill>
                  <a:srgbClr val="FFFFFF"/>
                </a:solidFill>
                <a:latin typeface="Calibri" panose="020F0502020204030204" pitchFamily="34" charset="0"/>
              </a:rPr>
              <a:t>Aplicații</a:t>
            </a:r>
            <a:endParaRPr lang="en-US" altLang="ro-RO" sz="18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4604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07BA37B5-5FE0-B340-9441-41CC90DE8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Nucleul (kernel-ul)</a:t>
            </a:r>
            <a:endParaRPr lang="en-US" altLang="ro-RO"/>
          </a:p>
        </p:txBody>
      </p:sp>
      <p:sp>
        <p:nvSpPr>
          <p:cNvPr id="48131" name="Content Placeholder 4">
            <a:extLst>
              <a:ext uri="{FF2B5EF4-FFF2-40B4-BE49-F238E27FC236}">
                <a16:creationId xmlns:a16="http://schemas.microsoft.com/office/drawing/2014/main" id="{515AAC8A-6AE0-CF47-870B-9B689CFAB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o-RO" altLang="ro-RO" sz="3000"/>
              <a:t>Strict tehnic, nucleul este sistemul de operare</a:t>
            </a:r>
          </a:p>
          <a:p>
            <a:pPr lvl="1" eaLnBrk="1" hangingPunct="1">
              <a:lnSpc>
                <a:spcPct val="80000"/>
              </a:lnSpc>
            </a:pPr>
            <a:r>
              <a:rPr lang="ro-RO" altLang="ro-RO" sz="2600"/>
              <a:t>Windows are ca nucleul WindowsNT din imaginea ntoskrnl.exe</a:t>
            </a:r>
          </a:p>
          <a:p>
            <a:pPr lvl="1" eaLnBrk="1" hangingPunct="1">
              <a:lnSpc>
                <a:spcPct val="80000"/>
              </a:lnSpc>
            </a:pPr>
            <a:r>
              <a:rPr lang="ro-RO" altLang="ro-RO" sz="2600"/>
              <a:t>Linux este nucleul unei distribuții GNU/Linux și Android</a:t>
            </a:r>
          </a:p>
          <a:p>
            <a:pPr lvl="1" eaLnBrk="1" hangingPunct="1">
              <a:lnSpc>
                <a:spcPct val="80000"/>
              </a:lnSpc>
            </a:pPr>
            <a:r>
              <a:rPr lang="ro-RO" altLang="ro-RO" sz="2600"/>
              <a:t>Mac OS X și iOS au ca nucleu XNU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/>
              <a:t>Încărcat la bootare apoi pornește primele aplicații și gestionează hardware-ul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/>
              <a:t>Răspunde apelurilor de sistem ale proceselor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/>
              <a:t>Gestionează resursele hardware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/>
              <a:t>Garantează integritatea sistemului</a:t>
            </a:r>
            <a:endParaRPr lang="en-US" altLang="ro-RO" sz="3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1AD870-E955-419B-A301-1B4FA282D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  <p:sp>
        <p:nvSpPr>
          <p:cNvPr id="48133" name="Slide Number Placeholder 3">
            <a:extLst>
              <a:ext uri="{FF2B5EF4-FFF2-40B4-BE49-F238E27FC236}">
                <a16:creationId xmlns:a16="http://schemas.microsoft.com/office/drawing/2014/main" id="{390DB387-24EC-8D48-9075-8E18FA13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D9A84ED-E3A4-C349-A364-AB7B45D07317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4686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>
            <a:extLst>
              <a:ext uri="{FF2B5EF4-FFF2-40B4-BE49-F238E27FC236}">
                <a16:creationId xmlns:a16="http://schemas.microsoft.com/office/drawing/2014/main" id="{8E5EC860-74BF-BB4F-B80E-6D8B353E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Structura uzuală a SO (monolitic)</a:t>
            </a:r>
            <a:endParaRPr lang="en-US" altLang="ro-RO"/>
          </a:p>
        </p:txBody>
      </p:sp>
      <p:pic>
        <p:nvPicPr>
          <p:cNvPr id="49155" name="Content Placeholder 7" descr="OSCE-unix.png">
            <a:extLst>
              <a:ext uri="{FF2B5EF4-FFF2-40B4-BE49-F238E27FC236}">
                <a16:creationId xmlns:a16="http://schemas.microsoft.com/office/drawing/2014/main" id="{0A4AD5E9-5DA3-D540-AF0B-AFABD83BB4A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49313" y="1600200"/>
            <a:ext cx="7445375" cy="452596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339265-95BE-4945-8025-CF122912B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  <p:sp>
        <p:nvSpPr>
          <p:cNvPr id="49157" name="Slide Number Placeholder 4">
            <a:extLst>
              <a:ext uri="{FF2B5EF4-FFF2-40B4-BE49-F238E27FC236}">
                <a16:creationId xmlns:a16="http://schemas.microsoft.com/office/drawing/2014/main" id="{2439F4DF-551D-3C4A-843C-40133F8A4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FAE08F-7AF8-D040-904E-A8399FA5DE68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49158" name="TextBox 8">
            <a:extLst>
              <a:ext uri="{FF2B5EF4-FFF2-40B4-BE49-F238E27FC236}">
                <a16:creationId xmlns:a16="http://schemas.microsoft.com/office/drawing/2014/main" id="{BCC86509-C20D-8E47-B815-FD600C143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227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OSCE, fig. 2.13, pg. 69</a:t>
            </a:r>
            <a:endParaRPr lang="en-US" altLang="ro-RO" sz="1800"/>
          </a:p>
        </p:txBody>
      </p:sp>
    </p:spTree>
    <p:extLst>
      <p:ext uri="{BB962C8B-B14F-4D97-AF65-F5344CB8AC3E}">
        <p14:creationId xmlns:p14="http://schemas.microsoft.com/office/powerpoint/2010/main" val="6544096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F5AE017B-261C-4448-AD48-1E0C06637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SO monolotic vs. SO microkernel</a:t>
            </a:r>
            <a:endParaRPr lang="en-US" altLang="ro-RO"/>
          </a:p>
        </p:txBody>
      </p:sp>
      <p:pic>
        <p:nvPicPr>
          <p:cNvPr id="50179" name="Content Placeholder 5" descr="OS-structure.png">
            <a:extLst>
              <a:ext uri="{FF2B5EF4-FFF2-40B4-BE49-F238E27FC236}">
                <a16:creationId xmlns:a16="http://schemas.microsoft.com/office/drawing/2014/main" id="{24789357-56BC-C14F-926E-267BFF6BA6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00125" y="1957388"/>
            <a:ext cx="7143750" cy="381000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FE9C57-9740-4591-8360-A475EB011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  <p:sp>
        <p:nvSpPr>
          <p:cNvPr id="50181" name="Slide Number Placeholder 4">
            <a:extLst>
              <a:ext uri="{FF2B5EF4-FFF2-40B4-BE49-F238E27FC236}">
                <a16:creationId xmlns:a16="http://schemas.microsoft.com/office/drawing/2014/main" id="{CFB81038-7B63-9B49-B1F2-E8320EFD6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47CB48-7867-464B-BA3B-E9A805695083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50182" name="TextBox 6">
            <a:extLst>
              <a:ext uri="{FF2B5EF4-FFF2-40B4-BE49-F238E27FC236}">
                <a16:creationId xmlns:a16="http://schemas.microsoft.com/office/drawing/2014/main" id="{D8CCD63A-1A7D-604D-9171-048F61375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5943600"/>
            <a:ext cx="4144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https://en.wikipedia.org/wiki/Microkernel</a:t>
            </a:r>
            <a:endParaRPr lang="en-US" altLang="ro-RO" sz="1800"/>
          </a:p>
        </p:txBody>
      </p:sp>
    </p:spTree>
    <p:extLst>
      <p:ext uri="{BB962C8B-B14F-4D97-AF65-F5344CB8AC3E}">
        <p14:creationId xmlns:p14="http://schemas.microsoft.com/office/powerpoint/2010/main" val="25215967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708F7-6583-46E9-91F0-827A61807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o-RO" dirty="0">
                <a:ea typeface="+mj-ea"/>
                <a:cs typeface="+mj-cs"/>
              </a:rPr>
              <a:t>SO monolotic vs. SO microkernel (2)</a:t>
            </a:r>
            <a:endParaRPr lang="en-US" dirty="0">
              <a:ea typeface="+mj-ea"/>
              <a:cs typeface="+mj-cs"/>
            </a:endParaRPr>
          </a:p>
        </p:txBody>
      </p:sp>
      <p:sp>
        <p:nvSpPr>
          <p:cNvPr id="51203" name="Text Placeholder 5">
            <a:extLst>
              <a:ext uri="{FF2B5EF4-FFF2-40B4-BE49-F238E27FC236}">
                <a16:creationId xmlns:a16="http://schemas.microsoft.com/office/drawing/2014/main" id="{7A53B36D-B8A4-EB4C-B409-D794904F4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Monolitic</a:t>
            </a:r>
            <a:endParaRPr lang="en-US" altLang="ro-RO"/>
          </a:p>
        </p:txBody>
      </p:sp>
      <p:sp>
        <p:nvSpPr>
          <p:cNvPr id="51204" name="Content Placeholder 6">
            <a:extLst>
              <a:ext uri="{FF2B5EF4-FFF2-40B4-BE49-F238E27FC236}">
                <a16:creationId xmlns:a16="http://schemas.microsoft.com/office/drawing/2014/main" id="{A195C2BF-A416-9443-922F-32F7ED3B8F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Eficient</a:t>
            </a:r>
          </a:p>
          <a:p>
            <a:pPr eaLnBrk="1" hangingPunct="1"/>
            <a:r>
              <a:rPr lang="ro-RO" altLang="ro-RO"/>
              <a:t>Coeziunea codului/datelor</a:t>
            </a:r>
          </a:p>
          <a:p>
            <a:pPr eaLnBrk="1" hangingPunct="1"/>
            <a:r>
              <a:rPr lang="ro-RO" altLang="ro-RO"/>
              <a:t>Mai puțin flexibil</a:t>
            </a:r>
          </a:p>
          <a:p>
            <a:pPr eaLnBrk="1" hangingPunct="1"/>
            <a:r>
              <a:rPr lang="ro-RO" altLang="ro-RO"/>
              <a:t>TCB (Trusted Computing Base) mai mare (design mai puțin sigur)</a:t>
            </a:r>
            <a:endParaRPr lang="en-US" altLang="ro-RO"/>
          </a:p>
        </p:txBody>
      </p:sp>
      <p:sp>
        <p:nvSpPr>
          <p:cNvPr id="51205" name="Text Placeholder 7">
            <a:extLst>
              <a:ext uri="{FF2B5EF4-FFF2-40B4-BE49-F238E27FC236}">
                <a16:creationId xmlns:a16="http://schemas.microsoft.com/office/drawing/2014/main" id="{7EB6C709-B1AB-3847-87CE-83042E1018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Microkernel</a:t>
            </a:r>
            <a:endParaRPr lang="en-US" altLang="ro-RO"/>
          </a:p>
        </p:txBody>
      </p:sp>
      <p:sp>
        <p:nvSpPr>
          <p:cNvPr id="51206" name="Content Placeholder 8">
            <a:extLst>
              <a:ext uri="{FF2B5EF4-FFF2-40B4-BE49-F238E27FC236}">
                <a16:creationId xmlns:a16="http://schemas.microsoft.com/office/drawing/2014/main" id="{5ABE1E6E-7693-564D-A289-B129DC704D4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eaLnBrk="1" hangingPunct="1"/>
            <a:r>
              <a:rPr lang="ro-RO" altLang="ro-RO"/>
              <a:t>Mai lent (comunicare între servicii)</a:t>
            </a:r>
          </a:p>
          <a:p>
            <a:pPr eaLnBrk="1" hangingPunct="1"/>
            <a:r>
              <a:rPr lang="ro-RO" altLang="ro-RO"/>
              <a:t>Componentizabil, flexibil, modular</a:t>
            </a:r>
          </a:p>
          <a:p>
            <a:pPr eaLnBrk="1" hangingPunct="1"/>
            <a:r>
              <a:rPr lang="ro-RO" altLang="ro-RO"/>
              <a:t>TCB redus (design mai sigur)</a:t>
            </a:r>
            <a:endParaRPr lang="en-US" alt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5E229-A8DD-4A45-B086-556A2D16D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  <p:sp>
        <p:nvSpPr>
          <p:cNvPr id="51208" name="Slide Number Placeholder 4">
            <a:extLst>
              <a:ext uri="{FF2B5EF4-FFF2-40B4-BE49-F238E27FC236}">
                <a16:creationId xmlns:a16="http://schemas.microsoft.com/office/drawing/2014/main" id="{9381E0F6-F57F-A545-8299-A9B604C8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966D8B-EE39-0F4D-86F7-02ACD5FAA984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878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6770FAEB-AE72-2242-A578-1CAE7FFE6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Mașini virtuale</a:t>
            </a:r>
            <a:endParaRPr lang="en-US" altLang="ro-RO"/>
          </a:p>
        </p:txBody>
      </p:sp>
      <p:pic>
        <p:nvPicPr>
          <p:cNvPr id="52227" name="Content Placeholder 5" descr="OSCE-virtual-machines.png">
            <a:extLst>
              <a:ext uri="{FF2B5EF4-FFF2-40B4-BE49-F238E27FC236}">
                <a16:creationId xmlns:a16="http://schemas.microsoft.com/office/drawing/2014/main" id="{32A7A1C6-B0A0-E348-8496-6EDAC2A77A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6463" y="1600200"/>
            <a:ext cx="7331075" cy="4525963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4B3C0-67BF-40EF-93A1-B16EC96FF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SO: Curs 1: Introducere</a:t>
            </a:r>
          </a:p>
        </p:txBody>
      </p:sp>
      <p:sp>
        <p:nvSpPr>
          <p:cNvPr id="52229" name="Slide Number Placeholder 4">
            <a:extLst>
              <a:ext uri="{FF2B5EF4-FFF2-40B4-BE49-F238E27FC236}">
                <a16:creationId xmlns:a16="http://schemas.microsoft.com/office/drawing/2014/main" id="{3C04D7B9-4DA8-974F-820E-54ACD453D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4B70A6-6DDF-714E-A958-439DFA71A9AF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ro-RO" sz="1200">
              <a:solidFill>
                <a:srgbClr val="898989"/>
              </a:solidFill>
            </a:endParaRPr>
          </a:p>
        </p:txBody>
      </p:sp>
      <p:sp>
        <p:nvSpPr>
          <p:cNvPr id="52230" name="TextBox 6">
            <a:extLst>
              <a:ext uri="{FF2B5EF4-FFF2-40B4-BE49-F238E27FC236}">
                <a16:creationId xmlns:a16="http://schemas.microsoft.com/office/drawing/2014/main" id="{42BA83FA-3602-0E48-A71A-7657B98EF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6248400"/>
            <a:ext cx="22272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ro-RO" sz="1800"/>
              <a:t>OSCE, fig. 2.17, pg. 74</a:t>
            </a:r>
            <a:endParaRPr lang="en-US" altLang="ro-RO" sz="1800"/>
          </a:p>
        </p:txBody>
      </p:sp>
    </p:spTree>
    <p:extLst>
      <p:ext uri="{BB962C8B-B14F-4D97-AF65-F5344CB8AC3E}">
        <p14:creationId xmlns:p14="http://schemas.microsoft.com/office/powerpoint/2010/main" val="33805991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F5B3D-4F5C-244E-B919-6D286040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Windows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F23704-6FC8-9844-AF2C-E4A2BAE5D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5800" y="1951831"/>
            <a:ext cx="5232400" cy="3822700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A14BF-4493-0149-BDEF-6885099A3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843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D88E1-33CC-2045-8AE1-AA1254E0D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Linux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B346C05-13AE-0941-945B-1E60A7C569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922" y="1600200"/>
            <a:ext cx="8046156" cy="4525963"/>
          </a:xfr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EC6B8-C0AA-4242-BB31-22BA9DA3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529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BFA32-F19A-6E41-9846-AF9942149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Minix</a:t>
            </a:r>
            <a:r>
              <a:rPr lang="en-US" dirty="0"/>
              <a:t> 3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DA50F9-94CE-9442-89ED-7691CCD70F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35017"/>
            <a:ext cx="8229600" cy="4256328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CC3E6C-F7D2-7E4B-ABF1-8FA7F526B76C}"/>
              </a:ext>
            </a:extLst>
          </p:cNvPr>
          <p:cNvSpPr txBox="1"/>
          <p:nvPr/>
        </p:nvSpPr>
        <p:spPr>
          <a:xfrm>
            <a:off x="11458937" y="45604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849CDFC-391A-EF48-BC8F-77B3DC85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0248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B2857-E0C7-4542-833C-BB073E7C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FreeRTOS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CA5F20-F15B-BC48-9B3B-A76AA543FF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780" y="1600200"/>
            <a:ext cx="4310440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95D5A-1727-1142-B4FA-0C665769F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021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9D13B-C4EE-4C4A-B59C-C8AFDD3A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Zephyr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2ED78B4-6AAE-0E4A-A17B-0E5C27E9A0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1353426"/>
            <a:ext cx="5638800" cy="501951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99AF3-30CC-A243-9ECD-DD835F3BE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4231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B840-D3A5-D848-9AF8-E70133778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TockOS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D2942F-CEAF-9E45-BE5C-360A1335DC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792" y="1600200"/>
            <a:ext cx="5570416" cy="452596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D966D-732D-6C4C-B80B-75766EEDE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533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>
            <a:extLst>
              <a:ext uri="{FF2B5EF4-FFF2-40B4-BE49-F238E27FC236}">
                <a16:creationId xmlns:a16="http://schemas.microsoft.com/office/drawing/2014/main" id="{031E11DD-B2E1-E947-8733-7374780BA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7467600" cy="5635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ro-RO" altLang="ro-RO" dirty="0" err="1"/>
              <a:t>Reminder</a:t>
            </a:r>
            <a:r>
              <a:rPr lang="ro-RO" altLang="ro-RO" dirty="0"/>
              <a:t>: Resursele cursului de SO</a:t>
            </a:r>
            <a:endParaRPr lang="en-US" altLang="ro-RO" dirty="0"/>
          </a:p>
        </p:txBody>
      </p:sp>
      <p:sp>
        <p:nvSpPr>
          <p:cNvPr id="54275" name="Content Placeholder 2">
            <a:extLst>
              <a:ext uri="{FF2B5EF4-FFF2-40B4-BE49-F238E27FC236}">
                <a16:creationId xmlns:a16="http://schemas.microsoft.com/office/drawing/2014/main" id="{3485B3E6-3302-7146-86BB-72EA1B1D9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ro-RO" altLang="ro-RO" sz="3000" dirty="0"/>
              <a:t>echipa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 err="1"/>
              <a:t>wiki</a:t>
            </a:r>
            <a:r>
              <a:rPr lang="ro-RO" altLang="ro-RO" sz="3000" dirty="0"/>
              <a:t>: </a:t>
            </a:r>
            <a:r>
              <a:rPr lang="ro-RO" altLang="ro-RO" sz="3000" dirty="0">
                <a:hlinkClick r:id="rId2"/>
              </a:rPr>
              <a:t>http://ocw.cs.pub.ro/courses/so/</a:t>
            </a:r>
            <a:endParaRPr lang="ro-RO" altLang="ro-RO" sz="3000" dirty="0"/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 err="1"/>
              <a:t>moodle</a:t>
            </a:r>
            <a:r>
              <a:rPr lang="ro-RO" altLang="ro-RO" sz="3000" dirty="0"/>
              <a:t>: </a:t>
            </a:r>
            <a:r>
              <a:rPr lang="ro-RO" altLang="ro-RO" sz="3000" dirty="0">
                <a:hlinkClick r:id="rId3"/>
              </a:rPr>
              <a:t>http://cs.curs.pub.ro</a:t>
            </a:r>
            <a:endParaRPr lang="ro-RO" altLang="ro-RO" sz="3000" dirty="0"/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/>
              <a:t>listă de discuții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 err="1"/>
              <a:t>slide</a:t>
            </a:r>
            <a:r>
              <a:rPr lang="ro-RO" altLang="ro-RO" sz="3000" dirty="0"/>
              <a:t>-uri cursuri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/>
              <a:t>catalog și calendar Google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/>
              <a:t>mașini virtuale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/>
              <a:t>interfața </a:t>
            </a:r>
            <a:r>
              <a:rPr lang="ro-RO" altLang="ro-RO" sz="3000" dirty="0" err="1"/>
              <a:t>vmchecker</a:t>
            </a:r>
            <a:endParaRPr lang="ro-RO" altLang="ro-RO" sz="3000" dirty="0"/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/>
              <a:t>documentație</a:t>
            </a:r>
          </a:p>
          <a:p>
            <a:pPr eaLnBrk="1" hangingPunct="1">
              <a:lnSpc>
                <a:spcPct val="80000"/>
              </a:lnSpc>
            </a:pPr>
            <a:r>
              <a:rPr lang="ro-RO" altLang="ro-RO" sz="3000" dirty="0"/>
              <a:t>pagina de Facebook</a:t>
            </a:r>
          </a:p>
        </p:txBody>
      </p:sp>
      <p:sp>
        <p:nvSpPr>
          <p:cNvPr id="54277" name="Slide Number Placeholder 4">
            <a:extLst>
              <a:ext uri="{FF2B5EF4-FFF2-40B4-BE49-F238E27FC236}">
                <a16:creationId xmlns:a16="http://schemas.microsoft.com/office/drawing/2014/main" id="{72A91990-5CE3-2443-A49B-06228CEC9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195CEB-A4D7-C247-8232-47BCAC2CB98F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4930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B09F718E-E32B-B24F-A770-1152318A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Concluzie</a:t>
            </a:r>
            <a:endParaRPr lang="en-US" altLang="ro-RO"/>
          </a:p>
        </p:txBody>
      </p:sp>
      <p:sp>
        <p:nvSpPr>
          <p:cNvPr id="55299" name="Content Placeholder 2">
            <a:extLst>
              <a:ext uri="{FF2B5EF4-FFF2-40B4-BE49-F238E27FC236}">
                <a16:creationId xmlns:a16="http://schemas.microsoft.com/office/drawing/2014/main" id="{628E9924-7AD7-6B42-9A86-406D7C01A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altLang="ro-RO" sz="2700"/>
              <a:t>Cunoștințele de SO sunt utile pentru</a:t>
            </a:r>
          </a:p>
          <a:p>
            <a:pPr lvl="1" eaLnBrk="1" hangingPunct="1">
              <a:lnSpc>
                <a:spcPct val="90000"/>
              </a:lnSpc>
            </a:pPr>
            <a:r>
              <a:rPr lang="ro-RO" altLang="ro-RO" sz="2400"/>
              <a:t>securitate</a:t>
            </a:r>
          </a:p>
          <a:p>
            <a:pPr lvl="1" eaLnBrk="1" hangingPunct="1">
              <a:lnSpc>
                <a:spcPct val="90000"/>
              </a:lnSpc>
            </a:pPr>
            <a:r>
              <a:rPr lang="ro-RO" altLang="ro-RO" sz="2400"/>
              <a:t>depanare</a:t>
            </a:r>
          </a:p>
          <a:p>
            <a:pPr lvl="1" eaLnBrk="1" hangingPunct="1">
              <a:lnSpc>
                <a:spcPct val="90000"/>
              </a:lnSpc>
            </a:pPr>
            <a:r>
              <a:rPr lang="ro-RO" altLang="ro-RO" sz="2400"/>
              <a:t>performanță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700"/>
              <a:t>Conceptele de SO sunt relativ complexe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700"/>
              <a:t>Sunt foarte importante legăturile între concepte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700"/>
              <a:t>Vom insista pe fiecare concept în următoarele cursuri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700"/>
              <a:t>Sistemul de operare este strâns legat de hardware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 sz="2700"/>
              <a:t>Nucleul SO gestionează hardware-ul și asigură securitatea sistemului</a:t>
            </a:r>
          </a:p>
        </p:txBody>
      </p:sp>
      <p:sp>
        <p:nvSpPr>
          <p:cNvPr id="55301" name="Slide Number Placeholder 4">
            <a:extLst>
              <a:ext uri="{FF2B5EF4-FFF2-40B4-BE49-F238E27FC236}">
                <a16:creationId xmlns:a16="http://schemas.microsoft.com/office/drawing/2014/main" id="{6D3830B5-C998-EB4F-B6ED-AED0C93A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50FFAE-545B-7944-B593-678B737EE3FA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91850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>
            <a:extLst>
              <a:ext uri="{FF2B5EF4-FFF2-40B4-BE49-F238E27FC236}">
                <a16:creationId xmlns:a16="http://schemas.microsoft.com/office/drawing/2014/main" id="{A5AC0841-B1BA-F14F-A908-0B24542A8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o-RO" altLang="ro-RO"/>
              <a:t>Cuvinte cheie</a:t>
            </a:r>
            <a:endParaRPr lang="en-US" altLang="ro-RO"/>
          </a:p>
        </p:txBody>
      </p:sp>
      <p:sp>
        <p:nvSpPr>
          <p:cNvPr id="56323" name="Content Placeholder 5">
            <a:extLst>
              <a:ext uri="{FF2B5EF4-FFF2-40B4-BE49-F238E27FC236}">
                <a16:creationId xmlns:a16="http://schemas.microsoft.com/office/drawing/2014/main" id="{EB839287-5B00-DD45-93F5-5C59254280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altLang="ro-RO"/>
              <a:t>sistem de operare (SO)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comunitatea SO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sistem de calcul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hardware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procesor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memorie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procese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spațiu virtual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memorie virtuală</a:t>
            </a:r>
          </a:p>
          <a:p>
            <a:pPr eaLnBrk="1" hangingPunct="1">
              <a:lnSpc>
                <a:spcPct val="90000"/>
              </a:lnSpc>
            </a:pPr>
            <a:endParaRPr lang="ro-RO" altLang="ro-RO"/>
          </a:p>
          <a:p>
            <a:pPr eaLnBrk="1" hangingPunct="1">
              <a:lnSpc>
                <a:spcPct val="90000"/>
              </a:lnSpc>
            </a:pPr>
            <a:endParaRPr lang="en-US" altLang="ro-RO"/>
          </a:p>
        </p:txBody>
      </p:sp>
      <p:sp>
        <p:nvSpPr>
          <p:cNvPr id="56324" name="Content Placeholder 6">
            <a:extLst>
              <a:ext uri="{FF2B5EF4-FFF2-40B4-BE49-F238E27FC236}">
                <a16:creationId xmlns:a16="http://schemas.microsoft.com/office/drawing/2014/main" id="{4BEF4012-7993-CF46-BBED-12046F52B4E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o-RO" altLang="ro-RO"/>
              <a:t>mod de execuție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kernel mode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user mode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apel de sistem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fișiere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nucleu/kernel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SO monolitic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SO microkernel</a:t>
            </a:r>
          </a:p>
          <a:p>
            <a:pPr eaLnBrk="1" hangingPunct="1">
              <a:lnSpc>
                <a:spcPct val="90000"/>
              </a:lnSpc>
            </a:pPr>
            <a:r>
              <a:rPr lang="ro-RO" altLang="ro-RO"/>
              <a:t>mașină virtulă</a:t>
            </a:r>
          </a:p>
          <a:p>
            <a:pPr eaLnBrk="1" hangingPunct="1">
              <a:lnSpc>
                <a:spcPct val="90000"/>
              </a:lnSpc>
            </a:pPr>
            <a:endParaRPr lang="en-US" altLang="ro-RO"/>
          </a:p>
        </p:txBody>
      </p:sp>
      <p:sp>
        <p:nvSpPr>
          <p:cNvPr id="56326" name="Slide Number Placeholder 4">
            <a:extLst>
              <a:ext uri="{FF2B5EF4-FFF2-40B4-BE49-F238E27FC236}">
                <a16:creationId xmlns:a16="http://schemas.microsoft.com/office/drawing/2014/main" id="{C4F57572-1A3B-0246-81B4-16547D45F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C5CCF6-E313-EF4F-A8DF-5BCFA0F39A99}" type="slidenum">
              <a:rPr lang="en-US" altLang="ro-RO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ro-RO" sz="1200">
              <a:solidFill>
                <a:srgbClr val="8989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41795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/>
              <a:t>Întrebări</a:t>
            </a:r>
          </a:p>
        </p:txBody>
      </p:sp>
      <p:pic>
        <p:nvPicPr>
          <p:cNvPr id="6" name="Content Placeholder 5" descr="questionMarkIcon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3834384" y="3134709"/>
            <a:ext cx="1475232" cy="1456944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17490-7D10-5848-8514-BF8A22DFD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5EE2D-F026-4E21-871A-E6BCBAD13C3B}" type="slidenum">
              <a:rPr lang="ro-RO" smtClean="0"/>
              <a:pPr/>
              <a:t>56</a:t>
            </a:fld>
            <a:endParaRPr 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12331</TotalTime>
  <Words>1843</Words>
  <Application>Microsoft Macintosh PowerPoint</Application>
  <PresentationFormat>On-screen Show (4:3)</PresentationFormat>
  <Paragraphs>416</Paragraphs>
  <Slides>56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Sisteme de Operare </vt:lpstr>
      <vt:lpstr>Cine suntem</vt:lpstr>
      <vt:lpstr>Cursuri de SO</vt:lpstr>
      <vt:lpstr>Legături cu alte discipline</vt:lpstr>
      <vt:lpstr>Bibliografie</vt:lpstr>
      <vt:lpstr>Bibliografie suplimentară</vt:lpstr>
      <vt:lpstr>Resursele cursului de SO</vt:lpstr>
      <vt:lpstr>Comunitatea SO</vt:lpstr>
      <vt:lpstr>Conținut</vt:lpstr>
      <vt:lpstr>Cursuri Practice</vt:lpstr>
      <vt:lpstr>Teme</vt:lpstr>
      <vt:lpstr>Despre rezolvare teme</vt:lpstr>
      <vt:lpstr>Examen</vt:lpstr>
      <vt:lpstr>Computer Technology</vt:lpstr>
      <vt:lpstr>Cuprins</vt:lpstr>
      <vt:lpstr>Bibliografie</vt:lpstr>
      <vt:lpstr>Pornirea sistemului</vt:lpstr>
      <vt:lpstr>Ce este un SO?</vt:lpstr>
      <vt:lpstr>Ce este un SO?</vt:lpstr>
      <vt:lpstr>Structura unui SO</vt:lpstr>
      <vt:lpstr>Legătura SO - hardware</vt:lpstr>
      <vt:lpstr>Sistem de calcul, Hardware</vt:lpstr>
      <vt:lpstr>Sistem de calcul</vt:lpstr>
      <vt:lpstr>Hardware-ul unui sistem de calcul</vt:lpstr>
      <vt:lpstr>Procesor și memorie</vt:lpstr>
      <vt:lpstr>Magistrale</vt:lpstr>
      <vt:lpstr>Exemplu</vt:lpstr>
      <vt:lpstr>Memorie</vt:lpstr>
      <vt:lpstr>ComponentE Important în SO</vt:lpstr>
      <vt:lpstr>Shell</vt:lpstr>
      <vt:lpstr>Procese</vt:lpstr>
      <vt:lpstr>Memoria unui proces</vt:lpstr>
      <vt:lpstr>Memorie virtuală</vt:lpstr>
      <vt:lpstr>Thread-uri</vt:lpstr>
      <vt:lpstr>Concurență și sincronizare</vt:lpstr>
      <vt:lpstr>Moduri de execuție</vt:lpstr>
      <vt:lpstr>Traziția user mode – kernel mode</vt:lpstr>
      <vt:lpstr>Apeluri de sistem</vt:lpstr>
      <vt:lpstr>Fișiere</vt:lpstr>
      <vt:lpstr>Structura Unui SO</vt:lpstr>
      <vt:lpstr>Stiva software pentru un sistem de calcul</vt:lpstr>
      <vt:lpstr>Nucleul (kernel-ul)</vt:lpstr>
      <vt:lpstr>Structura uzuală a SO (monolitic)</vt:lpstr>
      <vt:lpstr>SO monolotic vs. SO microkernel</vt:lpstr>
      <vt:lpstr>SO monolotic vs. SO microkernel (2)</vt:lpstr>
      <vt:lpstr>Mașini virtuale</vt:lpstr>
      <vt:lpstr>Windows</vt:lpstr>
      <vt:lpstr>Linux</vt:lpstr>
      <vt:lpstr>Minix 3</vt:lpstr>
      <vt:lpstr>FreeRTOS</vt:lpstr>
      <vt:lpstr>Zephyr</vt:lpstr>
      <vt:lpstr>TockOS</vt:lpstr>
      <vt:lpstr>Reminder: Resursele cursului de SO</vt:lpstr>
      <vt:lpstr>Concluzie</vt:lpstr>
      <vt:lpstr>Cuvinte cheie</vt:lpstr>
      <vt:lpstr>Întrebări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Alex</dc:creator>
  <cp:lastModifiedBy>Alexandru Radovici</cp:lastModifiedBy>
  <cp:revision>1024</cp:revision>
  <dcterms:created xsi:type="dcterms:W3CDTF">2010-02-23T11:53:40Z</dcterms:created>
  <dcterms:modified xsi:type="dcterms:W3CDTF">2020-02-17T11:56:59Z</dcterms:modified>
</cp:coreProperties>
</file>