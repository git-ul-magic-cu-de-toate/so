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6"/>
  </p:notesMasterIdLst>
  <p:handoutMasterIdLst>
    <p:handoutMasterId r:id="rId67"/>
  </p:handoutMasterIdLst>
  <p:sldIdLst>
    <p:sldId id="257" r:id="rId2"/>
    <p:sldId id="403" r:id="rId3"/>
    <p:sldId id="466" r:id="rId4"/>
    <p:sldId id="276" r:id="rId5"/>
    <p:sldId id="277" r:id="rId6"/>
    <p:sldId id="512" r:id="rId7"/>
    <p:sldId id="540" r:id="rId8"/>
    <p:sldId id="542" r:id="rId9"/>
    <p:sldId id="543" r:id="rId10"/>
    <p:sldId id="280" r:id="rId11"/>
    <p:sldId id="544" r:id="rId12"/>
    <p:sldId id="284" r:id="rId13"/>
    <p:sldId id="507" r:id="rId14"/>
    <p:sldId id="283" r:id="rId15"/>
    <p:sldId id="508" r:id="rId16"/>
    <p:sldId id="285" r:id="rId17"/>
    <p:sldId id="514" r:id="rId18"/>
    <p:sldId id="523" r:id="rId19"/>
    <p:sldId id="515" r:id="rId20"/>
    <p:sldId id="524" r:id="rId21"/>
    <p:sldId id="516" r:id="rId22"/>
    <p:sldId id="517" r:id="rId23"/>
    <p:sldId id="518" r:id="rId24"/>
    <p:sldId id="519" r:id="rId25"/>
    <p:sldId id="520" r:id="rId26"/>
    <p:sldId id="521" r:id="rId27"/>
    <p:sldId id="522" r:id="rId28"/>
    <p:sldId id="525" r:id="rId29"/>
    <p:sldId id="526" r:id="rId30"/>
    <p:sldId id="527" r:id="rId31"/>
    <p:sldId id="528" r:id="rId32"/>
    <p:sldId id="532" r:id="rId33"/>
    <p:sldId id="536" r:id="rId34"/>
    <p:sldId id="533" r:id="rId35"/>
    <p:sldId id="534" r:id="rId36"/>
    <p:sldId id="535" r:id="rId37"/>
    <p:sldId id="530" r:id="rId38"/>
    <p:sldId id="529" r:id="rId39"/>
    <p:sldId id="531" r:id="rId40"/>
    <p:sldId id="537" r:id="rId41"/>
    <p:sldId id="538" r:id="rId42"/>
    <p:sldId id="539" r:id="rId43"/>
    <p:sldId id="485" r:id="rId44"/>
    <p:sldId id="487" r:id="rId45"/>
    <p:sldId id="488" r:id="rId46"/>
    <p:sldId id="489" r:id="rId47"/>
    <p:sldId id="491" r:id="rId48"/>
    <p:sldId id="490" r:id="rId49"/>
    <p:sldId id="492" r:id="rId50"/>
    <p:sldId id="494" r:id="rId51"/>
    <p:sldId id="495" r:id="rId52"/>
    <p:sldId id="493" r:id="rId53"/>
    <p:sldId id="496" r:id="rId54"/>
    <p:sldId id="497" r:id="rId55"/>
    <p:sldId id="500" r:id="rId56"/>
    <p:sldId id="498" r:id="rId57"/>
    <p:sldId id="499" r:id="rId58"/>
    <p:sldId id="501" r:id="rId59"/>
    <p:sldId id="502" r:id="rId60"/>
    <p:sldId id="503" r:id="rId61"/>
    <p:sldId id="504" r:id="rId62"/>
    <p:sldId id="505" r:id="rId63"/>
    <p:sldId id="483" r:id="rId64"/>
    <p:sldId id="267" r:id="rId6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14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34" autoAdjust="0"/>
    <p:restoredTop sz="85087" autoAdjust="0"/>
  </p:normalViewPr>
  <p:slideViewPr>
    <p:cSldViewPr>
      <p:cViewPr varScale="1">
        <p:scale>
          <a:sx n="110" d="100"/>
          <a:sy n="110" d="100"/>
        </p:scale>
        <p:origin x="200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08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18"/>
    </p:cViewPr>
  </p:sorterViewPr>
  <p:notesViewPr>
    <p:cSldViewPr>
      <p:cViewPr varScale="1">
        <p:scale>
          <a:sx n="69" d="100"/>
          <a:sy n="69" d="100"/>
        </p:scale>
        <p:origin x="-2790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01A42E-C745-4D52-ACD7-4CA427CF4F78}" type="datetimeFigureOut">
              <a:rPr lang="en-US" smtClean="0"/>
              <a:pPr/>
              <a:t>3/23/20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F0CB2F-E359-427D-B4C1-80D122151B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10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6110FA-B3C3-4C93-B177-7D383B68ACCB}" type="datetimeFigureOut">
              <a:rPr lang="en-US" smtClean="0"/>
              <a:pPr/>
              <a:t>3/23/20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096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191000"/>
            <a:ext cx="54864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B301EB-536E-459D-BF26-B7AF0B3C17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5981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600" y="381000"/>
            <a:ext cx="48768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468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941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4493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223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400" y="2438400"/>
            <a:ext cx="4648200" cy="106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8600" y="3886200"/>
            <a:ext cx="4495800" cy="533400"/>
          </a:xfrm>
        </p:spPr>
        <p:txBody>
          <a:bodyPr>
            <a:noAutofit/>
          </a:bodyPr>
          <a:lstStyle>
            <a:lvl1pPr marL="0" indent="0" algn="l">
              <a:buNone/>
              <a:defRPr sz="3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E80A-9FA1-D94C-9AC8-2DFDB75B3324}" type="datetime1">
              <a:rPr lang="ro-RO" smtClean="0"/>
              <a:t>23.03.2020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81000" y="1828800"/>
            <a:ext cx="3352800" cy="3276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162800" cy="5635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69270-5514-9246-900B-ED888FCCAE8F}" type="datetime1">
              <a:rPr lang="ro-RO" smtClean="0"/>
              <a:t>23.03.2020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3BC7-FB55-9845-80D6-BD0683244A6F}" type="datetime1">
              <a:rPr lang="ro-RO" smtClean="0"/>
              <a:t>23.03.2020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D13-A941-B64F-A884-37CF169C52DA}" type="datetime1">
              <a:rPr lang="ro-RO" smtClean="0"/>
              <a:t>23.03.2020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D384-E5A5-3B4C-AD13-366CF706A15D}" type="datetime1">
              <a:rPr lang="ro-RO" smtClean="0"/>
              <a:t>23.03.2020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910C-8865-0A4C-AE0D-9CBC416F8CC4}" type="datetime1">
              <a:rPr lang="ro-RO" smtClean="0"/>
              <a:t>23.03.2020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3ABE3-8843-4443-8D05-18EF7E1F058A}" type="datetime1">
              <a:rPr lang="ro-RO" smtClean="0"/>
              <a:t>23.03.2020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543F9-D243-B946-B36A-E4C465AE7595}" type="datetime1">
              <a:rPr lang="ro-RO" smtClean="0"/>
              <a:t>23.03.2020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F6018-3745-8847-AB04-EDAB368A0BAF}" type="datetime1">
              <a:rPr lang="ro-RO" smtClean="0"/>
              <a:t>23.03.2020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583E6-3D2B-B144-96B3-0591C89AACD2}" type="datetime1">
              <a:rPr lang="ro-RO" smtClean="0"/>
              <a:t>23.03.2020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5110F-C4CB-6649-9BAC-7584921789EB}" type="datetime1">
              <a:rPr lang="ro-RO" smtClean="0"/>
              <a:t>23.03.2020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7467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70BE0-75C7-0E48-86F9-13113292EB8F}" type="datetime1">
              <a:rPr lang="ro-RO" smtClean="0"/>
              <a:t>23.03.2020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499DE6-865C-8F49-845D-89F89C77661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74646" y="152400"/>
            <a:ext cx="905346" cy="43637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C00000"/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FFC000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B050"/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o-RO" b="1"/>
              <a:t>Sisteme de operare</a:t>
            </a:r>
            <a:endParaRPr lang="ro-RO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/>
              <a:t>Planificarea proceselor, IPC</a:t>
            </a:r>
          </a:p>
        </p:txBody>
      </p:sp>
      <p:pic>
        <p:nvPicPr>
          <p:cNvPr id="11" name="Picture Placeholder 4">
            <a:extLst>
              <a:ext uri="{FF2B5EF4-FFF2-40B4-BE49-F238E27FC236}">
                <a16:creationId xmlns:a16="http://schemas.microsoft.com/office/drawing/2014/main" id="{AED628B3-2EF3-4141-8AAF-9C1297B95C3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268" b="-51268"/>
          <a:stretch/>
        </p:blipFill>
        <p:spPr/>
      </p:pic>
    </p:spTree>
    <p:extLst>
      <p:ext uri="{BB962C8B-B14F-4D97-AF65-F5344CB8AC3E}">
        <p14:creationId xmlns:p14="http://schemas.microsoft.com/office/powerpoint/2010/main" val="1505175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Cuprins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572000" cy="4525963"/>
          </a:xfrm>
        </p:spPr>
        <p:txBody>
          <a:bodyPr>
            <a:normAutofit/>
          </a:bodyPr>
          <a:lstStyle/>
          <a:p>
            <a:r>
              <a:rPr lang="ro-RO" dirty="0"/>
              <a:t>Planificare</a:t>
            </a:r>
          </a:p>
          <a:p>
            <a:pPr lvl="1"/>
            <a:r>
              <a:rPr lang="ro-RO" dirty="0"/>
              <a:t>Non-</a:t>
            </a:r>
            <a:r>
              <a:rPr lang="ro-RO" dirty="0" err="1"/>
              <a:t>preemtivă</a:t>
            </a:r>
            <a:endParaRPr lang="ro-RO" dirty="0"/>
          </a:p>
          <a:p>
            <a:pPr lvl="1"/>
            <a:r>
              <a:rPr lang="ro-RO" dirty="0" err="1"/>
              <a:t>Preemetivă</a:t>
            </a:r>
            <a:endParaRPr lang="ro-RO" dirty="0"/>
          </a:p>
          <a:p>
            <a:r>
              <a:rPr lang="ro-RO" dirty="0"/>
              <a:t>IPC</a:t>
            </a:r>
          </a:p>
          <a:p>
            <a:pPr lvl="1"/>
            <a:r>
              <a:rPr lang="ro-RO" dirty="0"/>
              <a:t>semnale</a:t>
            </a:r>
          </a:p>
          <a:p>
            <a:pPr lvl="1"/>
            <a:r>
              <a:rPr lang="ro-RO" dirty="0"/>
              <a:t>pipe</a:t>
            </a:r>
          </a:p>
          <a:p>
            <a:pPr lvl="1"/>
            <a:r>
              <a:rPr lang="ro-RO" dirty="0"/>
              <a:t>memorie partajată</a:t>
            </a:r>
          </a:p>
          <a:p>
            <a:pPr lvl="1"/>
            <a:r>
              <a:rPr lang="ro-RO" dirty="0" err="1"/>
              <a:t>socket</a:t>
            </a:r>
            <a:endParaRPr lang="ro-RO" dirty="0"/>
          </a:p>
        </p:txBody>
      </p:sp>
      <p:pic>
        <p:nvPicPr>
          <p:cNvPr id="6" name="Content Placeholder 5" descr="checklist2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5372100" y="2434431"/>
            <a:ext cx="2590800" cy="28575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A1572-7B95-894A-BCE2-FBE8C5D5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53909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Bibliografie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Modern </a:t>
            </a:r>
            <a:r>
              <a:rPr lang="ro-RO" dirty="0" err="1"/>
              <a:t>Operating</a:t>
            </a:r>
            <a:r>
              <a:rPr lang="ro-RO" dirty="0"/>
              <a:t> </a:t>
            </a:r>
            <a:r>
              <a:rPr lang="ro-RO" dirty="0" err="1"/>
              <a:t>Systems</a:t>
            </a:r>
            <a:endParaRPr lang="ro-RO" dirty="0"/>
          </a:p>
          <a:p>
            <a:pPr lvl="1"/>
            <a:r>
              <a:rPr lang="ro-RO" dirty="0"/>
              <a:t>Capitolul 2</a:t>
            </a:r>
          </a:p>
          <a:p>
            <a:pPr lvl="2"/>
            <a:r>
              <a:rPr lang="ro-RO" dirty="0"/>
              <a:t>2.3</a:t>
            </a:r>
          </a:p>
          <a:p>
            <a:pPr lvl="2"/>
            <a:r>
              <a:rPr lang="ro-RO" dirty="0"/>
              <a:t>2.5</a:t>
            </a:r>
          </a:p>
          <a:p>
            <a:r>
              <a:rPr lang="ro-RO" dirty="0" err="1"/>
              <a:t>Operating</a:t>
            </a:r>
            <a:r>
              <a:rPr lang="ro-RO" dirty="0"/>
              <a:t> </a:t>
            </a:r>
            <a:r>
              <a:rPr lang="ro-RO" dirty="0" err="1"/>
              <a:t>Systems</a:t>
            </a:r>
            <a:r>
              <a:rPr lang="ro-RO" dirty="0"/>
              <a:t> </a:t>
            </a:r>
            <a:r>
              <a:rPr lang="ro-RO" dirty="0" err="1"/>
              <a:t>Concepts</a:t>
            </a:r>
            <a:endParaRPr lang="ro-RO" dirty="0"/>
          </a:p>
          <a:p>
            <a:pPr lvl="1"/>
            <a:r>
              <a:rPr lang="ro-RO" dirty="0"/>
              <a:t>Capitolul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7CAAA-57D9-064F-A3FB-025292123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39677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76225CE-6CA3-1147-B097-F00EE0641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o-RO" dirty="0"/>
              <a:t>Planificarea Proceselor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0DD789-E49D-8E42-A412-7EF7D3DCF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ro-RO" dirty="0">
              <a:ea typeface="+mn-ea"/>
            </a:endParaRPr>
          </a:p>
        </p:txBody>
      </p:sp>
      <p:sp>
        <p:nvSpPr>
          <p:cNvPr id="23557" name="Slide Number Placeholder 4">
            <a:extLst>
              <a:ext uri="{FF2B5EF4-FFF2-40B4-BE49-F238E27FC236}">
                <a16:creationId xmlns:a16="http://schemas.microsoft.com/office/drawing/2014/main" id="{30DCCF72-CFE0-4941-AE7A-EE1D91B79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9D6BDFE-8CCE-2D4E-B496-D82805073782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4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672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C5FEBCAB-0DD1-BC4A-BFB2-40B69CFAA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 dirty="0">
                <a:ea typeface="ＭＳ Ｐゴシック" panose="020B0600070205080204" pitchFamily="34" charset="-128"/>
              </a:rPr>
              <a:t>Procese și procesoare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DC89A28B-701B-E646-A09F-54FEC307B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altLang="ro-RO" dirty="0">
                <a:ea typeface="ＭＳ Ｐゴシック" panose="020B0600070205080204" pitchFamily="34" charset="-128"/>
              </a:rPr>
              <a:t>Pentru a executa, un proces are nevoie de procesor</a:t>
            </a:r>
          </a:p>
          <a:p>
            <a:endParaRPr lang="ro-RO" altLang="ro-RO" b="1" dirty="0">
              <a:ea typeface="ＭＳ Ｐゴシック" panose="020B0600070205080204" pitchFamily="34" charset="-128"/>
            </a:endParaRPr>
          </a:p>
          <a:p>
            <a:r>
              <a:rPr lang="ro-RO" altLang="ro-RO" b="1" dirty="0">
                <a:ea typeface="ＭＳ Ｐゴシック" panose="020B0600070205080204" pitchFamily="34" charset="-128"/>
              </a:rPr>
              <a:t>Procesele </a:t>
            </a:r>
            <a:r>
              <a:rPr lang="ro-RO" altLang="ro-RO" dirty="0">
                <a:ea typeface="ＭＳ Ｐゴシック" panose="020B0600070205080204" pitchFamily="34" charset="-128"/>
              </a:rPr>
              <a:t>de pe un sistem </a:t>
            </a:r>
            <a:r>
              <a:rPr lang="ro-RO" altLang="ro-RO" b="1" dirty="0">
                <a:ea typeface="ＭＳ Ｐゴシック" panose="020B0600070205080204" pitchFamily="34" charset="-128"/>
              </a:rPr>
              <a:t>sunt mai multe decât procesoare </a:t>
            </a:r>
          </a:p>
          <a:p>
            <a:endParaRPr lang="ro-RO" altLang="ro-RO" dirty="0">
              <a:ea typeface="ＭＳ Ｐゴシック" panose="020B0600070205080204" pitchFamily="34" charset="-128"/>
            </a:endParaRPr>
          </a:p>
          <a:p>
            <a:r>
              <a:rPr lang="ro-RO" altLang="ro-RO" dirty="0">
                <a:ea typeface="ＭＳ Ｐゴシック" panose="020B0600070205080204" pitchFamily="34" charset="-128"/>
              </a:rPr>
              <a:t>SO le permite proceselor accesul pe rând la procesoare</a:t>
            </a:r>
          </a:p>
        </p:txBody>
      </p:sp>
      <p:sp>
        <p:nvSpPr>
          <p:cNvPr id="24581" name="Slide Number Placeholder 4">
            <a:extLst>
              <a:ext uri="{FF2B5EF4-FFF2-40B4-BE49-F238E27FC236}">
                <a16:creationId xmlns:a16="http://schemas.microsoft.com/office/drawing/2014/main" id="{3CDE1FB9-8654-444D-8F0E-0D325AE1E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BCBED4A-9C03-C147-86FB-B14B9302EA8C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736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58403-82EF-FC49-AB97-41370AEA2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Multitasking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15292BD-DECD-C545-926A-E85828C376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30" y="1600200"/>
            <a:ext cx="7241540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5CD42-3492-2843-A498-C5F8A164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851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07694C91-2ED5-914B-8838-D10B42E9E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>
                <a:ea typeface="ＭＳ Ｐゴシック" panose="020B0600070205080204" pitchFamily="34" charset="-128"/>
              </a:rPr>
              <a:t>Multitasking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84E081D4-891D-8B46-BA9A-5E9FCC2EE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 altLang="ro-RO" sz="3000" dirty="0">
                <a:ea typeface="ＭＳ Ｐゴシック" panose="020B0600070205080204" pitchFamily="34" charset="-128"/>
              </a:rPr>
              <a:t>SO oferă fiecărui proces pe rând accesul la procesor</a:t>
            </a:r>
          </a:p>
          <a:p>
            <a:r>
              <a:rPr lang="ro-RO" altLang="ro-RO" sz="3000" dirty="0">
                <a:ea typeface="ＭＳ Ｐゴシック" panose="020B0600070205080204" pitchFamily="34" charset="-128"/>
              </a:rPr>
              <a:t>După un anumit timp (cuantă, </a:t>
            </a:r>
            <a:r>
              <a:rPr lang="ro-RO" altLang="ro-RO" sz="3000" dirty="0" err="1">
                <a:ea typeface="ＭＳ Ｐゴシック" panose="020B0600070205080204" pitchFamily="34" charset="-128"/>
              </a:rPr>
              <a:t>time</a:t>
            </a:r>
            <a:r>
              <a:rPr lang="ro-RO" altLang="ro-RO" sz="3000" dirty="0">
                <a:ea typeface="ＭＳ Ｐゴシック" panose="020B0600070205080204" pitchFamily="34" charset="-128"/>
              </a:rPr>
              <a:t> </a:t>
            </a:r>
            <a:r>
              <a:rPr lang="ro-RO" altLang="ro-RO" sz="3000" dirty="0" err="1">
                <a:ea typeface="ＭＳ Ｐゴシック" panose="020B0600070205080204" pitchFamily="34" charset="-128"/>
              </a:rPr>
              <a:t>slice</a:t>
            </a:r>
            <a:r>
              <a:rPr lang="ro-RO" altLang="ro-RO" sz="3000" dirty="0">
                <a:ea typeface="ＭＳ Ｐゴシック" panose="020B0600070205080204" pitchFamily="34" charset="-128"/>
              </a:rPr>
              <a:t>), un proces este oprit de pe un procesor și procesorul este dat altui proces</a:t>
            </a:r>
          </a:p>
          <a:p>
            <a:pPr lvl="1"/>
            <a:r>
              <a:rPr lang="ro-RO" altLang="ro-RO" sz="2600" dirty="0">
                <a:ea typeface="ＭＳ Ｐゴシック" panose="020B0600070205080204" pitchFamily="34" charset="-128"/>
              </a:rPr>
              <a:t>spunem că "a expirat cuanta" </a:t>
            </a:r>
          </a:p>
          <a:p>
            <a:pPr lvl="1"/>
            <a:r>
              <a:rPr lang="ro-RO" altLang="ro-RO" sz="2600" dirty="0">
                <a:ea typeface="ＭＳ Ｐゴシック" panose="020B0600070205080204" pitchFamily="34" charset="-128"/>
              </a:rPr>
              <a:t>acțiunea se numește "</a:t>
            </a:r>
            <a:r>
              <a:rPr lang="ro-RO" altLang="ro-RO" sz="2600" b="1" dirty="0">
                <a:ea typeface="ＭＳ Ｐゴシック" panose="020B0600070205080204" pitchFamily="34" charset="-128"/>
              </a:rPr>
              <a:t>schimbare de context</a:t>
            </a:r>
            <a:r>
              <a:rPr lang="ro-RO" altLang="ro-RO" sz="2600" dirty="0">
                <a:ea typeface="ＭＳ Ｐゴシック" panose="020B0600070205080204" pitchFamily="34" charset="-128"/>
              </a:rPr>
              <a:t>" </a:t>
            </a:r>
          </a:p>
          <a:p>
            <a:r>
              <a:rPr lang="ro-RO" altLang="ro-RO" sz="3000" dirty="0">
                <a:ea typeface="ＭＳ Ｐゴシック" panose="020B0600070205080204" pitchFamily="34" charset="-128"/>
              </a:rPr>
              <a:t>Cuanta este de ordinul milisecundelor </a:t>
            </a:r>
          </a:p>
          <a:p>
            <a:pPr lvl="1"/>
            <a:r>
              <a:rPr lang="ro-RO" altLang="ro-RO" sz="2600" dirty="0">
                <a:ea typeface="ＭＳ Ｐゴシック" panose="020B0600070205080204" pitchFamily="34" charset="-128"/>
              </a:rPr>
              <a:t>procesele pe procesor se schimbă foarte rapid </a:t>
            </a:r>
          </a:p>
          <a:p>
            <a:pPr lvl="1"/>
            <a:r>
              <a:rPr lang="ro-RO" altLang="ro-RO" sz="2600" dirty="0">
                <a:ea typeface="ＭＳ Ｐゴシック" panose="020B0600070205080204" pitchFamily="34" charset="-128"/>
              </a:rPr>
              <a:t>impresia este că ar rula simultan </a:t>
            </a:r>
          </a:p>
        </p:txBody>
      </p:sp>
    </p:spTree>
    <p:extLst>
      <p:ext uri="{BB962C8B-B14F-4D97-AF65-F5344CB8AC3E}">
        <p14:creationId xmlns:p14="http://schemas.microsoft.com/office/powerpoint/2010/main" val="3749288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865BFB18-E231-F745-BC98-29252AE3F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Tranzițiile între stările proceselor</a:t>
            </a:r>
            <a:endParaRPr lang="ro-RO" dirty="0">
              <a:effectLst/>
            </a:endParaRPr>
          </a:p>
        </p:txBody>
      </p:sp>
      <p:pic>
        <p:nvPicPr>
          <p:cNvPr id="27651" name="Content Placeholder 5" descr="process-state.png">
            <a:extLst>
              <a:ext uri="{FF2B5EF4-FFF2-40B4-BE49-F238E27FC236}">
                <a16:creationId xmlns:a16="http://schemas.microsoft.com/office/drawing/2014/main" id="{48FF0EC9-DBF3-3C4C-8463-E0A72AE71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57406"/>
            <a:ext cx="8229600" cy="3211551"/>
          </a:xfrm>
        </p:spPr>
      </p:pic>
      <p:sp>
        <p:nvSpPr>
          <p:cNvPr id="27653" name="Slide Number Placeholder 4">
            <a:extLst>
              <a:ext uri="{FF2B5EF4-FFF2-40B4-BE49-F238E27FC236}">
                <a16:creationId xmlns:a16="http://schemas.microsoft.com/office/drawing/2014/main" id="{3DE9AC13-44E2-3544-8190-4BDC9EB5E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96A9FA7-8476-5A41-9B63-F137707F09FC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8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31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939BF22F-6358-304D-AE2B-BF3BCC5F0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Tranzițiile între stările proceselor</a:t>
            </a:r>
            <a:endParaRPr lang="ro-RO" altLang="ro-RO" dirty="0">
              <a:ea typeface="ＭＳ Ｐゴシック" panose="020B0600070205080204" pitchFamily="34" charset="-128"/>
            </a:endParaRP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6363FB68-C3D9-AD4E-BF76-BFAB9A18E2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eaLnBrk="1" hangingPunct="1">
              <a:lnSpc>
                <a:spcPct val="80000"/>
              </a:lnSpc>
            </a:pPr>
            <a:r>
              <a:rPr lang="ro-RO" altLang="ro-RO" sz="3000" dirty="0">
                <a:ea typeface="ＭＳ Ｐゴシック" panose="020B0600070205080204" pitchFamily="34" charset="-128"/>
              </a:rPr>
              <a:t>RUNNING -&gt; READY</a:t>
            </a:r>
          </a:p>
          <a:p>
            <a:pPr lvl="1">
              <a:lnSpc>
                <a:spcPct val="120000"/>
              </a:lnSpc>
            </a:pPr>
            <a:r>
              <a:rPr lang="ro-RO" altLang="ro-RO" sz="2600" dirty="0">
                <a:ea typeface="ＭＳ Ｐゴシック" panose="020B0600070205080204" pitchFamily="34" charset="-128"/>
              </a:rPr>
              <a:t>a expirat cuanta de timp </a:t>
            </a:r>
          </a:p>
          <a:p>
            <a:pPr lvl="1">
              <a:lnSpc>
                <a:spcPct val="120000"/>
              </a:lnSpc>
            </a:pPr>
            <a:r>
              <a:rPr lang="ro-RO" altLang="ro-RO" sz="2600" dirty="0">
                <a:ea typeface="ＭＳ Ｐゴシック" panose="020B0600070205080204" pitchFamily="34" charset="-128"/>
              </a:rPr>
              <a:t>există un alt proces în starea READY care are prioritate mai mare </a:t>
            </a:r>
          </a:p>
          <a:p>
            <a:pPr lvl="1">
              <a:lnSpc>
                <a:spcPct val="80000"/>
              </a:lnSpc>
            </a:pPr>
            <a:endParaRPr lang="ro-RO" altLang="ro-RO" sz="26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ro-RO" altLang="ro-RO" sz="3000" dirty="0">
                <a:ea typeface="ＭＳ Ｐゴシック" panose="020B0600070205080204" pitchFamily="34" charset="-128"/>
              </a:rPr>
              <a:t>RUNNING -&gt; WAITING</a:t>
            </a:r>
          </a:p>
          <a:p>
            <a:pPr lvl="1">
              <a:lnSpc>
                <a:spcPct val="120000"/>
              </a:lnSpc>
            </a:pPr>
            <a:r>
              <a:rPr lang="ro-RO" altLang="ro-RO" sz="2600" dirty="0">
                <a:ea typeface="ＭＳ Ｐゴシック" panose="020B0600070205080204" pitchFamily="34" charset="-128"/>
              </a:rPr>
              <a:t>procesul a executat o operație blocantă</a:t>
            </a:r>
          </a:p>
          <a:p>
            <a:pPr lvl="1">
              <a:lnSpc>
                <a:spcPct val="80000"/>
              </a:lnSpc>
            </a:pPr>
            <a:endParaRPr lang="ro-RO" altLang="ro-RO" sz="26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ro-RO" altLang="ro-RO" sz="3000" dirty="0">
                <a:ea typeface="ＭＳ Ｐゴシック" panose="020B0600070205080204" pitchFamily="34" charset="-128"/>
              </a:rPr>
              <a:t>WAITING -&gt; READY</a:t>
            </a:r>
          </a:p>
          <a:p>
            <a:pPr lvl="1">
              <a:lnSpc>
                <a:spcPct val="120000"/>
              </a:lnSpc>
            </a:pPr>
            <a:r>
              <a:rPr lang="ro-RO" altLang="ro-RO" sz="2600" dirty="0">
                <a:ea typeface="ＭＳ Ｐゴシック" panose="020B0600070205080204" pitchFamily="34" charset="-128"/>
              </a:rPr>
              <a:t>evenimentul după care așteaptă procesul s-a produs (procesul are date disponibile)</a:t>
            </a:r>
          </a:p>
          <a:p>
            <a:pPr lvl="1">
              <a:lnSpc>
                <a:spcPct val="80000"/>
              </a:lnSpc>
            </a:pPr>
            <a:endParaRPr lang="ro-RO" altLang="ro-RO" sz="2600" dirty="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</a:pPr>
            <a:r>
              <a:rPr lang="ro-RO" altLang="ro-RO" sz="3000" dirty="0">
                <a:ea typeface="ＭＳ Ｐゴシック" panose="020B0600070205080204" pitchFamily="34" charset="-128"/>
              </a:rPr>
              <a:t>READY -&gt; </a:t>
            </a:r>
            <a:r>
              <a:rPr lang="ro-RO" altLang="ro-RO" sz="2800" dirty="0">
                <a:ea typeface="ＭＳ Ｐゴシック" panose="020B0600070205080204" pitchFamily="34" charset="-128"/>
              </a:rPr>
              <a:t>RUNNING</a:t>
            </a:r>
            <a:endParaRPr lang="ro-RO" altLang="ro-RO" sz="3000" dirty="0">
              <a:ea typeface="ＭＳ Ｐゴシック" panose="020B0600070205080204" pitchFamily="34" charset="-128"/>
            </a:endParaRPr>
          </a:p>
          <a:p>
            <a:pPr lvl="1">
              <a:lnSpc>
                <a:spcPct val="120000"/>
              </a:lnSpc>
            </a:pPr>
            <a:r>
              <a:rPr lang="ro-RO" sz="2600" dirty="0"/>
              <a:t>există un procesor liber </a:t>
            </a:r>
          </a:p>
          <a:p>
            <a:pPr lvl="1">
              <a:lnSpc>
                <a:spcPct val="120000"/>
              </a:lnSpc>
            </a:pPr>
            <a:r>
              <a:rPr lang="ro-RO" sz="2600" dirty="0"/>
              <a:t>procesul este primul în coada READY  de așteptare</a:t>
            </a:r>
            <a:endParaRPr lang="ro-RO" altLang="ro-RO" sz="2600" dirty="0">
              <a:ea typeface="ＭＳ Ｐゴシック" panose="020B0600070205080204" pitchFamily="34" charset="-128"/>
            </a:endParaRPr>
          </a:p>
        </p:txBody>
      </p:sp>
      <p:sp>
        <p:nvSpPr>
          <p:cNvPr id="28677" name="Slide Number Placeholder 4">
            <a:extLst>
              <a:ext uri="{FF2B5EF4-FFF2-40B4-BE49-F238E27FC236}">
                <a16:creationId xmlns:a16="http://schemas.microsoft.com/office/drawing/2014/main" id="{2C4F5B67-68C0-4141-BF6B-47B2526CF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E0D2A736-DB49-414A-AEFE-50016E8B2C2D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9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7" name="Content Placeholder 5" descr="process-state.png">
            <a:extLst>
              <a:ext uri="{FF2B5EF4-FFF2-40B4-BE49-F238E27FC236}">
                <a16:creationId xmlns:a16="http://schemas.microsoft.com/office/drawing/2014/main" id="{D036DF5A-180A-5440-B133-2C510B06930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3075162"/>
            <a:ext cx="4038600" cy="1576039"/>
          </a:xfrm>
        </p:spPr>
      </p:pic>
    </p:spTree>
    <p:extLst>
      <p:ext uri="{BB962C8B-B14F-4D97-AF65-F5344CB8AC3E}">
        <p14:creationId xmlns:p14="http://schemas.microsoft.com/office/powerpoint/2010/main" val="303242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B3EF8-C520-A94A-8B5D-2DBBAE346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o-RO" dirty="0">
                <a:ea typeface="+mj-ea"/>
              </a:rPr>
              <a:t>Planificare (</a:t>
            </a:r>
            <a:r>
              <a:rPr lang="ro-RO" dirty="0" err="1">
                <a:ea typeface="+mj-ea"/>
              </a:rPr>
              <a:t>scheduling</a:t>
            </a:r>
            <a:r>
              <a:rPr lang="ro-RO" dirty="0">
                <a:ea typeface="+mj-ea"/>
              </a:rPr>
              <a:t>)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FCE1C728-F872-C445-A469-B69E33A01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 dirty="0"/>
              <a:t>Un proces este pus din starea READY în starea RUNNING </a:t>
            </a:r>
          </a:p>
          <a:p>
            <a:pPr lvl="1"/>
            <a:r>
              <a:rPr lang="ro-RO" dirty="0"/>
              <a:t>Primește un procesor liber</a:t>
            </a:r>
          </a:p>
          <a:p>
            <a:endParaRPr lang="ro-RO" dirty="0"/>
          </a:p>
          <a:p>
            <a:r>
              <a:rPr lang="ro-RO" dirty="0"/>
              <a:t>Un procesor este liber dacă </a:t>
            </a:r>
          </a:p>
          <a:p>
            <a:pPr lvl="1"/>
            <a:r>
              <a:rPr lang="ro-RO" dirty="0"/>
              <a:t>nu are un proces în execuție pe el</a:t>
            </a:r>
          </a:p>
          <a:p>
            <a:pPr lvl="1"/>
            <a:endParaRPr lang="ro-RO" dirty="0"/>
          </a:p>
          <a:p>
            <a:pPr marL="457200" lvl="1" indent="0">
              <a:buNone/>
            </a:pPr>
            <a:r>
              <a:rPr lang="ro-RO" dirty="0"/>
              <a:t> </a:t>
            </a:r>
          </a:p>
          <a:p>
            <a:r>
              <a:rPr lang="ro-RO" dirty="0"/>
              <a:t>Spunem că se face o schimbare de context (context </a:t>
            </a:r>
            <a:r>
              <a:rPr lang="ro-RO" dirty="0" err="1"/>
              <a:t>switch</a:t>
            </a:r>
            <a:r>
              <a:rPr lang="ro-RO" dirty="0"/>
              <a:t>) </a:t>
            </a:r>
            <a:endParaRPr lang="ro-RO" altLang="ro-RO" dirty="0">
              <a:ea typeface="ＭＳ Ｐゴシック" panose="020B0600070205080204" pitchFamily="34" charset="-128"/>
            </a:endParaRPr>
          </a:p>
        </p:txBody>
      </p:sp>
      <p:sp>
        <p:nvSpPr>
          <p:cNvPr id="29701" name="Slide Number Placeholder 4">
            <a:extLst>
              <a:ext uri="{FF2B5EF4-FFF2-40B4-BE49-F238E27FC236}">
                <a16:creationId xmlns:a16="http://schemas.microsoft.com/office/drawing/2014/main" id="{87362AAA-869D-8042-8450-689720315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7F0DAA6-BEFA-F843-A801-E4ADFE5012E2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10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174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E450D-3E5B-7E48-8B71-700795A99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Tipuri de SO (</a:t>
            </a:r>
            <a:r>
              <a:rPr lang="ro-RO" dirty="0" err="1"/>
              <a:t>dpdv</a:t>
            </a:r>
            <a:r>
              <a:rPr lang="ro-RO" dirty="0"/>
              <a:t>. planificator)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6D414-B959-6A44-AC2E-F890ABE8E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Preemptive</a:t>
            </a:r>
          </a:p>
          <a:p>
            <a:pPr lvl="1"/>
            <a:r>
              <a:rPr lang="ro-RO"/>
              <a:t>procesele sunt oprite la expirarea cunatei de timp</a:t>
            </a:r>
          </a:p>
          <a:p>
            <a:pPr lvl="2"/>
            <a:r>
              <a:rPr lang="ro-RO"/>
              <a:t>Windows, macOS, Linux, UNIX, Minix etc.</a:t>
            </a:r>
          </a:p>
          <a:p>
            <a:pPr lvl="1"/>
            <a:endParaRPr lang="ro-RO"/>
          </a:p>
          <a:p>
            <a:r>
              <a:rPr lang="ro-RO"/>
              <a:t>Non-preemptive (cooperative)</a:t>
            </a:r>
          </a:p>
          <a:p>
            <a:pPr lvl="1"/>
            <a:r>
              <a:rPr lang="ro-RO"/>
              <a:t>procesele trebuie să se oprească singure (</a:t>
            </a:r>
            <a:r>
              <a:rPr lang="ro-RO" b="1"/>
              <a:t>dacă vor</a:t>
            </a:r>
            <a:r>
              <a:rPr lang="ro-RO"/>
              <a:t>) la expirarea cunatei de timp</a:t>
            </a:r>
          </a:p>
          <a:p>
            <a:pPr lvl="2"/>
            <a:r>
              <a:rPr lang="ro-RO"/>
              <a:t>mac OS &lt;= 9</a:t>
            </a:r>
          </a:p>
          <a:p>
            <a:pPr lvl="2"/>
            <a:r>
              <a:rPr lang="ro-RO"/>
              <a:t>unele RTOS</a:t>
            </a:r>
          </a:p>
          <a:p>
            <a:pPr lvl="1"/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CC66C-FACD-1B40-B51B-83E4F9FCA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89055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F4E3C4E2-5D54-E547-AC5A-89224BF39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altLang="ro-RO" dirty="0">
                <a:ea typeface="ＭＳ Ｐゴシック" panose="020B0600070205080204" pitchFamily="34" charset="-128"/>
              </a:rPr>
              <a:t>Schimbarea de context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02971805-F61A-554D-B141-885200941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ro-RO" dirty="0"/>
              <a:t>Un proces este înlocuit de pe procesor cu alt proces </a:t>
            </a:r>
          </a:p>
          <a:p>
            <a:pPr>
              <a:lnSpc>
                <a:spcPct val="120000"/>
              </a:lnSpc>
            </a:pPr>
            <a:r>
              <a:rPr lang="ro-RO" dirty="0"/>
              <a:t>Salvarea procesului vechi / contextul </a:t>
            </a:r>
          </a:p>
          <a:p>
            <a:pPr>
              <a:lnSpc>
                <a:spcPct val="120000"/>
              </a:lnSpc>
            </a:pPr>
            <a:r>
              <a:rPr lang="ro-RO" dirty="0"/>
              <a:t>Încărcarea procesului nou / contextul </a:t>
            </a:r>
          </a:p>
          <a:p>
            <a:pPr>
              <a:lnSpc>
                <a:spcPct val="120000"/>
              </a:lnSpc>
            </a:pPr>
            <a:endParaRPr lang="ro-RO" dirty="0"/>
          </a:p>
          <a:p>
            <a:pPr>
              <a:lnSpc>
                <a:spcPct val="120000"/>
              </a:lnSpc>
            </a:pPr>
            <a:r>
              <a:rPr lang="ro-RO" dirty="0">
                <a:solidFill>
                  <a:srgbClr val="FF0000"/>
                </a:solidFill>
              </a:rPr>
              <a:t>Schimbarea de context înseamnă </a:t>
            </a:r>
            <a:r>
              <a:rPr lang="ro-RO" dirty="0" err="1">
                <a:solidFill>
                  <a:srgbClr val="FF0000"/>
                </a:solidFill>
              </a:rPr>
              <a:t>overhead</a:t>
            </a:r>
            <a:endParaRPr lang="ro-RO" dirty="0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</a:pPr>
            <a:r>
              <a:rPr lang="ro-RO" dirty="0"/>
              <a:t>multe schimbări de context: </a:t>
            </a:r>
            <a:r>
              <a:rPr lang="ro-RO" dirty="0" err="1"/>
              <a:t>overhead</a:t>
            </a:r>
            <a:r>
              <a:rPr lang="ro-RO" dirty="0"/>
              <a:t> suplimentar</a:t>
            </a:r>
          </a:p>
          <a:p>
            <a:pPr lvl="1">
              <a:lnSpc>
                <a:spcPct val="120000"/>
              </a:lnSpc>
            </a:pPr>
            <a:r>
              <a:rPr lang="ro-RO" dirty="0"/>
              <a:t>mai puține schimbări de contexte: mai puțină interactivitate </a:t>
            </a:r>
          </a:p>
        </p:txBody>
      </p:sp>
      <p:sp>
        <p:nvSpPr>
          <p:cNvPr id="31749" name="Slide Number Placeholder 4">
            <a:extLst>
              <a:ext uri="{FF2B5EF4-FFF2-40B4-BE49-F238E27FC236}">
                <a16:creationId xmlns:a16="http://schemas.microsoft.com/office/drawing/2014/main" id="{AABCC64A-2F2A-CF43-AA0D-C2A22FE18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5992C76-E9D0-2148-811D-DD31E65FD25D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12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64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D7B8A-BA73-7B4B-BF6B-4DCCB3ECF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Puncționarea unui proces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21F902C-CF2C-3140-8C43-9014725AD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6691" y="1600200"/>
            <a:ext cx="2490618" cy="4525963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29C9E-8ECF-2841-8188-44B0EE185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80111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BCCDF410-5A4F-A840-92F9-21E7EC2E7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altLang="ro-RO" dirty="0">
                <a:ea typeface="ＭＳ Ｐゴシック" panose="020B0600070205080204" pitchFamily="34" charset="-128"/>
              </a:rPr>
              <a:t>Schimbarea de context</a:t>
            </a:r>
          </a:p>
        </p:txBody>
      </p:sp>
      <p:pic>
        <p:nvPicPr>
          <p:cNvPr id="30723" name="Content Placeholder 5" descr="context-switch.png">
            <a:extLst>
              <a:ext uri="{FF2B5EF4-FFF2-40B4-BE49-F238E27FC236}">
                <a16:creationId xmlns:a16="http://schemas.microsoft.com/office/drawing/2014/main" id="{3B57F8CA-106B-974D-837A-740E14E991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08163" y="1600200"/>
            <a:ext cx="5527675" cy="4525963"/>
          </a:xfrm>
        </p:spPr>
      </p:pic>
      <p:sp>
        <p:nvSpPr>
          <p:cNvPr id="30725" name="Slide Number Placeholder 4">
            <a:extLst>
              <a:ext uri="{FF2B5EF4-FFF2-40B4-BE49-F238E27FC236}">
                <a16:creationId xmlns:a16="http://schemas.microsoft.com/office/drawing/2014/main" id="{945687EB-045C-4146-BBFE-42FE86801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6550256-905E-7D49-BFF0-14FD30E36692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14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668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148F0089-95BF-414D-B63B-5CD42049C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altLang="ro-RO" dirty="0">
                <a:ea typeface="ＭＳ Ｐゴシック" panose="020B0600070205080204" pitchFamily="34" charset="-128"/>
              </a:rPr>
              <a:t>Tipuri de procese (CPU)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EC230639-0CED-9049-AF09-7E1BE02EE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o-RO" altLang="ro-RO" sz="3000" dirty="0">
                <a:ea typeface="ＭＳ Ｐゴシック" panose="020B0600070205080204" pitchFamily="34" charset="-128"/>
              </a:rPr>
              <a:t>CPU </a:t>
            </a:r>
            <a:r>
              <a:rPr lang="ro-RO" altLang="ro-RO" sz="3000" dirty="0" err="1">
                <a:ea typeface="ＭＳ Ｐゴシック" panose="020B0600070205080204" pitchFamily="34" charset="-128"/>
              </a:rPr>
              <a:t>bound</a:t>
            </a:r>
            <a:r>
              <a:rPr lang="ro-RO" altLang="ro-RO" sz="3000" dirty="0">
                <a:ea typeface="ＭＳ Ｐゴシック" panose="020B0600070205080204" pitchFamily="34" charset="-128"/>
              </a:rPr>
              <a:t> (CPU intensive)</a:t>
            </a:r>
          </a:p>
          <a:p>
            <a:pPr lvl="1"/>
            <a:r>
              <a:rPr lang="ro-RO" dirty="0"/>
              <a:t>folosesc mult procesorul</a:t>
            </a:r>
          </a:p>
          <a:p>
            <a:pPr eaLnBrk="1" hangingPunct="1">
              <a:lnSpc>
                <a:spcPct val="80000"/>
              </a:lnSpc>
            </a:pPr>
            <a:endParaRPr lang="ro-RO" altLang="ro-RO" sz="30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ro-RO" altLang="ro-RO" sz="3000" dirty="0">
                <a:ea typeface="ＭＳ Ｐゴシック" panose="020B0600070205080204" pitchFamily="34" charset="-128"/>
              </a:rPr>
              <a:t>I/O </a:t>
            </a:r>
            <a:r>
              <a:rPr lang="ro-RO" altLang="ro-RO" sz="3000" dirty="0" err="1">
                <a:ea typeface="ＭＳ Ｐゴシック" panose="020B0600070205080204" pitchFamily="34" charset="-128"/>
              </a:rPr>
              <a:t>bound</a:t>
            </a:r>
            <a:r>
              <a:rPr lang="ro-RO" altLang="ro-RO" sz="3000" dirty="0">
                <a:ea typeface="ＭＳ Ｐゴシック" panose="020B0600070205080204" pitchFamily="34" charset="-128"/>
              </a:rPr>
              <a:t> (I/O intensive)</a:t>
            </a:r>
          </a:p>
          <a:p>
            <a:pPr lvl="1"/>
            <a:r>
              <a:rPr lang="ro-RO" dirty="0"/>
              <a:t>folosesc rar procesorul</a:t>
            </a:r>
          </a:p>
          <a:p>
            <a:pPr lvl="1">
              <a:lnSpc>
                <a:spcPct val="80000"/>
              </a:lnSpc>
            </a:pPr>
            <a:r>
              <a:rPr lang="ro-RO" sz="2400" dirty="0"/>
              <a:t>execută multe </a:t>
            </a:r>
            <a:r>
              <a:rPr lang="ro-RO" sz="2400" dirty="0" err="1"/>
              <a:t>oprrații</a:t>
            </a:r>
            <a:r>
              <a:rPr lang="ro-RO" sz="2400" dirty="0"/>
              <a:t> de I/O -&gt; se blochează</a:t>
            </a:r>
            <a:endParaRPr lang="ro-RO" altLang="ro-RO" sz="2600" dirty="0">
              <a:ea typeface="ＭＳ Ｐゴシック" panose="020B0600070205080204" pitchFamily="34" charset="-128"/>
            </a:endParaRPr>
          </a:p>
        </p:txBody>
      </p:sp>
      <p:sp>
        <p:nvSpPr>
          <p:cNvPr id="18437" name="Slide Number Placeholder 4">
            <a:extLst>
              <a:ext uri="{FF2B5EF4-FFF2-40B4-BE49-F238E27FC236}">
                <a16:creationId xmlns:a16="http://schemas.microsoft.com/office/drawing/2014/main" id="{AA6601D2-40DD-8140-AF33-88D752C04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C550E76-24B8-CE42-A039-559663D98417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15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1026" name="Picture 2" descr="https://lh3.googleusercontent.com/fP3wkS80HSPWkd76N5JOxsP6vzvYhktcmSUCz12lnBsUF0zy-aXw1O9kECWn5ZlfrcsHcjgwnFSHCRwLNlTSFYQD-C4CZTSwShscdiWP5R05w7fKRsNpPqwT7RkWN9M87HEIhHk7">
            <a:extLst>
              <a:ext uri="{FF2B5EF4-FFF2-40B4-BE49-F238E27FC236}">
                <a16:creationId xmlns:a16="http://schemas.microsoft.com/office/drawing/2014/main" id="{44DB40BD-FFAC-2847-BD50-F28C27DAB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466781"/>
            <a:ext cx="5181600" cy="1896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6604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B9993E89-2A6B-514F-83DF-40C5DDE32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altLang="ro-RO" dirty="0">
                <a:ea typeface="ＭＳ Ｐゴシック" panose="020B0600070205080204" pitchFamily="34" charset="-128"/>
              </a:rPr>
              <a:t>Planificatorul de procese 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1B930ACB-F8EE-C248-92EC-583840E10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Componentă a SO </a:t>
            </a:r>
          </a:p>
          <a:p>
            <a:endParaRPr lang="ro-RO" dirty="0"/>
          </a:p>
          <a:p>
            <a:r>
              <a:rPr lang="ro-RO" dirty="0"/>
              <a:t>Agent de planificare de procese</a:t>
            </a:r>
          </a:p>
          <a:p>
            <a:pPr lvl="1"/>
            <a:r>
              <a:rPr lang="ro-RO" dirty="0"/>
              <a:t>asigură accesul proceselor la procesor</a:t>
            </a:r>
          </a:p>
          <a:p>
            <a:pPr lvl="1"/>
            <a:r>
              <a:rPr lang="ro-RO" dirty="0">
                <a:solidFill>
                  <a:srgbClr val="92D050"/>
                </a:solidFill>
              </a:rPr>
              <a:t>compromis (</a:t>
            </a:r>
            <a:r>
              <a:rPr lang="ro-RO" dirty="0" err="1">
                <a:solidFill>
                  <a:srgbClr val="92D050"/>
                </a:solidFill>
              </a:rPr>
              <a:t>tarde</a:t>
            </a:r>
            <a:r>
              <a:rPr lang="ro-RO" dirty="0">
                <a:solidFill>
                  <a:srgbClr val="92D050"/>
                </a:solidFill>
              </a:rPr>
              <a:t>-off) între echitate și productivitate</a:t>
            </a:r>
            <a:r>
              <a:rPr lang="ro-RO" dirty="0"/>
              <a:t> </a:t>
            </a:r>
          </a:p>
        </p:txBody>
      </p:sp>
      <p:sp>
        <p:nvSpPr>
          <p:cNvPr id="32773" name="Slide Number Placeholder 4">
            <a:extLst>
              <a:ext uri="{FF2B5EF4-FFF2-40B4-BE49-F238E27FC236}">
                <a16:creationId xmlns:a16="http://schemas.microsoft.com/office/drawing/2014/main" id="{6C94FDD0-08EF-0D45-8866-7E123A420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C1AA7A4-ECC0-1545-BF1F-B394D0B5B6D3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16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088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95EBB-3F02-534B-B3A6-5C5473F41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Definiții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45C1149-8273-7848-95AB-3AA50F0D08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6260160"/>
              </p:ext>
            </p:extLst>
          </p:nvPr>
        </p:nvGraphicFramePr>
        <p:xfrm>
          <a:off x="457200" y="1600200"/>
          <a:ext cx="8229600" cy="2595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182349067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643006512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34076229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noProof="0"/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noProof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573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noProof="0"/>
                        <a:t>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noProof="0"/>
                        <a:t>Wait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" dirty="0" err="1"/>
                        <a:t>Timpul</a:t>
                      </a:r>
                      <a:r>
                        <a:rPr lang="fr" dirty="0"/>
                        <a:t> de </a:t>
                      </a:r>
                      <a:r>
                        <a:rPr lang="fr" dirty="0" err="1"/>
                        <a:t>așteptare</a:t>
                      </a:r>
                      <a:r>
                        <a:rPr lang="fr" dirty="0"/>
                        <a:t> </a:t>
                      </a:r>
                      <a:r>
                        <a:rPr lang="fr" dirty="0" err="1"/>
                        <a:t>pentru</a:t>
                      </a:r>
                      <a:r>
                        <a:rPr lang="fr" dirty="0"/>
                        <a:t> a </a:t>
                      </a:r>
                      <a:r>
                        <a:rPr lang="fr" dirty="0" err="1"/>
                        <a:t>primi</a:t>
                      </a:r>
                      <a:r>
                        <a:rPr lang="fr" dirty="0"/>
                        <a:t> CPU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6359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noProof="0"/>
                        <a:t>MWT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noProof="0"/>
                        <a:t>Mean Wait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" dirty="0" err="1"/>
                        <a:t>Timpul</a:t>
                      </a:r>
                      <a:r>
                        <a:rPr lang="fr" dirty="0"/>
                        <a:t> de </a:t>
                      </a:r>
                      <a:r>
                        <a:rPr lang="fr" dirty="0" err="1"/>
                        <a:t>mediu</a:t>
                      </a:r>
                      <a:r>
                        <a:rPr lang="fr" dirty="0"/>
                        <a:t> </a:t>
                      </a:r>
                      <a:r>
                        <a:rPr lang="fr" dirty="0" err="1"/>
                        <a:t>așteptare</a:t>
                      </a:r>
                      <a:r>
                        <a:rPr lang="fr" dirty="0"/>
                        <a:t> </a:t>
                      </a:r>
                      <a:r>
                        <a:rPr lang="fr" dirty="0" err="1"/>
                        <a:t>pentru</a:t>
                      </a:r>
                      <a:r>
                        <a:rPr lang="fr" dirty="0"/>
                        <a:t> a </a:t>
                      </a:r>
                      <a:r>
                        <a:rPr lang="fr" dirty="0" err="1"/>
                        <a:t>primi</a:t>
                      </a:r>
                      <a:r>
                        <a:rPr lang="fr" dirty="0"/>
                        <a:t> CPU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04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noProof="0" dirty="0"/>
                        <a:t>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noProof="0" dirty="0" err="1"/>
                        <a:t>Turnaround</a:t>
                      </a:r>
                      <a:r>
                        <a:rPr lang="fr-FR" noProof="0" dirty="0"/>
                        <a:t>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" dirty="0" err="1"/>
                        <a:t>Timpul</a:t>
                      </a:r>
                      <a:r>
                        <a:rPr lang="fr" dirty="0"/>
                        <a:t> total de </a:t>
                      </a:r>
                      <a:r>
                        <a:rPr lang="fr" dirty="0" err="1"/>
                        <a:t>execuție</a:t>
                      </a:r>
                      <a:r>
                        <a:rPr lang="fr" dirty="0"/>
                        <a:t> al </a:t>
                      </a:r>
                      <a:r>
                        <a:rPr lang="fr" dirty="0" err="1"/>
                        <a:t>procesului</a:t>
                      </a:r>
                      <a:endParaRPr lang="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7179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noProof="0" dirty="0"/>
                        <a:t>MTT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noProof="0" dirty="0" err="1"/>
                        <a:t>Mean</a:t>
                      </a:r>
                      <a:r>
                        <a:rPr lang="fr-FR" noProof="0" dirty="0"/>
                        <a:t> </a:t>
                      </a:r>
                      <a:r>
                        <a:rPr lang="fr-FR" noProof="0" dirty="0" err="1"/>
                        <a:t>Turnaround</a:t>
                      </a:r>
                      <a:r>
                        <a:rPr lang="fr-FR" noProof="0" dirty="0"/>
                        <a:t>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" dirty="0" err="1"/>
                        <a:t>Timpul</a:t>
                      </a:r>
                      <a:r>
                        <a:rPr lang="fr" dirty="0"/>
                        <a:t> </a:t>
                      </a:r>
                      <a:r>
                        <a:rPr lang="fr" dirty="0" err="1"/>
                        <a:t>mediu</a:t>
                      </a:r>
                      <a:r>
                        <a:rPr lang="fr" dirty="0"/>
                        <a:t> total de </a:t>
                      </a:r>
                      <a:r>
                        <a:rPr lang="fr" dirty="0" err="1"/>
                        <a:t>execuție</a:t>
                      </a:r>
                      <a:r>
                        <a:rPr lang="fr" dirty="0"/>
                        <a:t> al </a:t>
                      </a:r>
                      <a:r>
                        <a:rPr lang="fr" dirty="0" err="1"/>
                        <a:t>procesului</a:t>
                      </a:r>
                      <a:endParaRPr lang="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193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noProof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noProof="0"/>
                        <a:t>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noProof="0" dirty="0" err="1"/>
                        <a:t>Proces</a:t>
                      </a:r>
                      <a:r>
                        <a:rPr lang="fr-FR" noProof="0" dirty="0"/>
                        <a:t> </a:t>
                      </a:r>
                      <a:r>
                        <a:rPr lang="fr-FR" noProof="0" dirty="0" err="1"/>
                        <a:t>în</a:t>
                      </a:r>
                      <a:r>
                        <a:rPr lang="fr-FR" noProof="0" dirty="0"/>
                        <a:t> background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539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noProof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noProof="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noProof="0" dirty="0" err="1"/>
                        <a:t>Proces</a:t>
                      </a:r>
                      <a:r>
                        <a:rPr lang="fr-FR" noProof="0" dirty="0"/>
                        <a:t> </a:t>
                      </a:r>
                      <a:r>
                        <a:rPr lang="fr-FR" noProof="0" dirty="0" err="1"/>
                        <a:t>interactiv</a:t>
                      </a:r>
                      <a:endParaRPr lang="fr-FR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33159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7299C-8E2F-3143-A5E2-DFF668B83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602847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FBE77-C925-3243-8038-2E332E219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Sistem ideal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2CA78-4D69-144C-857C-BD52A5EF1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/>
              <a:t>Wait Time Minim</a:t>
            </a:r>
          </a:p>
          <a:p>
            <a:pPr lvl="1"/>
            <a:r>
              <a:rPr lang="ro-RO"/>
              <a:t>procesul așteaptă cât de puțin în starea READY</a:t>
            </a:r>
          </a:p>
          <a:p>
            <a:pPr lvl="1"/>
            <a:r>
              <a:rPr lang="ro-RO"/>
              <a:t>interactiv</a:t>
            </a:r>
          </a:p>
          <a:p>
            <a:pPr lvl="1"/>
            <a:endParaRPr lang="ro-RO"/>
          </a:p>
          <a:p>
            <a:r>
              <a:rPr lang="ro-RO"/>
              <a:t>Turnaround Minim</a:t>
            </a:r>
          </a:p>
          <a:p>
            <a:pPr lvl="1"/>
            <a:r>
              <a:rPr lang="ro-RO"/>
              <a:t>procesul execută cât de repede posibil</a:t>
            </a:r>
          </a:p>
          <a:p>
            <a:pPr lvl="1"/>
            <a:r>
              <a:rPr lang="ro-RO"/>
              <a:t>productiv</a:t>
            </a:r>
          </a:p>
          <a:p>
            <a:endParaRPr lang="ro-RO"/>
          </a:p>
          <a:p>
            <a:r>
              <a:rPr lang="ro-RO"/>
              <a:t>Fairness</a:t>
            </a:r>
          </a:p>
          <a:p>
            <a:pPr lvl="1"/>
            <a:r>
              <a:rPr lang="ro-RO"/>
              <a:t>toate procesele trebuie să aibă acces la CPU</a:t>
            </a:r>
          </a:p>
          <a:p>
            <a:pPr lvl="1"/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85A43-9684-B44F-B36F-A6DCD13C1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87002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F7C57-3B48-BE43-824F-7D0983EA6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Tipuri de sisteme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1B8BD-E926-3941-A5D4-ED77B9FD3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 dirty="0"/>
              <a:t>Procesare în background	</a:t>
            </a:r>
          </a:p>
          <a:p>
            <a:pPr lvl="1"/>
            <a:r>
              <a:rPr lang="ro-RO" dirty="0" err="1"/>
              <a:t>Batch</a:t>
            </a:r>
            <a:r>
              <a:rPr lang="ro-RO" dirty="0"/>
              <a:t> Job</a:t>
            </a:r>
          </a:p>
          <a:p>
            <a:pPr lvl="1"/>
            <a:r>
              <a:rPr lang="ro-RO" dirty="0"/>
              <a:t>Nu interacționează cu utilizatorii</a:t>
            </a:r>
          </a:p>
          <a:p>
            <a:pPr marL="457200" lvl="1" indent="0">
              <a:buNone/>
            </a:pPr>
            <a:endParaRPr lang="ro-RO" dirty="0"/>
          </a:p>
          <a:p>
            <a:r>
              <a:rPr lang="ro-RO" dirty="0"/>
              <a:t>Interactive</a:t>
            </a:r>
          </a:p>
          <a:p>
            <a:pPr lvl="1"/>
            <a:r>
              <a:rPr lang="ro-RO" dirty="0"/>
              <a:t>Procese</a:t>
            </a:r>
          </a:p>
          <a:p>
            <a:pPr lvl="1"/>
            <a:r>
              <a:rPr lang="ro-RO" dirty="0"/>
              <a:t>Interacțiune cu utilizatorii</a:t>
            </a:r>
          </a:p>
          <a:p>
            <a:endParaRPr lang="ro-RO" dirty="0"/>
          </a:p>
          <a:p>
            <a:r>
              <a:rPr lang="ro-RO" dirty="0"/>
              <a:t>Timp real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A2CD3-4DB0-CF48-B840-C04FFFBF9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112581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242950-2D87-9542-83C2-41D4475E9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Procesare în background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E6FD15-BEE9-5A46-B247-D517AC560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8A59E-C0BA-9343-BB21-4EC8B8993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387020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AB35D-0430-0043-A2EB-D95C9802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m-CH"/>
              <a:t>Procesare în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168B1-AF70-6A43-8974-13CD3BDD6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m-CH"/>
              <a:t>Metrici</a:t>
            </a:r>
          </a:p>
          <a:p>
            <a:pPr lvl="1"/>
            <a:r>
              <a:rPr lang="rm-CH"/>
              <a:t>Throughput</a:t>
            </a:r>
          </a:p>
          <a:p>
            <a:pPr lvl="2"/>
            <a:r>
              <a:rPr lang="rm-CH"/>
              <a:t>Procese incheiate / unitate de timp</a:t>
            </a:r>
          </a:p>
          <a:p>
            <a:pPr lvl="1"/>
            <a:r>
              <a:rPr lang="rm-CH"/>
              <a:t>Turnaround time</a:t>
            </a:r>
          </a:p>
          <a:p>
            <a:pPr lvl="1"/>
            <a:r>
              <a:rPr lang="rm-CH"/>
              <a:t>Utilizarea de CPU</a:t>
            </a:r>
          </a:p>
          <a:p>
            <a:endParaRPr lang="rm-CH"/>
          </a:p>
          <a:p>
            <a:r>
              <a:rPr lang="rm-CH"/>
              <a:t>Algoritmi</a:t>
            </a:r>
          </a:p>
          <a:p>
            <a:pPr lvl="1"/>
            <a:r>
              <a:rPr lang="rm-CH"/>
              <a:t>First Come First Served (FCFS)</a:t>
            </a:r>
          </a:p>
          <a:p>
            <a:pPr lvl="1"/>
            <a:r>
              <a:rPr lang="rm-CH"/>
              <a:t>Shortest Job First (SJF)</a:t>
            </a:r>
          </a:p>
          <a:p>
            <a:pPr lvl="1"/>
            <a:r>
              <a:rPr lang="rm-CH"/>
              <a:t>Shortest Remaining Time First (SRTF)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37E04-608C-E949-AB80-6153B570B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m-CH" smtClean="0"/>
              <a:pPr/>
              <a:t>21</a:t>
            </a:fld>
            <a:endParaRPr lang="rm-CH"/>
          </a:p>
        </p:txBody>
      </p:sp>
    </p:spTree>
    <p:extLst>
      <p:ext uri="{BB962C8B-B14F-4D97-AF65-F5344CB8AC3E}">
        <p14:creationId xmlns:p14="http://schemas.microsoft.com/office/powerpoint/2010/main" val="13927177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58561-93F6-B34C-B013-D9D01F557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First Come First Served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90B42-9418-3047-B3B6-B85B9A7BD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>
                <a:solidFill>
                  <a:srgbClr val="92D050"/>
                </a:solidFill>
              </a:rPr>
              <a:t>Ușor de implementat</a:t>
            </a:r>
          </a:p>
          <a:p>
            <a:endParaRPr lang="ro-RO" dirty="0">
              <a:solidFill>
                <a:srgbClr val="FF0000"/>
              </a:solidFill>
            </a:endParaRPr>
          </a:p>
          <a:p>
            <a:r>
              <a:rPr lang="ro-RO" dirty="0">
                <a:solidFill>
                  <a:srgbClr val="FF0000"/>
                </a:solidFill>
              </a:rPr>
              <a:t>Procesele CPU </a:t>
            </a:r>
            <a:r>
              <a:rPr lang="ro-RO" dirty="0" err="1">
                <a:solidFill>
                  <a:srgbClr val="FF0000"/>
                </a:solidFill>
              </a:rPr>
              <a:t>Bound</a:t>
            </a:r>
            <a:r>
              <a:rPr lang="ro-RO" dirty="0">
                <a:solidFill>
                  <a:srgbClr val="FF0000"/>
                </a:solidFill>
              </a:rPr>
              <a:t> încetinesc procesele I/O </a:t>
            </a:r>
            <a:r>
              <a:rPr lang="ro-RO" dirty="0" err="1">
                <a:solidFill>
                  <a:srgbClr val="FF0000"/>
                </a:solidFill>
              </a:rPr>
              <a:t>Bound</a:t>
            </a:r>
            <a:r>
              <a:rPr lang="ro-RO" dirty="0">
                <a:solidFill>
                  <a:srgbClr val="FF0000"/>
                </a:solidFill>
              </a:rPr>
              <a:t> </a:t>
            </a:r>
          </a:p>
          <a:p>
            <a:r>
              <a:rPr lang="ro-RO" dirty="0">
                <a:solidFill>
                  <a:srgbClr val="FF0000"/>
                </a:solidFill>
              </a:rPr>
              <a:t>MWT și TT mare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CE15B-DA37-3141-8C84-CA100BD4A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87494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130FD-E616-0D47-A9E4-967A4B99E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Exemple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13DEF36-9892-2B47-8052-2664E72360C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40340415"/>
              </p:ext>
            </p:extLst>
          </p:nvPr>
        </p:nvGraphicFramePr>
        <p:xfrm>
          <a:off x="457200" y="1600200"/>
          <a:ext cx="4038600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83594">
                  <a:extLst>
                    <a:ext uri="{9D8B030D-6E8A-4147-A177-3AD203B41FA5}">
                      <a16:colId xmlns:a16="http://schemas.microsoft.com/office/drawing/2014/main" val="504168067"/>
                    </a:ext>
                  </a:extLst>
                </a:gridCol>
                <a:gridCol w="2655006">
                  <a:extLst>
                    <a:ext uri="{9D8B030D-6E8A-4147-A177-3AD203B41FA5}">
                      <a16:colId xmlns:a16="http://schemas.microsoft.com/office/drawing/2014/main" val="4224959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Job</a:t>
                      </a:r>
                    </a:p>
                  </a:txBody>
                  <a:tcPr marL="44873" marR="44873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Timp</a:t>
                      </a:r>
                      <a:r>
                        <a:rPr lang="en-US" dirty="0"/>
                        <a:t> de </a:t>
                      </a:r>
                      <a:r>
                        <a:rPr lang="en-US" dirty="0" err="1"/>
                        <a:t>execuție</a:t>
                      </a:r>
                      <a:endParaRPr lang="en-US" dirty="0"/>
                    </a:p>
                  </a:txBody>
                  <a:tcPr marL="44873" marR="44873"/>
                </a:tc>
                <a:extLst>
                  <a:ext uri="{0D108BD9-81ED-4DB2-BD59-A6C34878D82A}">
                    <a16:rowId xmlns:a16="http://schemas.microsoft.com/office/drawing/2014/main" val="495596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J1</a:t>
                      </a:r>
                    </a:p>
                  </a:txBody>
                  <a:tcPr marL="44873" marR="4487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</a:t>
                      </a:r>
                    </a:p>
                  </a:txBody>
                  <a:tcPr marL="44873" marR="44873"/>
                </a:tc>
                <a:extLst>
                  <a:ext uri="{0D108BD9-81ED-4DB2-BD59-A6C34878D82A}">
                    <a16:rowId xmlns:a16="http://schemas.microsoft.com/office/drawing/2014/main" val="2671123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J2</a:t>
                      </a:r>
                    </a:p>
                  </a:txBody>
                  <a:tcPr marL="44873" marR="4487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44873" marR="44873"/>
                </a:tc>
                <a:extLst>
                  <a:ext uri="{0D108BD9-81ED-4DB2-BD59-A6C34878D82A}">
                    <a16:rowId xmlns:a16="http://schemas.microsoft.com/office/drawing/2014/main" val="2103937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J3</a:t>
                      </a:r>
                    </a:p>
                  </a:txBody>
                  <a:tcPr marL="44873" marR="4487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44873" marR="44873"/>
                </a:tc>
                <a:extLst>
                  <a:ext uri="{0D108BD9-81ED-4DB2-BD59-A6C34878D82A}">
                    <a16:rowId xmlns:a16="http://schemas.microsoft.com/office/drawing/2014/main" val="1288285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J4</a:t>
                      </a:r>
                    </a:p>
                  </a:txBody>
                  <a:tcPr marL="44873" marR="4487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44873" marR="44873"/>
                </a:tc>
                <a:extLst>
                  <a:ext uri="{0D108BD9-81ED-4DB2-BD59-A6C34878D82A}">
                    <a16:rowId xmlns:a16="http://schemas.microsoft.com/office/drawing/2014/main" val="2451945762"/>
                  </a:ext>
                </a:extLst>
              </a:tr>
            </a:tbl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7AA1FE-B266-4F43-ADCA-FDFC01D952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dirty="0" err="1"/>
              <a:t>Calculați</a:t>
            </a:r>
            <a:endParaRPr lang="fr-FR" dirty="0"/>
          </a:p>
          <a:p>
            <a:pPr lvl="1"/>
            <a:r>
              <a:rPr lang="fr-FR" dirty="0"/>
              <a:t>TT</a:t>
            </a:r>
          </a:p>
          <a:p>
            <a:pPr lvl="1"/>
            <a:r>
              <a:rPr lang="fr-FR" dirty="0"/>
              <a:t>MTT</a:t>
            </a:r>
          </a:p>
          <a:p>
            <a:r>
              <a:rPr lang="fr-FR" dirty="0"/>
              <a:t>J1, J2, J3, J4</a:t>
            </a:r>
          </a:p>
          <a:p>
            <a:endParaRPr lang="fr-FR" dirty="0"/>
          </a:p>
          <a:p>
            <a:r>
              <a:rPr lang="fr-FR" dirty="0"/>
              <a:t>J2, J1, J4, J3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E84AB-9864-664B-8F31-E9647FC8A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18507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3995F-483A-3E43-AEDB-0883C121F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Shortest Job First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E420B1-A839-5F4C-9EA8-18CA8F54D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>
                <a:solidFill>
                  <a:srgbClr val="92D050"/>
                </a:solidFill>
              </a:rPr>
              <a:t>Ușor de implementat</a:t>
            </a:r>
          </a:p>
          <a:p>
            <a:endParaRPr lang="ro-RO" dirty="0"/>
          </a:p>
          <a:p>
            <a:r>
              <a:rPr lang="ro-RO" dirty="0">
                <a:solidFill>
                  <a:srgbClr val="FF0000"/>
                </a:solidFill>
              </a:rPr>
              <a:t>Timpul de execuție a fiecărui proces trebuie să fie cunoscut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5B05C-CD2E-5B4A-A3E3-F1F5326EB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28253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130FD-E616-0D47-A9E4-967A4B99E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Exemple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13DEF36-9892-2B47-8052-2664E72360C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457200" y="1600200"/>
          <a:ext cx="4038600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83594">
                  <a:extLst>
                    <a:ext uri="{9D8B030D-6E8A-4147-A177-3AD203B41FA5}">
                      <a16:colId xmlns:a16="http://schemas.microsoft.com/office/drawing/2014/main" val="504168067"/>
                    </a:ext>
                  </a:extLst>
                </a:gridCol>
                <a:gridCol w="2655006">
                  <a:extLst>
                    <a:ext uri="{9D8B030D-6E8A-4147-A177-3AD203B41FA5}">
                      <a16:colId xmlns:a16="http://schemas.microsoft.com/office/drawing/2014/main" val="4224959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Job</a:t>
                      </a:r>
                    </a:p>
                  </a:txBody>
                  <a:tcPr marL="44873" marR="4487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Temp </a:t>
                      </a:r>
                      <a:r>
                        <a:rPr lang="en-US" dirty="0" err="1"/>
                        <a:t>d’execution</a:t>
                      </a:r>
                      <a:endParaRPr lang="en-US" dirty="0"/>
                    </a:p>
                  </a:txBody>
                  <a:tcPr marL="44873" marR="44873"/>
                </a:tc>
                <a:extLst>
                  <a:ext uri="{0D108BD9-81ED-4DB2-BD59-A6C34878D82A}">
                    <a16:rowId xmlns:a16="http://schemas.microsoft.com/office/drawing/2014/main" val="495596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J1</a:t>
                      </a:r>
                    </a:p>
                  </a:txBody>
                  <a:tcPr marL="44873" marR="4487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marL="44873" marR="44873"/>
                </a:tc>
                <a:extLst>
                  <a:ext uri="{0D108BD9-81ED-4DB2-BD59-A6C34878D82A}">
                    <a16:rowId xmlns:a16="http://schemas.microsoft.com/office/drawing/2014/main" val="2671123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J2</a:t>
                      </a:r>
                    </a:p>
                  </a:txBody>
                  <a:tcPr marL="44873" marR="4487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L="44873" marR="44873"/>
                </a:tc>
                <a:extLst>
                  <a:ext uri="{0D108BD9-81ED-4DB2-BD59-A6C34878D82A}">
                    <a16:rowId xmlns:a16="http://schemas.microsoft.com/office/drawing/2014/main" val="2103937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J3</a:t>
                      </a:r>
                    </a:p>
                  </a:txBody>
                  <a:tcPr marL="44873" marR="4487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marL="44873" marR="44873"/>
                </a:tc>
                <a:extLst>
                  <a:ext uri="{0D108BD9-81ED-4DB2-BD59-A6C34878D82A}">
                    <a16:rowId xmlns:a16="http://schemas.microsoft.com/office/drawing/2014/main" val="1288285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J4</a:t>
                      </a:r>
                    </a:p>
                  </a:txBody>
                  <a:tcPr marL="44873" marR="4487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 marL="44873" marR="44873"/>
                </a:tc>
                <a:extLst>
                  <a:ext uri="{0D108BD9-81ED-4DB2-BD59-A6C34878D82A}">
                    <a16:rowId xmlns:a16="http://schemas.microsoft.com/office/drawing/2014/main" val="2451945762"/>
                  </a:ext>
                </a:extLst>
              </a:tr>
            </a:tbl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7AA1FE-B266-4F43-ADCA-FDFC01D952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dirty="0" err="1"/>
              <a:t>Calculați</a:t>
            </a:r>
            <a:endParaRPr lang="fr-FR" dirty="0"/>
          </a:p>
          <a:p>
            <a:pPr lvl="1"/>
            <a:r>
              <a:rPr lang="fr-FR" dirty="0"/>
              <a:t>TT</a:t>
            </a:r>
          </a:p>
          <a:p>
            <a:pPr lvl="1"/>
            <a:r>
              <a:rPr lang="fr-FR" dirty="0"/>
              <a:t>MTT</a:t>
            </a:r>
          </a:p>
          <a:p>
            <a:r>
              <a:rPr lang="fr-FR" dirty="0"/>
              <a:t>FCFS</a:t>
            </a:r>
          </a:p>
          <a:p>
            <a:pPr lvl="1"/>
            <a:r>
              <a:rPr lang="fr-FR" dirty="0"/>
              <a:t>J1, J2, J3, J4</a:t>
            </a:r>
          </a:p>
          <a:p>
            <a:r>
              <a:rPr lang="fr-FR" dirty="0"/>
              <a:t>SJF</a:t>
            </a:r>
          </a:p>
          <a:p>
            <a:pPr lvl="1"/>
            <a:r>
              <a:rPr lang="fr-FR" dirty="0"/>
              <a:t>J3, J2, J1, J4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E84AB-9864-664B-8F31-E9647FC8A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10286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605DE1A-8E49-264E-9958-A65668FCF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Shortest Remaining Time First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43FA28-1DAB-C047-93F1-D112949F1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Versiunea </a:t>
            </a:r>
            <a:r>
              <a:rPr lang="ro-RO" dirty="0" err="1"/>
              <a:t>preemtivă</a:t>
            </a:r>
            <a:r>
              <a:rPr lang="ro-RO" dirty="0"/>
              <a:t> pentru SJF</a:t>
            </a:r>
          </a:p>
          <a:p>
            <a:endParaRPr lang="ro-RO" dirty="0"/>
          </a:p>
          <a:p>
            <a:r>
              <a:rPr lang="ro-RO" dirty="0">
                <a:solidFill>
                  <a:srgbClr val="92D050"/>
                </a:solidFill>
              </a:rPr>
              <a:t>Ușor de implementat</a:t>
            </a:r>
          </a:p>
          <a:p>
            <a:endParaRPr lang="ro-RO" dirty="0"/>
          </a:p>
          <a:p>
            <a:r>
              <a:rPr lang="ro-RO" dirty="0">
                <a:solidFill>
                  <a:srgbClr val="FF0000"/>
                </a:solidFill>
              </a:rPr>
              <a:t>Timpul de execuție a fiecărui proces trebuie să fie cunoscut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7C759-8F1F-8A42-AC77-7308604AD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14788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130FD-E616-0D47-A9E4-967A4B99E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Exemple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13DEF36-9892-2B47-8052-2664E72360C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78618424"/>
              </p:ext>
            </p:extLst>
          </p:nvPr>
        </p:nvGraphicFramePr>
        <p:xfrm>
          <a:off x="457200" y="1600200"/>
          <a:ext cx="4191000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66296">
                  <a:extLst>
                    <a:ext uri="{9D8B030D-6E8A-4147-A177-3AD203B41FA5}">
                      <a16:colId xmlns:a16="http://schemas.microsoft.com/office/drawing/2014/main" val="504168067"/>
                    </a:ext>
                  </a:extLst>
                </a:gridCol>
                <a:gridCol w="1822270">
                  <a:extLst>
                    <a:ext uri="{9D8B030D-6E8A-4147-A177-3AD203B41FA5}">
                      <a16:colId xmlns:a16="http://schemas.microsoft.com/office/drawing/2014/main" val="4224959656"/>
                    </a:ext>
                  </a:extLst>
                </a:gridCol>
                <a:gridCol w="1502434">
                  <a:extLst>
                    <a:ext uri="{9D8B030D-6E8A-4147-A177-3AD203B41FA5}">
                      <a16:colId xmlns:a16="http://schemas.microsoft.com/office/drawing/2014/main" val="3272069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Job</a:t>
                      </a:r>
                    </a:p>
                  </a:txBody>
                  <a:tcPr marL="44873" marR="44873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Timp</a:t>
                      </a:r>
                      <a:r>
                        <a:rPr lang="en-US" dirty="0"/>
                        <a:t> de </a:t>
                      </a:r>
                      <a:r>
                        <a:rPr lang="en-US" dirty="0" err="1"/>
                        <a:t>execuție</a:t>
                      </a:r>
                      <a:endParaRPr lang="en-US" dirty="0"/>
                    </a:p>
                  </a:txBody>
                  <a:tcPr marL="44873" marR="44873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Timp</a:t>
                      </a:r>
                      <a:r>
                        <a:rPr lang="en-US" dirty="0"/>
                        <a:t> de </a:t>
                      </a:r>
                      <a:r>
                        <a:rPr lang="en-US" dirty="0" err="1"/>
                        <a:t>sosire</a:t>
                      </a:r>
                      <a:endParaRPr lang="en-US" dirty="0"/>
                    </a:p>
                  </a:txBody>
                  <a:tcPr marL="44873" marR="44873"/>
                </a:tc>
                <a:extLst>
                  <a:ext uri="{0D108BD9-81ED-4DB2-BD59-A6C34878D82A}">
                    <a16:rowId xmlns:a16="http://schemas.microsoft.com/office/drawing/2014/main" val="495596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J1</a:t>
                      </a:r>
                    </a:p>
                  </a:txBody>
                  <a:tcPr marL="44873" marR="4487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L="44873" marR="4487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marL="44873" marR="44873"/>
                </a:tc>
                <a:extLst>
                  <a:ext uri="{0D108BD9-81ED-4DB2-BD59-A6C34878D82A}">
                    <a16:rowId xmlns:a16="http://schemas.microsoft.com/office/drawing/2014/main" val="2671123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J2</a:t>
                      </a:r>
                    </a:p>
                  </a:txBody>
                  <a:tcPr marL="44873" marR="4487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44873" marR="4487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44873" marR="44873"/>
                </a:tc>
                <a:extLst>
                  <a:ext uri="{0D108BD9-81ED-4DB2-BD59-A6C34878D82A}">
                    <a16:rowId xmlns:a16="http://schemas.microsoft.com/office/drawing/2014/main" val="2103937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J3</a:t>
                      </a:r>
                    </a:p>
                  </a:txBody>
                  <a:tcPr marL="44873" marR="4487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marL="44873" marR="4487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44873" marR="44873"/>
                </a:tc>
                <a:extLst>
                  <a:ext uri="{0D108BD9-81ED-4DB2-BD59-A6C34878D82A}">
                    <a16:rowId xmlns:a16="http://schemas.microsoft.com/office/drawing/2014/main" val="1288285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J4</a:t>
                      </a:r>
                    </a:p>
                  </a:txBody>
                  <a:tcPr marL="44873" marR="4487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marL="44873" marR="4487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marL="44873" marR="44873"/>
                </a:tc>
                <a:extLst>
                  <a:ext uri="{0D108BD9-81ED-4DB2-BD59-A6C34878D82A}">
                    <a16:rowId xmlns:a16="http://schemas.microsoft.com/office/drawing/2014/main" val="2451945762"/>
                  </a:ext>
                </a:extLst>
              </a:tr>
            </a:tbl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7AA1FE-B266-4F43-ADCA-FDFC01D952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dirty="0" err="1"/>
              <a:t>Calculați</a:t>
            </a:r>
            <a:endParaRPr lang="fr-FR" dirty="0"/>
          </a:p>
          <a:p>
            <a:pPr lvl="1"/>
            <a:r>
              <a:rPr lang="fr-FR" dirty="0"/>
              <a:t>TT</a:t>
            </a:r>
          </a:p>
          <a:p>
            <a:pPr lvl="1"/>
            <a:r>
              <a:rPr lang="fr-FR" dirty="0"/>
              <a:t>MTT</a:t>
            </a:r>
          </a:p>
          <a:p>
            <a:r>
              <a:rPr lang="fr-FR" dirty="0"/>
              <a:t>FCFS</a:t>
            </a:r>
          </a:p>
          <a:p>
            <a:pPr lvl="1"/>
            <a:r>
              <a:rPr lang="fr-FR" dirty="0"/>
              <a:t>J1, J2, J3, J4</a:t>
            </a:r>
          </a:p>
          <a:p>
            <a:r>
              <a:rPr lang="fr-FR" dirty="0"/>
              <a:t>SJF</a:t>
            </a:r>
          </a:p>
          <a:p>
            <a:pPr lvl="1"/>
            <a:r>
              <a:rPr lang="fr-FR" dirty="0"/>
              <a:t>J3, J2, J1, J4</a:t>
            </a:r>
          </a:p>
          <a:p>
            <a:r>
              <a:rPr lang="fr-FR" dirty="0"/>
              <a:t>SRTF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E84AB-9864-664B-8F31-E9647FC8A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5241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F71D855-3E78-854C-A764-3F15D91F1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Sisteme</a:t>
            </a:r>
            <a:r>
              <a:rPr lang="fr-FR" dirty="0"/>
              <a:t> Interactive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C5DDA20-AD85-084E-B635-5B0B73DC4B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97BB63-B3D4-9B46-A5AC-5F8A50FFC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18883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AB35D-0430-0043-A2EB-D95C9802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/>
              <a:t>Sisteme</a:t>
            </a:r>
            <a:r>
              <a:rPr lang="fr-FR" dirty="0"/>
              <a:t> Interactive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168B1-AF70-6A43-8974-13CD3BDD6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Parametri optimizați</a:t>
            </a:r>
          </a:p>
          <a:p>
            <a:pPr lvl="1"/>
            <a:r>
              <a:rPr lang="ro-RO" dirty="0" err="1"/>
              <a:t>Wait</a:t>
            </a:r>
            <a:r>
              <a:rPr lang="ro-RO" dirty="0"/>
              <a:t> Time</a:t>
            </a:r>
          </a:p>
          <a:p>
            <a:pPr lvl="1"/>
            <a:r>
              <a:rPr lang="ro-RO" dirty="0" err="1"/>
              <a:t>Fairness</a:t>
            </a:r>
            <a:endParaRPr lang="ro-RO" dirty="0"/>
          </a:p>
          <a:p>
            <a:endParaRPr lang="ro-RO" dirty="0"/>
          </a:p>
          <a:p>
            <a:r>
              <a:rPr lang="ro-RO" dirty="0"/>
              <a:t>Algoritmi</a:t>
            </a:r>
          </a:p>
          <a:p>
            <a:pPr lvl="1"/>
            <a:r>
              <a:rPr lang="ro-RO" dirty="0" err="1"/>
              <a:t>Round</a:t>
            </a:r>
            <a:r>
              <a:rPr lang="ro-RO" dirty="0"/>
              <a:t> Robin (RR)</a:t>
            </a:r>
          </a:p>
          <a:p>
            <a:pPr lvl="1"/>
            <a:r>
              <a:rPr lang="ro-RO" dirty="0"/>
              <a:t>Clase de Priorități</a:t>
            </a:r>
          </a:p>
          <a:p>
            <a:pPr lvl="1"/>
            <a:r>
              <a:rPr lang="ro-RO" dirty="0" err="1"/>
              <a:t>Shortest</a:t>
            </a:r>
            <a:r>
              <a:rPr lang="ro-RO" dirty="0"/>
              <a:t> </a:t>
            </a:r>
            <a:r>
              <a:rPr lang="ro-RO" dirty="0" err="1"/>
              <a:t>Process</a:t>
            </a:r>
            <a:r>
              <a:rPr lang="ro-RO" dirty="0"/>
              <a:t> </a:t>
            </a:r>
            <a:r>
              <a:rPr lang="ro-RO" dirty="0" err="1"/>
              <a:t>Next</a:t>
            </a:r>
            <a:r>
              <a:rPr lang="ro-RO" dirty="0"/>
              <a:t> (SPN)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37E04-608C-E949-AB80-6153B570B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31203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6B8EC-26E1-7F42-AB80-22F3C6FEC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Round Robin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9FEF8-5898-4E43-A9AA-E70DDFEB05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 dirty="0"/>
              <a:t>FCFS </a:t>
            </a:r>
            <a:r>
              <a:rPr lang="ro-RO" dirty="0" err="1"/>
              <a:t>preemtiv</a:t>
            </a:r>
            <a:endParaRPr lang="ro-RO" dirty="0"/>
          </a:p>
          <a:p>
            <a:pPr lvl="1"/>
            <a:r>
              <a:rPr lang="ro-RO" dirty="0"/>
              <a:t>Cuantă de timp</a:t>
            </a:r>
          </a:p>
          <a:p>
            <a:endParaRPr lang="ro-RO" dirty="0"/>
          </a:p>
          <a:p>
            <a:r>
              <a:rPr lang="ro-RO" dirty="0"/>
              <a:t>Cuantă de timp mare</a:t>
            </a:r>
          </a:p>
          <a:p>
            <a:pPr lvl="1"/>
            <a:r>
              <a:rPr lang="ro-RO" dirty="0" err="1">
                <a:solidFill>
                  <a:srgbClr val="92D050"/>
                </a:solidFill>
              </a:rPr>
              <a:t>Throughput</a:t>
            </a:r>
            <a:r>
              <a:rPr lang="ro-RO" dirty="0">
                <a:solidFill>
                  <a:srgbClr val="92D050"/>
                </a:solidFill>
              </a:rPr>
              <a:t> mare</a:t>
            </a:r>
          </a:p>
          <a:p>
            <a:pPr lvl="1"/>
            <a:r>
              <a:rPr lang="ro-RO" dirty="0" err="1">
                <a:solidFill>
                  <a:srgbClr val="FF0000"/>
                </a:solidFill>
              </a:rPr>
              <a:t>Wait</a:t>
            </a:r>
            <a:r>
              <a:rPr lang="ro-RO" dirty="0">
                <a:solidFill>
                  <a:srgbClr val="FF0000"/>
                </a:solidFill>
              </a:rPr>
              <a:t> Time mare</a:t>
            </a:r>
          </a:p>
          <a:p>
            <a:endParaRPr lang="ro-RO" dirty="0">
              <a:solidFill>
                <a:srgbClr val="FF0000"/>
              </a:solidFill>
            </a:endParaRPr>
          </a:p>
          <a:p>
            <a:r>
              <a:rPr lang="ro-RO" dirty="0"/>
              <a:t>Cuantă de timp mică</a:t>
            </a:r>
          </a:p>
          <a:p>
            <a:pPr lvl="1"/>
            <a:r>
              <a:rPr lang="ro-RO" dirty="0" err="1">
                <a:solidFill>
                  <a:srgbClr val="FF0000"/>
                </a:solidFill>
              </a:rPr>
              <a:t>Throughput</a:t>
            </a:r>
            <a:r>
              <a:rPr lang="ro-RO" dirty="0">
                <a:solidFill>
                  <a:srgbClr val="FF0000"/>
                </a:solidFill>
              </a:rPr>
              <a:t> mic</a:t>
            </a:r>
          </a:p>
          <a:p>
            <a:pPr lvl="2"/>
            <a:r>
              <a:rPr lang="ro-RO" dirty="0"/>
              <a:t>Timp mare pentru schimbarea de context</a:t>
            </a:r>
          </a:p>
          <a:p>
            <a:pPr lvl="1"/>
            <a:r>
              <a:rPr lang="ro-RO" dirty="0" err="1">
                <a:solidFill>
                  <a:srgbClr val="92D050"/>
                </a:solidFill>
              </a:rPr>
              <a:t>Wait</a:t>
            </a:r>
            <a:r>
              <a:rPr lang="ro-RO" dirty="0">
                <a:solidFill>
                  <a:srgbClr val="92D050"/>
                </a:solidFill>
              </a:rPr>
              <a:t> Time mic</a:t>
            </a:r>
          </a:p>
          <a:p>
            <a:pPr lvl="1"/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C366B-F5C0-A440-9D4D-2A383C4F4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30</a:t>
            </a:fld>
            <a:endParaRPr lang="fr-FR"/>
          </a:p>
        </p:txBody>
      </p:sp>
      <p:pic>
        <p:nvPicPr>
          <p:cNvPr id="6" name="Content Placeholder 5" descr="context-switch.png">
            <a:extLst>
              <a:ext uri="{FF2B5EF4-FFF2-40B4-BE49-F238E27FC236}">
                <a16:creationId xmlns:a16="http://schemas.microsoft.com/office/drawing/2014/main" id="{DA821EFA-C89F-F641-B581-78CB0069BF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2209400"/>
            <a:ext cx="4038600" cy="3307562"/>
          </a:xfrm>
        </p:spPr>
      </p:pic>
    </p:spTree>
    <p:extLst>
      <p:ext uri="{BB962C8B-B14F-4D97-AF65-F5344CB8AC3E}">
        <p14:creationId xmlns:p14="http://schemas.microsoft.com/office/powerpoint/2010/main" val="30626564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37B96-8DCA-8141-B38D-71D79E7CB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Clase de </a:t>
            </a:r>
            <a:r>
              <a:rPr lang="fr-FR" dirty="0" err="1"/>
              <a:t>priorități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AA19B-F742-3D41-8A75-492ECAE4C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err="1"/>
              <a:t>Round</a:t>
            </a:r>
            <a:r>
              <a:rPr lang="ro-RO" dirty="0"/>
              <a:t> Robin </a:t>
            </a:r>
          </a:p>
          <a:p>
            <a:pPr lvl="1"/>
            <a:r>
              <a:rPr lang="ro-RO" dirty="0"/>
              <a:t>Cu unele procese mai importante decât altele</a:t>
            </a:r>
          </a:p>
          <a:p>
            <a:endParaRPr lang="ro-RO" dirty="0"/>
          </a:p>
          <a:p>
            <a:r>
              <a:rPr lang="ro-RO" dirty="0"/>
              <a:t>Mai multe cozi de așteptare</a:t>
            </a:r>
          </a:p>
          <a:p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F21EDC-32A0-ED43-ABF2-E7EE97468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31</a:t>
            </a:fld>
            <a:endParaRPr lang="fr-FR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7FCD057-B943-1C41-A05A-5D9A7E3757D5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4114800"/>
            <a:ext cx="4038600" cy="1700213"/>
          </a:xfrm>
        </p:spPr>
      </p:pic>
    </p:spTree>
    <p:extLst>
      <p:ext uri="{BB962C8B-B14F-4D97-AF65-F5344CB8AC3E}">
        <p14:creationId xmlns:p14="http://schemas.microsoft.com/office/powerpoint/2010/main" val="24432218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37B96-8DCA-8141-B38D-71D79E7CB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Clase de </a:t>
            </a:r>
            <a:r>
              <a:rPr lang="fr-FR" dirty="0" err="1"/>
              <a:t>priorități</a:t>
            </a:r>
            <a:endParaRPr lang="fr-F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D13B70-5B91-E341-B34F-2FF35BCBA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AA19B-F742-3D41-8A75-492ECAE4C97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Prioritate</a:t>
            </a:r>
            <a:endParaRPr lang="fr-FR" dirty="0"/>
          </a:p>
          <a:p>
            <a:pPr lvl="1"/>
            <a:r>
              <a:rPr lang="fr-FR" dirty="0"/>
              <a:t>0 </a:t>
            </a:r>
            <a:r>
              <a:rPr lang="fr-FR" dirty="0" err="1"/>
              <a:t>sistem</a:t>
            </a:r>
            <a:endParaRPr lang="fr-FR" dirty="0"/>
          </a:p>
          <a:p>
            <a:pPr lvl="1"/>
            <a:r>
              <a:rPr lang="fr-FR" dirty="0"/>
              <a:t>1 la 15 </a:t>
            </a:r>
            <a:r>
              <a:rPr lang="fr-FR" dirty="0" err="1"/>
              <a:t>utilizator</a:t>
            </a:r>
            <a:endParaRPr lang="fr-FR" dirty="0"/>
          </a:p>
          <a:p>
            <a:pPr lvl="1"/>
            <a:r>
              <a:rPr lang="fr-FR" dirty="0"/>
              <a:t>16 la 30 </a:t>
            </a:r>
            <a:r>
              <a:rPr lang="fr-FR" dirty="0" err="1"/>
              <a:t>timp</a:t>
            </a:r>
            <a:r>
              <a:rPr lang="fr-FR" dirty="0"/>
              <a:t> real</a:t>
            </a:r>
          </a:p>
          <a:p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7A18FC-63E8-5846-898E-A8CED1973F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FR"/>
              <a:t>Linux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F21EDC-32A0-ED43-ABF2-E7EE97468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32</a:t>
            </a:fld>
            <a:endParaRPr lang="fr-FR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53CF797-9314-3840-86B6-74D69513082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Prioritate</a:t>
            </a:r>
            <a:endParaRPr lang="fr-FR" dirty="0"/>
          </a:p>
          <a:p>
            <a:pPr lvl="1"/>
            <a:r>
              <a:rPr lang="fr-FR" dirty="0"/>
              <a:t>0 la 99 </a:t>
            </a:r>
            <a:r>
              <a:rPr lang="fr-FR" dirty="0" err="1"/>
              <a:t>timp</a:t>
            </a:r>
            <a:r>
              <a:rPr lang="fr-FR" dirty="0"/>
              <a:t> real</a:t>
            </a:r>
          </a:p>
          <a:p>
            <a:pPr lvl="1"/>
            <a:r>
              <a:rPr lang="fr-FR" dirty="0"/>
              <a:t>100 la 139 </a:t>
            </a:r>
            <a:r>
              <a:rPr lang="fr-FR" dirty="0" err="1"/>
              <a:t>utilizator</a:t>
            </a:r>
            <a:endParaRPr lang="fr-FR" dirty="0"/>
          </a:p>
          <a:p>
            <a:endParaRPr lang="fr-FR" dirty="0"/>
          </a:p>
          <a:p>
            <a:r>
              <a:rPr lang="fr-FR" dirty="0"/>
              <a:t>Nice</a:t>
            </a:r>
          </a:p>
          <a:p>
            <a:pPr lvl="1"/>
            <a:r>
              <a:rPr lang="fr-FR" dirty="0"/>
              <a:t>-20 la 19</a:t>
            </a:r>
          </a:p>
          <a:p>
            <a:endParaRPr lang="fr-FR" dirty="0"/>
          </a:p>
          <a:p>
            <a:r>
              <a:rPr lang="fr-FR" dirty="0" err="1"/>
              <a:t>Prioritate</a:t>
            </a:r>
            <a:r>
              <a:rPr lang="fr-FR" dirty="0"/>
              <a:t> </a:t>
            </a:r>
            <a:r>
              <a:rPr lang="fr-FR" dirty="0" err="1"/>
              <a:t>efectivă</a:t>
            </a:r>
            <a:endParaRPr lang="fr-FR" dirty="0"/>
          </a:p>
          <a:p>
            <a:pPr lvl="1"/>
            <a:r>
              <a:rPr lang="fr-FR" dirty="0"/>
              <a:t>100 + 20 + NI</a:t>
            </a:r>
          </a:p>
        </p:txBody>
      </p:sp>
    </p:spTree>
    <p:extLst>
      <p:ext uri="{BB962C8B-B14F-4D97-AF65-F5344CB8AC3E}">
        <p14:creationId xmlns:p14="http://schemas.microsoft.com/office/powerpoint/2010/main" val="35777609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A45069-C42C-CA4E-8038-83BAD371D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Clase de </a:t>
            </a:r>
            <a:r>
              <a:rPr lang="fr-FR" dirty="0" err="1"/>
              <a:t>priorități</a:t>
            </a:r>
            <a:r>
              <a:rPr lang="fr-FR" dirty="0"/>
              <a:t> (Linux)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486A01-643F-D14C-B973-4F3705C85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33</a:t>
            </a:fld>
            <a:endParaRPr lang="fr-FR"/>
          </a:p>
        </p:txBody>
      </p:sp>
      <p:pic>
        <p:nvPicPr>
          <p:cNvPr id="2050" name="Picture 2" descr="https://lh5.googleusercontent.com/Ft1tNyQPYZ1qLNndP7RNbdSsOUXrMrf4ktY_5mXAq8d2OZj61pBHEmbjznd1FrLen-X5k9oRiSMKIfRQY2XfxGmw0nvGYHxgahtfj4PVhW31jZ_Rc2iEwzE43vGXGOuoyyTzHBNV">
            <a:extLst>
              <a:ext uri="{FF2B5EF4-FFF2-40B4-BE49-F238E27FC236}">
                <a16:creationId xmlns:a16="http://schemas.microsoft.com/office/drawing/2014/main" id="{3B1A604B-564A-5D4B-9D65-DA58E129040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78565"/>
            <a:ext cx="8229600" cy="4369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37669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17E19-9659-B44A-BC04-48C4E57C7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Shortest Process Next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D280F2B-7E2A-8240-AD2A-D0A772A86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SJF </a:t>
            </a:r>
            <a:r>
              <a:rPr lang="ro-RO" dirty="0" err="1"/>
              <a:t>Preemptiv</a:t>
            </a:r>
            <a:endParaRPr lang="ro-RO" dirty="0"/>
          </a:p>
          <a:p>
            <a:r>
              <a:rPr lang="ro-RO" dirty="0"/>
              <a:t>Estimare bazată pe comportamentul precedent</a:t>
            </a:r>
          </a:p>
          <a:p>
            <a:r>
              <a:rPr lang="ro-RO" dirty="0"/>
              <a:t>T0 – cuantă de timp estimată</a:t>
            </a:r>
          </a:p>
          <a:p>
            <a:r>
              <a:rPr lang="ro-RO" dirty="0"/>
              <a:t>T1 – cuantă de timp reală</a:t>
            </a:r>
          </a:p>
          <a:p>
            <a:r>
              <a:rPr lang="ro-RO" dirty="0"/>
              <a:t>a - vârsta</a:t>
            </a:r>
          </a:p>
          <a:p>
            <a:r>
              <a:rPr lang="ro-RO" dirty="0"/>
              <a:t>Cuantă de timp următoare</a:t>
            </a:r>
          </a:p>
          <a:p>
            <a:pPr lvl="1"/>
            <a:r>
              <a:rPr lang="ro-RO" dirty="0"/>
              <a:t>a * T1 + (1-a) * T0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C48B8-05B7-B344-8D1F-369515FF9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91575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96C0754-F11B-C749-9FD6-D77A34735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Timp</a:t>
            </a:r>
            <a:r>
              <a:rPr lang="fr-FR" dirty="0"/>
              <a:t> Real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57BD2A-AEFE-6146-895B-6F447F621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8E17B-5C31-3C48-807E-8C383C5F9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11654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BE0B9CC-6B1E-354B-9964-373B54D98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/>
              <a:t>Timp</a:t>
            </a:r>
            <a:r>
              <a:rPr lang="fr-FR" dirty="0"/>
              <a:t> Real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59D8D75-9BDE-E94A-97D5-E0B4292B8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Limită</a:t>
            </a:r>
            <a:r>
              <a:rPr lang="fr-FR" dirty="0"/>
              <a:t> </a:t>
            </a:r>
            <a:r>
              <a:rPr lang="fr-FR" dirty="0" err="1"/>
              <a:t>maximă</a:t>
            </a:r>
            <a:endParaRPr lang="fr-FR" dirty="0"/>
          </a:p>
          <a:p>
            <a:pPr lvl="1"/>
            <a:r>
              <a:rPr lang="fr-FR" dirty="0" err="1"/>
              <a:t>Turnaround</a:t>
            </a:r>
            <a:endParaRPr lang="fr-FR" dirty="0"/>
          </a:p>
          <a:p>
            <a:pPr lvl="1"/>
            <a:r>
              <a:rPr lang="fr-FR" dirty="0" err="1"/>
              <a:t>Wait</a:t>
            </a:r>
            <a:r>
              <a:rPr lang="fr-FR" dirty="0"/>
              <a:t> Time</a:t>
            </a:r>
          </a:p>
          <a:p>
            <a:r>
              <a:rPr lang="fr-FR" dirty="0"/>
              <a:t>Hardware</a:t>
            </a:r>
          </a:p>
          <a:p>
            <a:pPr lvl="1"/>
            <a:r>
              <a:rPr lang="fr-FR" dirty="0" err="1"/>
              <a:t>Resurse</a:t>
            </a:r>
            <a:r>
              <a:rPr lang="fr-FR" dirty="0"/>
              <a:t> </a:t>
            </a:r>
            <a:r>
              <a:rPr lang="fr-FR" dirty="0" err="1"/>
              <a:t>alocate</a:t>
            </a:r>
            <a:r>
              <a:rPr lang="fr-FR" dirty="0"/>
              <a:t> </a:t>
            </a:r>
          </a:p>
          <a:p>
            <a:r>
              <a:rPr lang="fr-FR" dirty="0"/>
              <a:t>Software</a:t>
            </a:r>
          </a:p>
          <a:p>
            <a:pPr lvl="1"/>
            <a:r>
              <a:rPr lang="fr-FR" dirty="0" err="1"/>
              <a:t>Procesele</a:t>
            </a:r>
            <a:r>
              <a:rPr lang="fr-FR" dirty="0"/>
              <a:t> </a:t>
            </a:r>
            <a:r>
              <a:rPr lang="fr-FR" dirty="0" err="1"/>
              <a:t>în</a:t>
            </a:r>
            <a:r>
              <a:rPr lang="fr-FR" dirty="0"/>
              <a:t> </a:t>
            </a:r>
            <a:r>
              <a:rPr lang="fr-FR" dirty="0" err="1"/>
              <a:t>timp</a:t>
            </a:r>
            <a:r>
              <a:rPr lang="fr-FR" dirty="0"/>
              <a:t> real au </a:t>
            </a:r>
            <a:r>
              <a:rPr lang="fr-FR" dirty="0" err="1"/>
              <a:t>prioritate</a:t>
            </a:r>
            <a:r>
              <a:rPr lang="fr-FR" dirty="0"/>
              <a:t> </a:t>
            </a:r>
            <a:r>
              <a:rPr lang="fr-FR" dirty="0" err="1"/>
              <a:t>maximă</a:t>
            </a:r>
            <a:endParaRPr lang="fr-FR" dirty="0"/>
          </a:p>
          <a:p>
            <a:pPr lvl="1"/>
            <a:r>
              <a:rPr lang="fr-FR" dirty="0" err="1"/>
              <a:t>Celelalte</a:t>
            </a:r>
            <a:r>
              <a:rPr lang="fr-FR" dirty="0"/>
              <a:t> </a:t>
            </a:r>
            <a:r>
              <a:rPr lang="fr-FR" dirty="0" err="1"/>
              <a:t>procese</a:t>
            </a:r>
            <a:r>
              <a:rPr lang="fr-FR" dirty="0"/>
              <a:t> </a:t>
            </a:r>
            <a:r>
              <a:rPr lang="fr-FR" dirty="0" err="1"/>
              <a:t>sunt</a:t>
            </a:r>
            <a:r>
              <a:rPr lang="fr-FR" dirty="0"/>
              <a:t> </a:t>
            </a:r>
            <a:r>
              <a:rPr lang="fr-FR" dirty="0" err="1"/>
              <a:t>întârziate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F486F-188E-6D4B-A84A-CDA943A19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87921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FBE84-12CD-4046-9EBE-3C426FD29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Priority Inversion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142273-878A-E742-9D76-41E17CCA3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Un </a:t>
            </a:r>
            <a:r>
              <a:rPr lang="fr-FR" dirty="0" err="1"/>
              <a:t>proces</a:t>
            </a:r>
            <a:r>
              <a:rPr lang="fr-FR" dirty="0"/>
              <a:t> </a:t>
            </a:r>
            <a:r>
              <a:rPr lang="fr-FR" dirty="0" err="1"/>
              <a:t>cu</a:t>
            </a:r>
            <a:r>
              <a:rPr lang="fr-FR" dirty="0"/>
              <a:t> o </a:t>
            </a:r>
            <a:r>
              <a:rPr lang="fr-FR" dirty="0" err="1"/>
              <a:t>prioritate</a:t>
            </a:r>
            <a:r>
              <a:rPr lang="fr-FR" dirty="0"/>
              <a:t> </a:t>
            </a:r>
            <a:r>
              <a:rPr lang="fr-FR" dirty="0" err="1"/>
              <a:t>mică</a:t>
            </a:r>
            <a:r>
              <a:rPr lang="fr-FR" dirty="0"/>
              <a:t> (P1) </a:t>
            </a:r>
            <a:r>
              <a:rPr lang="fr-FR" dirty="0" err="1"/>
              <a:t>ocupă</a:t>
            </a:r>
            <a:r>
              <a:rPr lang="fr-FR" dirty="0"/>
              <a:t> o </a:t>
            </a:r>
            <a:r>
              <a:rPr lang="fr-FR" dirty="0" err="1"/>
              <a:t>resursă</a:t>
            </a:r>
            <a:endParaRPr lang="fr-FR" dirty="0"/>
          </a:p>
          <a:p>
            <a:endParaRPr lang="fr-FR" dirty="0"/>
          </a:p>
          <a:p>
            <a:r>
              <a:rPr lang="fr-FR" dirty="0"/>
              <a:t>Un </a:t>
            </a:r>
            <a:r>
              <a:rPr lang="fr-FR" dirty="0" err="1"/>
              <a:t>alt</a:t>
            </a:r>
            <a:r>
              <a:rPr lang="fr-FR" dirty="0"/>
              <a:t> </a:t>
            </a:r>
            <a:r>
              <a:rPr lang="fr-FR" dirty="0" err="1"/>
              <a:t>proces</a:t>
            </a:r>
            <a:r>
              <a:rPr lang="fr-FR" dirty="0"/>
              <a:t> </a:t>
            </a:r>
            <a:r>
              <a:rPr lang="fr-FR" dirty="0" err="1"/>
              <a:t>cu</a:t>
            </a:r>
            <a:r>
              <a:rPr lang="fr-FR" dirty="0"/>
              <a:t> o </a:t>
            </a:r>
            <a:r>
              <a:rPr lang="fr-FR" dirty="0" err="1"/>
              <a:t>prioritate</a:t>
            </a:r>
            <a:r>
              <a:rPr lang="fr-FR" dirty="0"/>
              <a:t> mare (P2) are </a:t>
            </a:r>
            <a:r>
              <a:rPr lang="fr-FR" dirty="0" err="1"/>
              <a:t>nevoie</a:t>
            </a:r>
            <a:r>
              <a:rPr lang="fr-FR" dirty="0"/>
              <a:t> de </a:t>
            </a:r>
            <a:r>
              <a:rPr lang="fr-FR" dirty="0" err="1"/>
              <a:t>acea</a:t>
            </a:r>
            <a:r>
              <a:rPr lang="fr-FR" dirty="0"/>
              <a:t> </a:t>
            </a:r>
            <a:r>
              <a:rPr lang="fr-FR" dirty="0" err="1"/>
              <a:t>resursă</a:t>
            </a:r>
            <a:endParaRPr lang="fr-FR" dirty="0"/>
          </a:p>
          <a:p>
            <a:endParaRPr lang="fr-FR" dirty="0"/>
          </a:p>
          <a:p>
            <a:r>
              <a:rPr lang="fr-FR" dirty="0" err="1">
                <a:solidFill>
                  <a:srgbClr val="FF0000"/>
                </a:solidFill>
              </a:rPr>
              <a:t>Procesul</a:t>
            </a:r>
            <a:r>
              <a:rPr lang="fr-FR" dirty="0">
                <a:solidFill>
                  <a:srgbClr val="FF0000"/>
                </a:solidFill>
              </a:rPr>
              <a:t> P2 are </a:t>
            </a:r>
            <a:r>
              <a:rPr lang="fr-FR" dirty="0" err="1">
                <a:solidFill>
                  <a:srgbClr val="FF0000"/>
                </a:solidFill>
              </a:rPr>
              <a:t>aceeași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dirty="0" err="1">
                <a:solidFill>
                  <a:srgbClr val="FF0000"/>
                </a:solidFill>
              </a:rPr>
              <a:t>prioritate</a:t>
            </a:r>
            <a:r>
              <a:rPr lang="fr-FR" dirty="0">
                <a:solidFill>
                  <a:srgbClr val="FF0000"/>
                </a:solidFill>
              </a:rPr>
              <a:t> ca </a:t>
            </a:r>
            <a:r>
              <a:rPr lang="fr-FR" dirty="0" err="1">
                <a:solidFill>
                  <a:srgbClr val="FF0000"/>
                </a:solidFill>
              </a:rPr>
              <a:t>procesul</a:t>
            </a:r>
            <a:r>
              <a:rPr lang="fr-FR" dirty="0">
                <a:solidFill>
                  <a:srgbClr val="FF0000"/>
                </a:solidFill>
              </a:rPr>
              <a:t> P1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636FAD-06A1-6C42-8F86-AD50B54DF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47233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F5305-151D-B747-ABC8-D4F355996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Priority Boosting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E42787-DB24-4345-A6E3-703EBA1A5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Creșterea</a:t>
            </a:r>
            <a:r>
              <a:rPr lang="fr-FR" dirty="0"/>
              <a:t> </a:t>
            </a:r>
            <a:r>
              <a:rPr lang="fr-FR" dirty="0" err="1"/>
              <a:t>priorității</a:t>
            </a:r>
            <a:r>
              <a:rPr lang="fr-FR" dirty="0"/>
              <a:t> </a:t>
            </a:r>
            <a:r>
              <a:rPr lang="fr-FR" dirty="0" err="1"/>
              <a:t>într</a:t>
            </a:r>
            <a:r>
              <a:rPr lang="fr-FR" dirty="0"/>
              <a:t>-un </a:t>
            </a:r>
            <a:r>
              <a:rPr lang="fr-FR" dirty="0" err="1"/>
              <a:t>timp</a:t>
            </a:r>
            <a:r>
              <a:rPr lang="fr-FR" dirty="0"/>
              <a:t> </a:t>
            </a:r>
            <a:r>
              <a:rPr lang="fr-FR" dirty="0" err="1"/>
              <a:t>limită</a:t>
            </a:r>
            <a:endParaRPr lang="fr-FR" dirty="0"/>
          </a:p>
          <a:p>
            <a:r>
              <a:rPr lang="fr-FR" dirty="0"/>
              <a:t>La </a:t>
            </a:r>
            <a:r>
              <a:rPr lang="fr-FR" dirty="0" err="1"/>
              <a:t>primirea</a:t>
            </a:r>
            <a:r>
              <a:rPr lang="fr-FR" dirty="0"/>
              <a:t> </a:t>
            </a:r>
            <a:r>
              <a:rPr lang="fr-FR" dirty="0" err="1"/>
              <a:t>datelor</a:t>
            </a:r>
            <a:r>
              <a:rPr lang="fr-FR" dirty="0"/>
              <a:t> de </a:t>
            </a:r>
            <a:r>
              <a:rPr lang="fr-FR" dirty="0" err="1"/>
              <a:t>intrare</a:t>
            </a:r>
            <a:r>
              <a:rPr lang="fr-FR" dirty="0"/>
              <a:t>/</a:t>
            </a:r>
            <a:r>
              <a:rPr lang="fr-FR" dirty="0" err="1"/>
              <a:t>ieșire</a:t>
            </a:r>
            <a:endParaRPr lang="fr-FR" dirty="0"/>
          </a:p>
          <a:p>
            <a:pPr lvl="1"/>
            <a:r>
              <a:rPr lang="fr-FR" dirty="0" err="1"/>
              <a:t>Depinde</a:t>
            </a:r>
            <a:r>
              <a:rPr lang="fr-FR" dirty="0"/>
              <a:t> de </a:t>
            </a:r>
            <a:r>
              <a:rPr lang="fr-FR" dirty="0" err="1"/>
              <a:t>Wait</a:t>
            </a:r>
            <a:r>
              <a:rPr lang="fr-FR" dirty="0"/>
              <a:t> Time</a:t>
            </a:r>
          </a:p>
          <a:p>
            <a:pPr lvl="1"/>
            <a:endParaRPr lang="fr-FR" dirty="0"/>
          </a:p>
          <a:p>
            <a:r>
              <a:rPr lang="fr-FR" dirty="0"/>
              <a:t>Un </a:t>
            </a:r>
            <a:r>
              <a:rPr lang="fr-FR" dirty="0" err="1"/>
              <a:t>alt</a:t>
            </a:r>
            <a:r>
              <a:rPr lang="fr-FR" dirty="0"/>
              <a:t> </a:t>
            </a:r>
            <a:r>
              <a:rPr lang="fr-FR" dirty="0" err="1"/>
              <a:t>proces</a:t>
            </a:r>
            <a:r>
              <a:rPr lang="fr-FR" dirty="0"/>
              <a:t> </a:t>
            </a:r>
            <a:r>
              <a:rPr lang="fr-FR" dirty="0" err="1"/>
              <a:t>cu</a:t>
            </a:r>
            <a:r>
              <a:rPr lang="fr-FR" dirty="0"/>
              <a:t> o </a:t>
            </a:r>
            <a:r>
              <a:rPr lang="fr-FR" dirty="0" err="1"/>
              <a:t>prioritate</a:t>
            </a:r>
            <a:r>
              <a:rPr lang="fr-FR" dirty="0"/>
              <a:t> mai mare </a:t>
            </a:r>
            <a:r>
              <a:rPr lang="fr-FR" dirty="0" err="1"/>
              <a:t>așteaptă</a:t>
            </a:r>
            <a:r>
              <a:rPr lang="fr-FR" dirty="0"/>
              <a:t> o </a:t>
            </a:r>
            <a:r>
              <a:rPr lang="fr-FR" dirty="0" err="1"/>
              <a:t>resursă</a:t>
            </a:r>
            <a:r>
              <a:rPr lang="fr-FR" dirty="0"/>
              <a:t> </a:t>
            </a:r>
            <a:r>
              <a:rPr lang="fr-FR" dirty="0" err="1"/>
              <a:t>blocată</a:t>
            </a:r>
            <a:r>
              <a:rPr lang="fr-FR" dirty="0"/>
              <a:t> de un </a:t>
            </a:r>
            <a:r>
              <a:rPr lang="fr-FR" dirty="0" err="1"/>
              <a:t>alt</a:t>
            </a:r>
            <a:r>
              <a:rPr lang="fr-FR" dirty="0"/>
              <a:t> </a:t>
            </a:r>
            <a:r>
              <a:rPr lang="fr-FR" dirty="0" err="1"/>
              <a:t>proces</a:t>
            </a:r>
            <a:endParaRPr lang="fr-FR" dirty="0"/>
          </a:p>
          <a:p>
            <a:endParaRPr lang="fr-F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5A06F-47FD-D54E-A013-7BE36B662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60133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E957B-EF0D-9741-AB44-7ECF0303B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Starvation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282BE4-274F-D342-928F-D05F7ECF3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</a:t>
            </a:r>
            <a:r>
              <a:rPr lang="fr-FR" dirty="0" err="1"/>
              <a:t>proces</a:t>
            </a:r>
            <a:r>
              <a:rPr lang="fr-FR" dirty="0"/>
              <a:t> nu are </a:t>
            </a:r>
            <a:r>
              <a:rPr lang="fr-FR" dirty="0" err="1"/>
              <a:t>acces</a:t>
            </a:r>
            <a:r>
              <a:rPr lang="fr-FR" dirty="0"/>
              <a:t> la  CPU </a:t>
            </a:r>
            <a:r>
              <a:rPr lang="fr-FR" dirty="0" err="1"/>
              <a:t>pentru</a:t>
            </a:r>
            <a:r>
              <a:rPr lang="fr-FR" dirty="0"/>
              <a:t> o </a:t>
            </a:r>
            <a:r>
              <a:rPr lang="fr-FR" dirty="0" err="1"/>
              <a:t>perioadă</a:t>
            </a:r>
            <a:r>
              <a:rPr lang="fr-FR" dirty="0"/>
              <a:t> mare de </a:t>
            </a:r>
            <a:r>
              <a:rPr lang="fr-FR" dirty="0" err="1"/>
              <a:t>timp</a:t>
            </a:r>
            <a:endParaRPr lang="fr-F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9E9E21-36C3-D148-8444-CC51F32B7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89249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4BBA27A-12DF-A742-9FD4-6529A0972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Completely Fair Scheduler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C2BAEB6-D5B4-EA41-AA1F-BBFAAA771B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94C15-F2AB-104A-90BF-0B8C24A6F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40</a:t>
            </a:fld>
            <a:endParaRPr lang="fr-FR"/>
          </a:p>
        </p:txBody>
      </p:sp>
      <p:pic>
        <p:nvPicPr>
          <p:cNvPr id="7" name="Picture 6" descr="linux.jpeg">
            <a:extLst>
              <a:ext uri="{FF2B5EF4-FFF2-40B4-BE49-F238E27FC236}">
                <a16:creationId xmlns:a16="http://schemas.microsoft.com/office/drawing/2014/main" id="{2206A6F0-0472-2B4F-B907-81B1A6B073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1270000"/>
            <a:ext cx="2003998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1875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C56A687-38FD-6440-B438-26FDF1C5A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Completly Fair Scheduler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91B91B-4ADB-AE4C-A9E6-EB871A505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Virtual </a:t>
            </a:r>
            <a:r>
              <a:rPr lang="fr-FR" dirty="0" err="1"/>
              <a:t>Runtime</a:t>
            </a:r>
            <a:r>
              <a:rPr lang="fr-FR" dirty="0"/>
              <a:t> (</a:t>
            </a:r>
            <a:r>
              <a:rPr lang="fr-FR" dirty="0" err="1"/>
              <a:t>vruntime</a:t>
            </a:r>
            <a:r>
              <a:rPr lang="fr-FR" dirty="0"/>
              <a:t>)</a:t>
            </a:r>
          </a:p>
          <a:p>
            <a:pPr lvl="1"/>
            <a:r>
              <a:rPr lang="fr-FR" dirty="0" err="1"/>
              <a:t>Timp</a:t>
            </a:r>
            <a:r>
              <a:rPr lang="fr-FR" dirty="0"/>
              <a:t> de </a:t>
            </a:r>
            <a:r>
              <a:rPr lang="fr-FR" dirty="0" err="1"/>
              <a:t>utilizare</a:t>
            </a:r>
            <a:r>
              <a:rPr lang="fr-FR" dirty="0"/>
              <a:t> al CPU</a:t>
            </a:r>
          </a:p>
          <a:p>
            <a:endParaRPr lang="fr-FR" dirty="0"/>
          </a:p>
          <a:p>
            <a:r>
              <a:rPr lang="fr-FR" dirty="0"/>
              <a:t>Arbore </a:t>
            </a:r>
            <a:r>
              <a:rPr lang="fr-FR" dirty="0" err="1"/>
              <a:t>roșu-negru</a:t>
            </a:r>
            <a:endParaRPr lang="fr-FR" dirty="0"/>
          </a:p>
          <a:p>
            <a:pPr lvl="1"/>
            <a:r>
              <a:rPr lang="fr-FR" dirty="0" err="1"/>
              <a:t>Ordonare</a:t>
            </a:r>
            <a:r>
              <a:rPr lang="fr-FR" dirty="0"/>
              <a:t> </a:t>
            </a:r>
            <a:r>
              <a:rPr lang="fr-FR" dirty="0" err="1"/>
              <a:t>bazată</a:t>
            </a:r>
            <a:r>
              <a:rPr lang="fr-FR" dirty="0"/>
              <a:t> </a:t>
            </a:r>
            <a:r>
              <a:rPr lang="fr-FR" dirty="0" err="1"/>
              <a:t>pe</a:t>
            </a:r>
            <a:r>
              <a:rPr lang="fr-FR" dirty="0"/>
              <a:t> </a:t>
            </a:r>
            <a:r>
              <a:rPr lang="fr-FR" dirty="0" err="1"/>
              <a:t>vruntime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Proces</a:t>
            </a:r>
            <a:r>
              <a:rPr lang="fr-FR" dirty="0"/>
              <a:t> </a:t>
            </a:r>
            <a:r>
              <a:rPr lang="fr-FR" dirty="0" err="1"/>
              <a:t>nou</a:t>
            </a:r>
            <a:endParaRPr lang="fr-FR" dirty="0"/>
          </a:p>
          <a:p>
            <a:pPr lvl="1"/>
            <a:r>
              <a:rPr lang="fr-FR" dirty="0" err="1"/>
              <a:t>vruntime</a:t>
            </a:r>
            <a:r>
              <a:rPr lang="fr-FR" dirty="0"/>
              <a:t> = </a:t>
            </a:r>
            <a:r>
              <a:rPr lang="fr-FR" dirty="0" err="1"/>
              <a:t>vruntime</a:t>
            </a:r>
            <a:r>
              <a:rPr lang="fr-FR" dirty="0"/>
              <a:t> minimal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890ED-49D8-014A-8FC5-27D71B6E4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81373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C56A687-38FD-6440-B438-26FDF1C5A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Completly Fair Scheduler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890ED-49D8-014A-8FC5-27D71B6E4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42</a:t>
            </a:fld>
            <a:endParaRPr lang="fr-FR"/>
          </a:p>
        </p:txBody>
      </p:sp>
      <p:pic>
        <p:nvPicPr>
          <p:cNvPr id="3074" name="Picture 2" descr="https://lh4.googleusercontent.com/j6AjunFg25mecjvbX33f9yOIdj8qCTr9uskcAyyhvTZaa5ADCtcoLKTM9_VEg60pSer02h5fZ004-12Sd2R1QCjW2aAFsywNxsi7IGFqZ_lJtajQF3WIsIR3xQuNt4bChRrwIHj_">
            <a:extLst>
              <a:ext uri="{FF2B5EF4-FFF2-40B4-BE49-F238E27FC236}">
                <a16:creationId xmlns:a16="http://schemas.microsoft.com/office/drawing/2014/main" id="{87208DF0-7FDC-0E4F-98A4-BF80E1CE23B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2078831"/>
            <a:ext cx="6604000" cy="356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42978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CA2057-D137-214B-B11D-10F4B59C5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IPC – </a:t>
            </a:r>
            <a:r>
              <a:rPr lang="fr-FR" dirty="0" err="1"/>
              <a:t>Comunicarea</a:t>
            </a:r>
            <a:r>
              <a:rPr lang="fr-FR" dirty="0"/>
              <a:t> </a:t>
            </a:r>
            <a:r>
              <a:rPr lang="fr-FR" dirty="0" err="1"/>
              <a:t>între</a:t>
            </a:r>
            <a:r>
              <a:rPr lang="fr-FR" dirty="0"/>
              <a:t> </a:t>
            </a:r>
            <a:r>
              <a:rPr lang="fr-FR" dirty="0" err="1"/>
              <a:t>procese</a:t>
            </a:r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89DE74-42BF-9849-945F-E17BC51CF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8238B-32B9-7746-82A0-6ECA680A4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79653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5AD1E-8DC8-0949-B987-705509F12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IPC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C4844-EE46-4B43-AFA9-B4B807FE4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semnale (Linux)</a:t>
            </a:r>
          </a:p>
          <a:p>
            <a:endParaRPr lang="ro-RO"/>
          </a:p>
          <a:p>
            <a:r>
              <a:rPr lang="ro-RO"/>
              <a:t>pipe </a:t>
            </a:r>
          </a:p>
          <a:p>
            <a:endParaRPr lang="ro-RO"/>
          </a:p>
          <a:p>
            <a:r>
              <a:rPr lang="ro-RO"/>
              <a:t>memorie partajată</a:t>
            </a:r>
          </a:p>
          <a:p>
            <a:endParaRPr lang="ro-RO"/>
          </a:p>
          <a:p>
            <a:r>
              <a:rPr lang="ro-RO"/>
              <a:t>socket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9B79F-5033-F74B-A4B9-3FEE575C2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265418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400CE-C5C1-C148-8603-F2E6F07D2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Semnale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920BD-2CBC-8F4C-BE3C-3CD118C53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/>
              <a:t>Notificări trimise unui proes</a:t>
            </a:r>
          </a:p>
          <a:p>
            <a:r>
              <a:rPr lang="ro-RO"/>
              <a:t>SO trimite evenimente procesului</a:t>
            </a:r>
          </a:p>
          <a:p>
            <a:r>
              <a:rPr lang="ro-RO"/>
              <a:t>SO primește un eveniment (de exemplu o întrerupere) </a:t>
            </a:r>
          </a:p>
          <a:p>
            <a:pPr lvl="1"/>
            <a:r>
              <a:rPr lang="ro-RO"/>
              <a:t>SO oprește procesul curent </a:t>
            </a:r>
          </a:p>
          <a:p>
            <a:pPr lvl="1"/>
            <a:r>
              <a:rPr lang="ro-RO"/>
              <a:t>se apelează funcția </a:t>
            </a:r>
            <a:r>
              <a:rPr lang="ro-RO" b="1"/>
              <a:t>signal</a:t>
            </a:r>
            <a:r>
              <a:rPr lang="ro-RO"/>
              <a:t> </a:t>
            </a:r>
            <a:r>
              <a:rPr lang="ro-RO" b="1"/>
              <a:t>handler</a:t>
            </a:r>
            <a:endParaRPr lang="ro-RO"/>
          </a:p>
          <a:p>
            <a:pPr lvl="1"/>
            <a:r>
              <a:rPr lang="ro-RO"/>
              <a:t>Procesul continuă execuția de unde a fost oprit 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0906D-6F31-C043-A585-787EBF0BB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18755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400CE-C5C1-C148-8603-F2E6F07D2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Semnale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538E072-EF27-6E43-B791-799119CD02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0" y="1653381"/>
            <a:ext cx="6350000" cy="44196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0906D-6F31-C043-A585-787EBF0BB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038139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D1214-1227-014C-8493-0EA6CC894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Lista de semnale -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B9E5B-DF63-7140-B5B5-BA2482EB8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1400">
                <a:latin typeface="Courier New" panose="02070309020205020404" pitchFamily="49" charset="0"/>
                <a:cs typeface="Courier New" panose="02070309020205020404" pitchFamily="49" charset="0"/>
              </a:rPr>
              <a:t>     1) SIGHUP       2) SIGINT       3) SIGQUIT      4) SIGILL</a:t>
            </a:r>
          </a:p>
          <a:p>
            <a:pPr marL="0" indent="0">
              <a:buNone/>
            </a:pPr>
            <a:r>
              <a:rPr lang="ro-RO" sz="1400">
                <a:latin typeface="Courier New" panose="02070309020205020404" pitchFamily="49" charset="0"/>
                <a:cs typeface="Courier New" panose="02070309020205020404" pitchFamily="49" charset="0"/>
              </a:rPr>
              <a:t>     5) SIGTRAP      6) SIGABRT      7) SIGBUS       8) SIGFPE</a:t>
            </a:r>
          </a:p>
          <a:p>
            <a:pPr marL="0" indent="0">
              <a:buNone/>
            </a:pPr>
            <a:r>
              <a:rPr lang="ro-RO" sz="1400">
                <a:latin typeface="Courier New" panose="02070309020205020404" pitchFamily="49" charset="0"/>
                <a:cs typeface="Courier New" panose="02070309020205020404" pitchFamily="49" charset="0"/>
              </a:rPr>
              <a:t>     9) SIGKILL     10) SIGUSR1     11) SIGSEGV     12) SIGUSR2</a:t>
            </a:r>
          </a:p>
          <a:p>
            <a:pPr marL="0" indent="0">
              <a:buNone/>
            </a:pPr>
            <a:r>
              <a:rPr lang="ro-RO" sz="1400">
                <a:latin typeface="Courier New" panose="02070309020205020404" pitchFamily="49" charset="0"/>
                <a:cs typeface="Courier New" panose="02070309020205020404" pitchFamily="49" charset="0"/>
              </a:rPr>
              <a:t>    13) SIGPIPE     14) SIGALRM     15) SIGTERM     17) SIGCHLD</a:t>
            </a:r>
          </a:p>
          <a:p>
            <a:pPr marL="0" indent="0">
              <a:buNone/>
            </a:pPr>
            <a:r>
              <a:rPr lang="ro-RO" sz="1400">
                <a:latin typeface="Courier New" panose="02070309020205020404" pitchFamily="49" charset="0"/>
                <a:cs typeface="Courier New" panose="02070309020205020404" pitchFamily="49" charset="0"/>
              </a:rPr>
              <a:t>    18) SIGCONT     19) SIGSTOP     20) SIGTSTP     21) SIGTTIN</a:t>
            </a:r>
          </a:p>
          <a:p>
            <a:pPr marL="0" indent="0">
              <a:buNone/>
            </a:pPr>
            <a:r>
              <a:rPr lang="ro-RO" sz="1400">
                <a:latin typeface="Courier New" panose="02070309020205020404" pitchFamily="49" charset="0"/>
                <a:cs typeface="Courier New" panose="02070309020205020404" pitchFamily="49" charset="0"/>
              </a:rPr>
              <a:t>    22) SIGTTOU     23) SIGURG      24) SIGXCPU     25) SIGXFSZ</a:t>
            </a:r>
          </a:p>
          <a:p>
            <a:pPr marL="0" indent="0">
              <a:buNone/>
            </a:pPr>
            <a:r>
              <a:rPr lang="ro-RO" sz="1400">
                <a:latin typeface="Courier New" panose="02070309020205020404" pitchFamily="49" charset="0"/>
                <a:cs typeface="Courier New" panose="02070309020205020404" pitchFamily="49" charset="0"/>
              </a:rPr>
              <a:t>    26) SIGVTALRM   27) SIGPROF     28) SIGWINCH    29) SIGIO</a:t>
            </a:r>
          </a:p>
          <a:p>
            <a:pPr marL="0" indent="0">
              <a:buNone/>
            </a:pPr>
            <a:r>
              <a:rPr lang="ro-RO" sz="1400">
                <a:latin typeface="Courier New" panose="02070309020205020404" pitchFamily="49" charset="0"/>
                <a:cs typeface="Courier New" panose="02070309020205020404" pitchFamily="49" charset="0"/>
              </a:rPr>
              <a:t>    30) SIGPWR      31) SIGSYS      33) SIGRTMIN    34) SIGRTMIN+1</a:t>
            </a:r>
          </a:p>
          <a:p>
            <a:pPr marL="0" indent="0">
              <a:buNone/>
            </a:pPr>
            <a:r>
              <a:rPr lang="ro-RO" sz="1400">
                <a:latin typeface="Courier New" panose="02070309020205020404" pitchFamily="49" charset="0"/>
                <a:cs typeface="Courier New" panose="02070309020205020404" pitchFamily="49" charset="0"/>
              </a:rPr>
              <a:t>    35) SIGRTMIN+2  36) SIGRTMIN+3  37) SIGRTMIN+4  38) SIGRTMIN+5</a:t>
            </a:r>
          </a:p>
          <a:p>
            <a:pPr marL="0" indent="0">
              <a:buNone/>
            </a:pPr>
            <a:r>
              <a:rPr lang="ro-RO" sz="1400">
                <a:latin typeface="Courier New" panose="02070309020205020404" pitchFamily="49" charset="0"/>
                <a:cs typeface="Courier New" panose="02070309020205020404" pitchFamily="49" charset="0"/>
              </a:rPr>
              <a:t>    39) SIGRTMIN+6  40) SIGRTMIN+7  41) SIGRTMIN+8  42) SIGRTMIN+9</a:t>
            </a:r>
          </a:p>
          <a:p>
            <a:pPr marL="0" indent="0">
              <a:buNone/>
            </a:pPr>
            <a:r>
              <a:rPr lang="ro-RO" sz="1400">
                <a:latin typeface="Courier New" panose="02070309020205020404" pitchFamily="49" charset="0"/>
                <a:cs typeface="Courier New" panose="02070309020205020404" pitchFamily="49" charset="0"/>
              </a:rPr>
              <a:t>    43) SIGRTMIN+10 44) SIGRTMIN+11 45) SIGRTMIN+12 46) SIGRTMIN+13</a:t>
            </a:r>
          </a:p>
          <a:p>
            <a:pPr marL="0" indent="0">
              <a:buNone/>
            </a:pPr>
            <a:r>
              <a:rPr lang="ro-RO" sz="1400">
                <a:latin typeface="Courier New" panose="02070309020205020404" pitchFamily="49" charset="0"/>
                <a:cs typeface="Courier New" panose="02070309020205020404" pitchFamily="49" charset="0"/>
              </a:rPr>
              <a:t>    47) SIGRTMIN+14 48) SIGRTMIN+15 49) SIGRTMAX-15 50) SIGRTMAX-14</a:t>
            </a:r>
          </a:p>
          <a:p>
            <a:pPr marL="0" indent="0">
              <a:buNone/>
            </a:pPr>
            <a:r>
              <a:rPr lang="ro-RO" sz="1400">
                <a:latin typeface="Courier New" panose="02070309020205020404" pitchFamily="49" charset="0"/>
                <a:cs typeface="Courier New" panose="02070309020205020404" pitchFamily="49" charset="0"/>
              </a:rPr>
              <a:t>    51) SIGRTMAX-13 52) SIGRTMAX-12 53) SIGRTMAX-11 54) SIGRTMAX-10</a:t>
            </a:r>
          </a:p>
          <a:p>
            <a:pPr marL="0" indent="0">
              <a:buNone/>
            </a:pPr>
            <a:r>
              <a:rPr lang="ro-RO" sz="1400">
                <a:latin typeface="Courier New" panose="02070309020205020404" pitchFamily="49" charset="0"/>
                <a:cs typeface="Courier New" panose="02070309020205020404" pitchFamily="49" charset="0"/>
              </a:rPr>
              <a:t>    55) SIGRTMAX-9  56) SIGRTMAX-8  57) SIGRTMAX-7  58) SIGRTMAX-6</a:t>
            </a:r>
          </a:p>
          <a:p>
            <a:pPr marL="0" indent="0">
              <a:buNone/>
            </a:pPr>
            <a:r>
              <a:rPr lang="ro-RO" sz="1400">
                <a:latin typeface="Courier New" panose="02070309020205020404" pitchFamily="49" charset="0"/>
                <a:cs typeface="Courier New" panose="02070309020205020404" pitchFamily="49" charset="0"/>
              </a:rPr>
              <a:t>    59) SIGRTMAX-5  60) SIGRTMAX-4  61) SIGRTMAX-3  62) SIGRTMAX-2</a:t>
            </a:r>
          </a:p>
          <a:p>
            <a:pPr marL="0" indent="0">
              <a:buNone/>
            </a:pPr>
            <a:r>
              <a:rPr lang="ro-RO" sz="1400">
                <a:latin typeface="Courier New" panose="02070309020205020404" pitchFamily="49" charset="0"/>
                <a:cs typeface="Courier New" panose="02070309020205020404" pitchFamily="49" charset="0"/>
              </a:rPr>
              <a:t>    63) SIGRTMAX-1  64) SIGRTMAX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EC249-B68D-B941-8479-FFDD10EBC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70666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85590-48F4-A746-8CBE-0DB45CE8D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Trimiterea unui semnal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451E5-17A9-0943-9B95-C278781BF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Shell</a:t>
            </a:r>
          </a:p>
          <a:p>
            <a:pPr lvl="1"/>
            <a:r>
              <a:rPr lang="ro-RO"/>
              <a:t>kill -numărul_semnalului pid</a:t>
            </a:r>
          </a:p>
          <a:p>
            <a:endParaRPr lang="ro-RO"/>
          </a:p>
          <a:p>
            <a:r>
              <a:rPr lang="ro-RO"/>
              <a:t>POSIX</a:t>
            </a:r>
          </a:p>
          <a:p>
            <a:pPr lvl="1"/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kill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>
                <a:solidFill>
                  <a:srgbClr val="267F99"/>
                </a:solidFill>
                <a:latin typeface="Menlo" panose="020B0609030804020204" pitchFamily="49" charset="0"/>
              </a:rPr>
              <a:t>pid_t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pid, 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sig);</a:t>
            </a:r>
          </a:p>
          <a:p>
            <a:pPr lvl="1"/>
            <a:endParaRPr lang="ro-RO">
              <a:solidFill>
                <a:srgbClr val="0000FF"/>
              </a:solidFill>
              <a:latin typeface="Menlo" panose="020B0609030804020204" pitchFamily="49" charset="0"/>
            </a:endParaRPr>
          </a:p>
          <a:p>
            <a:pPr lvl="1"/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sigqueue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>
                <a:solidFill>
                  <a:srgbClr val="267F99"/>
                </a:solidFill>
                <a:latin typeface="Menlo" panose="020B0609030804020204" pitchFamily="49" charset="0"/>
              </a:rPr>
              <a:t>pid_t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pid, 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sig, 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union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sigval value);</a:t>
            </a:r>
          </a:p>
          <a:p>
            <a:pPr lvl="1"/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endParaRPr lang="ro-RO"/>
          </a:p>
          <a:p>
            <a:pPr lvl="1"/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C14C2-9CBE-8040-9688-088D158B5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062997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A0B60-A6BC-774C-BC57-2E50C55C3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Acțiunea la primirea unui semnal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C7623-4406-5A47-B950-D6AB7421E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/>
              <a:t>Acțiunea implicită</a:t>
            </a:r>
          </a:p>
          <a:p>
            <a:pPr lvl="1"/>
            <a:r>
              <a:rPr lang="ro-RO"/>
              <a:t>terminarea procesului (în general)</a:t>
            </a:r>
          </a:p>
          <a:p>
            <a:endParaRPr lang="ro-RO"/>
          </a:p>
          <a:p>
            <a:r>
              <a:rPr lang="ro-RO"/>
              <a:t>Acțiune definită de proces</a:t>
            </a:r>
          </a:p>
          <a:p>
            <a:pPr lvl="1"/>
            <a:r>
              <a:rPr lang="ro-RO"/>
              <a:t>signal handler</a:t>
            </a:r>
          </a:p>
          <a:p>
            <a:endParaRPr lang="ro-RO"/>
          </a:p>
          <a:p>
            <a:r>
              <a:rPr lang="ro-RO"/>
              <a:t>Ignorare</a:t>
            </a:r>
          </a:p>
          <a:p>
            <a:pPr lvl="1"/>
            <a:r>
              <a:rPr lang="ro-RO"/>
              <a:t>În afarpă de SIGKILL și SIGSTOP</a:t>
            </a:r>
          </a:p>
          <a:p>
            <a:endParaRPr lang="ro-RO"/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942F7-F568-4345-AEA1-C7BE376F2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520857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72D1E-59DA-404A-8CC5-0F4237BA0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Acțiune definită de proces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8637D-087E-4F4E-BD7F-19580C4D9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>
                <a:solidFill>
                  <a:srgbClr val="795E26"/>
                </a:solidFill>
                <a:latin typeface="Menlo" panose="020B0609030804020204" pitchFamily="49" charset="0"/>
              </a:rPr>
              <a:t>sigaction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signum, 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		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sigaction *act,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		sigaction *oldact);</a:t>
            </a:r>
          </a:p>
          <a:p>
            <a:pPr marL="0" indent="0">
              <a:buNone/>
            </a:pPr>
            <a:b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sigaction {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(*sa_handler)(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(*sa_sigaction)(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2000">
                <a:solidFill>
                  <a:srgbClr val="267F99"/>
                </a:solidFill>
                <a:latin typeface="Menlo" panose="020B0609030804020204" pitchFamily="49" charset="0"/>
              </a:rPr>
              <a:t>siginfo_t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*,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*);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000">
                <a:solidFill>
                  <a:srgbClr val="267F99"/>
                </a:solidFill>
                <a:latin typeface="Menlo" panose="020B0609030804020204" pitchFamily="49" charset="0"/>
              </a:rPr>
              <a:t>sigset_t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sa_mask;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sa_flags;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pPr marL="0" indent="0">
              <a:buNone/>
            </a:pPr>
            <a:endParaRPr lang="ro-RO" sz="2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310D7-1BC8-9A47-84B6-6F1CF46ED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40653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AD909-62D9-DA4E-A20C-AA449E1D1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10597-CE4B-5E4B-A0F4-C10A1618A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static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usr2_handler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signum) {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>
                <a:solidFill>
                  <a:srgbClr val="008000"/>
                </a:solidFill>
                <a:latin typeface="Menlo" panose="020B0609030804020204" pitchFamily="49" charset="0"/>
              </a:rPr>
              <a:t>/* actions that should be taken when the signal signum is received */</a:t>
            </a: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...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sigaction sa;</a:t>
            </a:r>
          </a:p>
          <a:p>
            <a:pPr marL="0" indent="0">
              <a:buNone/>
            </a:pPr>
            <a:b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memset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(&amp;sa, </a:t>
            </a:r>
            <a:r>
              <a:rPr lang="ro-RO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sizeof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(sa));</a:t>
            </a:r>
          </a:p>
          <a:p>
            <a:pPr marL="0" indent="0">
              <a:buNone/>
            </a:pPr>
            <a:b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sa.</a:t>
            </a:r>
            <a:r>
              <a:rPr lang="ro-RO">
                <a:solidFill>
                  <a:srgbClr val="001080"/>
                </a:solidFill>
                <a:latin typeface="Menlo" panose="020B0609030804020204" pitchFamily="49" charset="0"/>
              </a:rPr>
              <a:t>sa_flags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= SA_RESETHAND; </a:t>
            </a:r>
            <a:r>
              <a:rPr lang="ro-RO">
                <a:solidFill>
                  <a:srgbClr val="008000"/>
                </a:solidFill>
                <a:latin typeface="Menlo" panose="020B0609030804020204" pitchFamily="49" charset="0"/>
              </a:rPr>
              <a:t>/* restore handler to previous state */</a:t>
            </a: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sa.</a:t>
            </a:r>
            <a:r>
              <a:rPr lang="ro-RO">
                <a:solidFill>
                  <a:srgbClr val="001080"/>
                </a:solidFill>
                <a:latin typeface="Menlo" panose="020B0609030804020204" pitchFamily="49" charset="0"/>
              </a:rPr>
              <a:t>sa_handler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= usr2_handler;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sigaction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(SIGUSR2, &amp;sa, 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b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>
                <a:solidFill>
                  <a:srgbClr val="AF00DB"/>
                </a:solidFill>
                <a:latin typeface="Menlo" panose="020B0609030804020204" pitchFamily="49" charset="0"/>
              </a:rPr>
              <a:t>return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C7624-DBD5-9042-AE55-A76E76653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148036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99D5F-F95A-7240-9DEC-1D0669534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Mascarea semnalelor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29487-97AF-624E-B752-75D1D2A16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25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5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500">
                <a:solidFill>
                  <a:srgbClr val="795E26"/>
                </a:solidFill>
                <a:latin typeface="Menlo" panose="020B0609030804020204" pitchFamily="49" charset="0"/>
              </a:rPr>
              <a:t>sigemptyset</a:t>
            </a:r>
            <a:r>
              <a:rPr lang="ro-RO" sz="25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500">
                <a:solidFill>
                  <a:srgbClr val="267F99"/>
                </a:solidFill>
                <a:latin typeface="Menlo" panose="020B0609030804020204" pitchFamily="49" charset="0"/>
              </a:rPr>
              <a:t>sigset_t</a:t>
            </a:r>
            <a:r>
              <a:rPr lang="ro-RO" sz="2500">
                <a:solidFill>
                  <a:srgbClr val="000000"/>
                </a:solidFill>
                <a:latin typeface="Menlo" panose="020B0609030804020204" pitchFamily="49" charset="0"/>
              </a:rPr>
              <a:t> *set);</a:t>
            </a:r>
          </a:p>
          <a:p>
            <a:pPr marL="0" indent="0">
              <a:buNone/>
            </a:pPr>
            <a:endParaRPr lang="ro-RO" sz="250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5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5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500">
                <a:solidFill>
                  <a:srgbClr val="795E26"/>
                </a:solidFill>
                <a:latin typeface="Menlo" panose="020B0609030804020204" pitchFamily="49" charset="0"/>
              </a:rPr>
              <a:t>sigfillset</a:t>
            </a:r>
            <a:r>
              <a:rPr lang="ro-RO" sz="25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500">
                <a:solidFill>
                  <a:srgbClr val="267F99"/>
                </a:solidFill>
                <a:latin typeface="Menlo" panose="020B0609030804020204" pitchFamily="49" charset="0"/>
              </a:rPr>
              <a:t>sigset_t</a:t>
            </a:r>
            <a:r>
              <a:rPr lang="ro-RO" sz="2500">
                <a:solidFill>
                  <a:srgbClr val="000000"/>
                </a:solidFill>
                <a:latin typeface="Menlo" panose="020B0609030804020204" pitchFamily="49" charset="0"/>
              </a:rPr>
              <a:t> *set);</a:t>
            </a:r>
          </a:p>
          <a:p>
            <a:pPr marL="0" indent="0">
              <a:buNone/>
            </a:pPr>
            <a:endParaRPr lang="ro-RO" sz="250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5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5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500">
                <a:solidFill>
                  <a:srgbClr val="795E26"/>
                </a:solidFill>
                <a:latin typeface="Menlo" panose="020B0609030804020204" pitchFamily="49" charset="0"/>
              </a:rPr>
              <a:t>sigaddset</a:t>
            </a:r>
            <a:r>
              <a:rPr lang="ro-RO" sz="25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500">
                <a:solidFill>
                  <a:srgbClr val="267F99"/>
                </a:solidFill>
                <a:latin typeface="Menlo" panose="020B0609030804020204" pitchFamily="49" charset="0"/>
              </a:rPr>
              <a:t>sigset_t</a:t>
            </a:r>
            <a:r>
              <a:rPr lang="ro-RO" sz="2500">
                <a:solidFill>
                  <a:srgbClr val="000000"/>
                </a:solidFill>
                <a:latin typeface="Menlo" panose="020B0609030804020204" pitchFamily="49" charset="0"/>
              </a:rPr>
              <a:t> *set, </a:t>
            </a:r>
            <a:r>
              <a:rPr lang="ro-RO" sz="25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500">
                <a:solidFill>
                  <a:srgbClr val="000000"/>
                </a:solidFill>
                <a:latin typeface="Menlo" panose="020B0609030804020204" pitchFamily="49" charset="0"/>
              </a:rPr>
              <a:t> signo);</a:t>
            </a:r>
          </a:p>
          <a:p>
            <a:pPr marL="0" indent="0">
              <a:buNone/>
            </a:pPr>
            <a:endParaRPr lang="ro-RO" sz="250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5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5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500">
                <a:solidFill>
                  <a:srgbClr val="795E26"/>
                </a:solidFill>
                <a:latin typeface="Menlo" panose="020B0609030804020204" pitchFamily="49" charset="0"/>
              </a:rPr>
              <a:t>sigdelset</a:t>
            </a:r>
            <a:r>
              <a:rPr lang="ro-RO" sz="25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500">
                <a:solidFill>
                  <a:srgbClr val="267F99"/>
                </a:solidFill>
                <a:latin typeface="Menlo" panose="020B0609030804020204" pitchFamily="49" charset="0"/>
              </a:rPr>
              <a:t>sigset_t</a:t>
            </a:r>
            <a:r>
              <a:rPr lang="ro-RO" sz="2500">
                <a:solidFill>
                  <a:srgbClr val="000000"/>
                </a:solidFill>
                <a:latin typeface="Menlo" panose="020B0609030804020204" pitchFamily="49" charset="0"/>
              </a:rPr>
              <a:t> *set, </a:t>
            </a:r>
            <a:r>
              <a:rPr lang="ro-RO" sz="25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500">
                <a:solidFill>
                  <a:srgbClr val="000000"/>
                </a:solidFill>
                <a:latin typeface="Menlo" panose="020B0609030804020204" pitchFamily="49" charset="0"/>
              </a:rPr>
              <a:t> signo);</a:t>
            </a:r>
          </a:p>
          <a:p>
            <a:pPr marL="0" indent="0">
              <a:buNone/>
            </a:pPr>
            <a:endParaRPr lang="ro-RO" sz="250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5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5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500">
                <a:solidFill>
                  <a:srgbClr val="795E26"/>
                </a:solidFill>
                <a:latin typeface="Menlo" panose="020B0609030804020204" pitchFamily="49" charset="0"/>
              </a:rPr>
              <a:t>sigismember</a:t>
            </a:r>
            <a:r>
              <a:rPr lang="ro-RO" sz="25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500">
                <a:solidFill>
                  <a:srgbClr val="267F99"/>
                </a:solidFill>
                <a:latin typeface="Menlo" panose="020B0609030804020204" pitchFamily="49" charset="0"/>
              </a:rPr>
              <a:t>sigset_t</a:t>
            </a:r>
            <a:r>
              <a:rPr lang="ro-RO" sz="2500">
                <a:solidFill>
                  <a:srgbClr val="000000"/>
                </a:solidFill>
                <a:latin typeface="Menlo" panose="020B0609030804020204" pitchFamily="49" charset="0"/>
              </a:rPr>
              <a:t> *set, </a:t>
            </a:r>
            <a:r>
              <a:rPr lang="ro-RO" sz="25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500">
                <a:solidFill>
                  <a:srgbClr val="000000"/>
                </a:solidFill>
                <a:latin typeface="Menlo" panose="020B0609030804020204" pitchFamily="49" charset="0"/>
              </a:rPr>
              <a:t> signo);</a:t>
            </a:r>
          </a:p>
          <a:p>
            <a:pPr marL="0" indent="0">
              <a:buNone/>
            </a:pPr>
            <a:endParaRPr lang="ro-RO" sz="25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32C18-3285-FC49-914A-675D33F87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801286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8D2A0C8-EB64-DD45-A03B-3B3BB327C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300EED-EE06-A046-B258-782306DB6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282FFE-E27C-CC49-93D4-D873B8566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7988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D23302A-10F6-D545-8A58-5BC655889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Anonime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80EC14-7DCE-7646-B3CA-B2BACE4A4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Comunicarea între procese care au o legătură între ele (părinte / copil)</a:t>
            </a:r>
          </a:p>
          <a:p>
            <a:r>
              <a:rPr lang="ro-RO"/>
              <a:t>Funcția pipe</a:t>
            </a:r>
          </a:p>
          <a:p>
            <a:pPr lvl="1"/>
            <a:r>
              <a:rPr lang="ro-RO"/>
              <a:t>întoarce doi descriptori de fișiere: </a:t>
            </a:r>
          </a:p>
          <a:p>
            <a:pPr lvl="2"/>
            <a:r>
              <a:rPr lang="ro-RO"/>
              <a:t>unul folosit pentru scriere</a:t>
            </a:r>
          </a:p>
          <a:p>
            <a:pPr lvl="2"/>
            <a:r>
              <a:rPr lang="ro-RO"/>
              <a:t>unul folosit pentru citire </a:t>
            </a:r>
          </a:p>
          <a:p>
            <a:endParaRPr lang="ro-RO"/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3AD4B-0E30-5144-B2CE-D423790E7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682906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CC4CD-8921-D54F-B9D8-92CE8DB1B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/>
              <a:t>Anonime</a:t>
            </a:r>
            <a:endParaRPr lang="fr-FR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6BD6BF9-3ACC-584B-B029-A12D44570D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540048"/>
            <a:ext cx="8229600" cy="264626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FA3AD-963A-FA49-91D2-C616AA3EF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55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26101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10F83-A8C4-1C4A-AB0A-B2B05387A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Exemplu de Pipe în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D846D-93FC-4645-A6BB-9D0D52B50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p[</a:t>
            </a:r>
            <a:r>
              <a:rPr lang="ro-RO">
                <a:solidFill>
                  <a:srgbClr val="09885A"/>
                </a:solidFill>
                <a:latin typeface="Menlo" panose="020B0609030804020204" pitchFamily="49" charset="0"/>
              </a:rPr>
              <a:t>2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pPr marL="0" indent="0">
              <a:buNone/>
            </a:pP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rc;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rc = 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pipe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(p);</a:t>
            </a:r>
          </a:p>
          <a:p>
            <a:pPr marL="0" indent="0">
              <a:buNone/>
            </a:pPr>
            <a:r>
              <a:rPr lang="ro-RO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(rc &lt; </a:t>
            </a:r>
            <a:r>
              <a:rPr lang="ro-RO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perror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>
                <a:solidFill>
                  <a:srgbClr val="A31515"/>
                </a:solidFill>
                <a:latin typeface="Menlo" panose="020B0609030804020204" pitchFamily="49" charset="0"/>
              </a:rPr>
              <a:t>"pipe"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ro-RO">
                <a:solidFill>
                  <a:srgbClr val="AF00DB"/>
                </a:solidFill>
                <a:latin typeface="Menlo" panose="020B0609030804020204" pitchFamily="49" charset="0"/>
              </a:rPr>
              <a:t>else</a:t>
            </a: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>
                <a:solidFill>
                  <a:srgbClr val="008000"/>
                </a:solidFill>
                <a:latin typeface="Menlo" panose="020B0609030804020204" pitchFamily="49" charset="0"/>
              </a:rPr>
              <a:t>// p[0] &lt;- read from here</a:t>
            </a: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>
                <a:solidFill>
                  <a:srgbClr val="008000"/>
                </a:solidFill>
                <a:latin typeface="Menlo" panose="020B0609030804020204" pitchFamily="49" charset="0"/>
              </a:rPr>
              <a:t>// p[1] -&gt; write here</a:t>
            </a: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BE2A8-B908-A74A-9EE5-88FF6BF50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981787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C4CD5-51E2-BC4C-90B2-219B014BB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Exemplu de Pipe în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92CC7-FD66-A141-9C45-07ED92463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756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o-RO" sz="11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 p[</a:t>
            </a:r>
            <a:r>
              <a:rPr lang="ro-RO" sz="1100">
                <a:solidFill>
                  <a:srgbClr val="09885A"/>
                </a:solidFill>
                <a:latin typeface="Menlo" panose="020B0609030804020204" pitchFamily="49" charset="0"/>
              </a:rPr>
              <a:t>2</a:t>
            </a: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pPr marL="0" indent="0">
              <a:buNone/>
            </a:pPr>
            <a:r>
              <a:rPr lang="ro-RO" sz="11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 rc, pid;</a:t>
            </a:r>
          </a:p>
          <a:p>
            <a:pPr marL="0" indent="0">
              <a:buNone/>
            </a:pPr>
            <a:r>
              <a:rPr lang="ro-RO" sz="110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 buffer[BUFFER_SIZE];</a:t>
            </a:r>
          </a:p>
          <a:p>
            <a:pPr marL="0" indent="0">
              <a:buNone/>
            </a:pP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rc = </a:t>
            </a:r>
            <a:r>
              <a:rPr lang="ro-RO" sz="1100">
                <a:solidFill>
                  <a:srgbClr val="795E26"/>
                </a:solidFill>
                <a:latin typeface="Menlo" panose="020B0609030804020204" pitchFamily="49" charset="0"/>
              </a:rPr>
              <a:t>pipe</a:t>
            </a: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 (p);</a:t>
            </a:r>
          </a:p>
          <a:p>
            <a:pPr marL="0" indent="0">
              <a:buNone/>
            </a:pPr>
            <a:r>
              <a:rPr lang="ro-RO" sz="110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 (rc &lt; </a:t>
            </a:r>
            <a:r>
              <a:rPr lang="ro-RO" sz="110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1100">
                <a:solidFill>
                  <a:srgbClr val="795E26"/>
                </a:solidFill>
                <a:latin typeface="Menlo" panose="020B0609030804020204" pitchFamily="49" charset="0"/>
              </a:rPr>
              <a:t>perror</a:t>
            </a: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sz="1100">
                <a:solidFill>
                  <a:srgbClr val="A31515"/>
                </a:solidFill>
                <a:latin typeface="Menlo" panose="020B0609030804020204" pitchFamily="49" charset="0"/>
              </a:rPr>
              <a:t>"pipe"</a:t>
            </a: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ro-RO" sz="1100">
                <a:solidFill>
                  <a:srgbClr val="AF00DB"/>
                </a:solidFill>
                <a:latin typeface="Menlo" panose="020B0609030804020204" pitchFamily="49" charset="0"/>
              </a:rPr>
              <a:t>else</a:t>
            </a:r>
            <a:endParaRPr lang="ro-RO" sz="11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    pid = </a:t>
            </a:r>
            <a:r>
              <a:rPr lang="ro-RO" sz="1100">
                <a:solidFill>
                  <a:srgbClr val="795E26"/>
                </a:solidFill>
                <a:latin typeface="Menlo" panose="020B0609030804020204" pitchFamily="49" charset="0"/>
              </a:rPr>
              <a:t>fork</a:t>
            </a: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 ();</a:t>
            </a:r>
          </a:p>
          <a:p>
            <a:pPr marL="0" indent="0">
              <a:buNone/>
            </a:pP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110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 (pid == </a:t>
            </a:r>
            <a:r>
              <a:rPr lang="ro-RO" sz="110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ro-RO" sz="1100">
                <a:solidFill>
                  <a:srgbClr val="795E26"/>
                </a:solidFill>
                <a:latin typeface="Menlo" panose="020B0609030804020204" pitchFamily="49" charset="0"/>
              </a:rPr>
              <a:t>close</a:t>
            </a: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 (p[</a:t>
            </a:r>
            <a:r>
              <a:rPr lang="ro-RO" sz="1100">
                <a:solidFill>
                  <a:srgbClr val="09885A"/>
                </a:solidFill>
                <a:latin typeface="Menlo" panose="020B0609030804020204" pitchFamily="49" charset="0"/>
              </a:rPr>
              <a:t>1</a:t>
            </a: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]);</a:t>
            </a:r>
          </a:p>
          <a:p>
            <a:pPr marL="0" indent="0">
              <a:buNone/>
            </a:pP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ro-RO" sz="1100">
                <a:solidFill>
                  <a:srgbClr val="795E26"/>
                </a:solidFill>
                <a:latin typeface="Menlo" panose="020B0609030804020204" pitchFamily="49" charset="0"/>
              </a:rPr>
              <a:t>read</a:t>
            </a: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 (p[</a:t>
            </a:r>
            <a:r>
              <a:rPr lang="ro-RO" sz="110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], buffer, BUFFER_SIZE);</a:t>
            </a:r>
          </a:p>
          <a:p>
            <a:pPr marL="0" indent="0">
              <a:buNone/>
            </a:pP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ro-RO" sz="1100">
                <a:solidFill>
                  <a:srgbClr val="008000"/>
                </a:solidFill>
                <a:latin typeface="Menlo" panose="020B0609030804020204" pitchFamily="49" charset="0"/>
              </a:rPr>
              <a:t>// ...</a:t>
            </a:r>
            <a:endParaRPr lang="ro-RO" sz="11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    }</a:t>
            </a:r>
          </a:p>
          <a:p>
            <a:pPr marL="0" indent="0">
              <a:buNone/>
            </a:pP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1100">
                <a:solidFill>
                  <a:srgbClr val="AF00DB"/>
                </a:solidFill>
                <a:latin typeface="Menlo" panose="020B0609030804020204" pitchFamily="49" charset="0"/>
              </a:rPr>
              <a:t>else</a:t>
            </a:r>
            <a:endParaRPr lang="ro-RO" sz="11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110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 (pid &gt; </a:t>
            </a:r>
            <a:r>
              <a:rPr lang="ro-RO" sz="110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ro-RO" sz="1100">
                <a:solidFill>
                  <a:srgbClr val="795E26"/>
                </a:solidFill>
                <a:latin typeface="Menlo" panose="020B0609030804020204" pitchFamily="49" charset="0"/>
              </a:rPr>
              <a:t>close</a:t>
            </a: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 (p[</a:t>
            </a:r>
            <a:r>
              <a:rPr lang="ro-RO" sz="110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]);</a:t>
            </a:r>
          </a:p>
          <a:p>
            <a:pPr marL="0" indent="0">
              <a:buNone/>
            </a:pP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ro-RO" sz="1100">
                <a:solidFill>
                  <a:srgbClr val="795E26"/>
                </a:solidFill>
                <a:latin typeface="Menlo" panose="020B0609030804020204" pitchFamily="49" charset="0"/>
              </a:rPr>
              <a:t>memcpy</a:t>
            </a: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 (buffer, ..., BUFFER_SIZE);</a:t>
            </a:r>
          </a:p>
          <a:p>
            <a:pPr marL="0" indent="0">
              <a:buNone/>
            </a:pP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ro-RO" sz="1100">
                <a:solidFill>
                  <a:srgbClr val="795E26"/>
                </a:solidFill>
                <a:latin typeface="Menlo" panose="020B0609030804020204" pitchFamily="49" charset="0"/>
              </a:rPr>
              <a:t>write</a:t>
            </a: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 (p[</a:t>
            </a:r>
            <a:r>
              <a:rPr lang="ro-RO" sz="1100">
                <a:solidFill>
                  <a:srgbClr val="09885A"/>
                </a:solidFill>
                <a:latin typeface="Menlo" panose="020B0609030804020204" pitchFamily="49" charset="0"/>
              </a:rPr>
              <a:t>1</a:t>
            </a: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], buffer, BUFFER_SIZE);</a:t>
            </a:r>
          </a:p>
          <a:p>
            <a:pPr marL="0" indent="0">
              <a:buNone/>
            </a:pP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ro-RO" sz="1100">
                <a:solidFill>
                  <a:srgbClr val="008000"/>
                </a:solidFill>
                <a:latin typeface="Menlo" panose="020B0609030804020204" pitchFamily="49" charset="0"/>
              </a:rPr>
              <a:t>// ...</a:t>
            </a:r>
            <a:endParaRPr lang="ro-RO" sz="11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    }</a:t>
            </a:r>
          </a:p>
          <a:p>
            <a:pPr marL="0" indent="0">
              <a:buNone/>
            </a:pPr>
            <a: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br>
              <a:rPr lang="ro-RO" sz="110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ro-RO" sz="11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sz="11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97416-803A-C84A-918F-02BC42EEC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755606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2986E-D236-2847-BF75-8E19EEEC0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Pipe-uri cu nume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EC822-A367-4146-AADE-5812EC141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mkfifo / mknod</a:t>
            </a:r>
          </a:p>
          <a:p>
            <a:r>
              <a:rPr lang="ro-RO"/>
              <a:t>Folosite la fel ca un fișier normal</a:t>
            </a:r>
          </a:p>
          <a:p>
            <a:pPr lvl="1"/>
            <a:r>
              <a:rPr lang="ro-RO"/>
              <a:t>open</a:t>
            </a:r>
          </a:p>
          <a:p>
            <a:pPr lvl="1"/>
            <a:r>
              <a:rPr lang="ro-RO"/>
              <a:t>read, write</a:t>
            </a:r>
          </a:p>
          <a:p>
            <a:r>
              <a:rPr lang="ro-RO"/>
              <a:t>Half-duplex (Linux)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ACC47-1A28-054F-A1EF-4754682D1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14074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1CF2D-596A-EC4B-B409-F192441A2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Exemplu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C6408-727C-4649-85A6-3E50390A5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ro-RO" sz="220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sz="220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sz="220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2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2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200">
                <a:solidFill>
                  <a:srgbClr val="795E26"/>
                </a:solidFill>
                <a:latin typeface="Menlo" panose="020B0609030804020204" pitchFamily="49" charset="0"/>
              </a:rPr>
              <a:t>mkfifo</a:t>
            </a:r>
            <a:r>
              <a:rPr lang="ro-RO" sz="22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20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ro-RO" sz="22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20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ro-RO" sz="2200">
                <a:solidFill>
                  <a:srgbClr val="000000"/>
                </a:solidFill>
                <a:latin typeface="Menlo" panose="020B0609030804020204" pitchFamily="49" charset="0"/>
              </a:rPr>
              <a:t> *pathname, </a:t>
            </a:r>
            <a:r>
              <a:rPr lang="ro-RO" sz="2200">
                <a:solidFill>
                  <a:srgbClr val="267F99"/>
                </a:solidFill>
                <a:latin typeface="Menlo" panose="020B0609030804020204" pitchFamily="49" charset="0"/>
              </a:rPr>
              <a:t>mode_t</a:t>
            </a:r>
            <a:r>
              <a:rPr lang="ro-RO" sz="2200">
                <a:solidFill>
                  <a:srgbClr val="000000"/>
                </a:solidFill>
                <a:latin typeface="Menlo" panose="020B0609030804020204" pitchFamily="49" charset="0"/>
              </a:rPr>
              <a:t> mode);</a:t>
            </a:r>
          </a:p>
          <a:p>
            <a:pPr marL="0" indent="0">
              <a:buNone/>
            </a:pPr>
            <a:endParaRPr lang="ro-RO" sz="2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AFD48-6DE7-4C4D-9DB8-32688B37D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348300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5B4E3AA-4A46-154E-BBEC-E6E0340EB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Alte sisteme IPC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E8EB391-51DD-134E-A1B2-75B4161A2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16F2A-55D0-6D42-8450-500B1C398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60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7599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2421835-DB4C-8E4D-B833-09100349F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Memorie partajată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ADD9A4-1020-7640-BC05-4E8287F32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/>
              <a:t>Fiecare proces are memoria sa </a:t>
            </a:r>
          </a:p>
          <a:p>
            <a:pPr lvl="1"/>
            <a:r>
              <a:rPr lang="ro-RO"/>
              <a:t>O zonă de memorie poate fi partajată între mai multe procese </a:t>
            </a:r>
          </a:p>
          <a:p>
            <a:pPr lvl="2"/>
            <a:r>
              <a:rPr lang="ro-RO"/>
              <a:t>shmget / shmat </a:t>
            </a:r>
          </a:p>
          <a:p>
            <a:pPr lvl="2"/>
            <a:r>
              <a:rPr lang="ro-RO"/>
              <a:t>mmap </a:t>
            </a:r>
          </a:p>
          <a:p>
            <a:r>
              <a:rPr lang="ro-RO"/>
              <a:t>Comunicarea se face fără overhead</a:t>
            </a:r>
          </a:p>
          <a:p>
            <a:pPr lvl="1"/>
            <a:r>
              <a:rPr lang="ro-RO"/>
              <a:t>Fără trecere prin nucleu </a:t>
            </a:r>
          </a:p>
          <a:p>
            <a:pPr lvl="1"/>
            <a:r>
              <a:rPr lang="ro-RO"/>
              <a:t>Acces la memorie</a:t>
            </a:r>
          </a:p>
          <a:p>
            <a:pPr lvl="1"/>
            <a:r>
              <a:rPr lang="ro-RO"/>
              <a:t>Este necesară folosirea sistemelor de sincronizare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8DE4E-4C55-2645-A4F5-2EB8063FE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61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505463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BF54E-5FA3-DA40-8CBF-99C02C752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m-CH"/>
              <a:t>socket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C68F6-0B9D-AA4A-B077-D646043EE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m-CH" dirty="0"/>
              <a:t>Mecanismul de IPC cel mai folosit </a:t>
            </a:r>
          </a:p>
          <a:p>
            <a:pPr lvl="1"/>
            <a:r>
              <a:rPr lang="rm-CH" dirty="0"/>
              <a:t>sockets Unix: similare cu pipe-urile cu nume </a:t>
            </a:r>
          </a:p>
          <a:p>
            <a:r>
              <a:rPr lang="rm-CH" dirty="0"/>
              <a:t>BSD sockets</a:t>
            </a:r>
          </a:p>
          <a:p>
            <a:pPr lvl="1"/>
            <a:r>
              <a:rPr lang="rm-CH" dirty="0"/>
              <a:t>TCP / UDP</a:t>
            </a:r>
          </a:p>
          <a:p>
            <a:pPr lvl="1"/>
            <a:r>
              <a:rPr lang="rm-CH" dirty="0"/>
              <a:t>Cross-machine</a:t>
            </a:r>
          </a:p>
          <a:p>
            <a:pPr lvl="1"/>
            <a:r>
              <a:rPr lang="rm-CH" dirty="0"/>
              <a:t>Syncronizare implicită</a:t>
            </a:r>
          </a:p>
          <a:p>
            <a:r>
              <a:rPr lang="rm-CH" dirty="0"/>
              <a:t>API: stream </a:t>
            </a:r>
          </a:p>
          <a:p>
            <a:pPr lvl="1"/>
            <a:r>
              <a:rPr lang="rm-CH" dirty="0"/>
              <a:t>socket / connect / accept / send / recv </a:t>
            </a:r>
          </a:p>
          <a:p>
            <a:endParaRPr lang="rm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88EF9-04B3-4142-BE25-A26606AFE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m-CH" smtClean="0"/>
              <a:pPr/>
              <a:t>62</a:t>
            </a:fld>
            <a:endParaRPr lang="rm-CH"/>
          </a:p>
        </p:txBody>
      </p:sp>
    </p:spTree>
    <p:extLst>
      <p:ext uri="{BB962C8B-B14F-4D97-AF65-F5344CB8AC3E}">
        <p14:creationId xmlns:p14="http://schemas.microsoft.com/office/powerpoint/2010/main" val="161864890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26B73-C1D8-6E4E-960E-A5F8AEE19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Cuvinte cheie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C9A09-3FE2-C24B-BBE4-875AD97C24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o-RO"/>
              <a:t>Semnale</a:t>
            </a:r>
          </a:p>
          <a:p>
            <a:r>
              <a:rPr lang="ro-RO"/>
              <a:t>Pipe</a:t>
            </a:r>
          </a:p>
          <a:p>
            <a:r>
              <a:rPr lang="ro-RO"/>
              <a:t>Memorie partajată</a:t>
            </a:r>
          </a:p>
          <a:p>
            <a:r>
              <a:rPr lang="ro-RO"/>
              <a:t>Socket</a:t>
            </a:r>
          </a:p>
          <a:p>
            <a:r>
              <a:rPr lang="ro-RO"/>
              <a:t>Planificare</a:t>
            </a:r>
          </a:p>
          <a:p>
            <a:r>
              <a:rPr lang="ro-RO"/>
              <a:t>Procesare în background</a:t>
            </a:r>
          </a:p>
          <a:p>
            <a:r>
              <a:rPr lang="ro-RO"/>
              <a:t>Job</a:t>
            </a:r>
          </a:p>
          <a:p>
            <a:r>
              <a:rPr lang="ro-RO"/>
              <a:t>Sistem interactiv</a:t>
            </a:r>
          </a:p>
          <a:p>
            <a:r>
              <a:rPr lang="ro-RO"/>
              <a:t>Proces</a:t>
            </a:r>
          </a:p>
          <a:p>
            <a:r>
              <a:rPr lang="ro-RO"/>
              <a:t>Timp real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0EF27B-A32E-9D4E-80A0-865F8996C9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o-RO"/>
              <a:t>Shortest Job First</a:t>
            </a:r>
          </a:p>
          <a:p>
            <a:r>
              <a:rPr lang="ro-RO"/>
              <a:t>Shortest Remaining Job First</a:t>
            </a:r>
          </a:p>
          <a:p>
            <a:r>
              <a:rPr lang="ro-RO"/>
              <a:t>Round Robin</a:t>
            </a:r>
          </a:p>
          <a:p>
            <a:r>
              <a:rPr lang="ro-RO"/>
              <a:t>Shortest Process Next</a:t>
            </a:r>
          </a:p>
          <a:p>
            <a:r>
              <a:rPr lang="ro-RO"/>
              <a:t>Prioritate</a:t>
            </a:r>
          </a:p>
          <a:p>
            <a:r>
              <a:rPr lang="ro-RO"/>
              <a:t>Priority Inversion</a:t>
            </a:r>
          </a:p>
          <a:p>
            <a:r>
              <a:rPr lang="ro-RO"/>
              <a:t>Priority Boosting</a:t>
            </a:r>
          </a:p>
          <a:p>
            <a:r>
              <a:rPr lang="ro-RO"/>
              <a:t>Starvation</a:t>
            </a:r>
          </a:p>
          <a:p>
            <a:r>
              <a:rPr lang="ro-RO"/>
              <a:t>Completly Fair Scheduler</a:t>
            </a:r>
          </a:p>
          <a:p>
            <a:endParaRPr lang="ro-RO"/>
          </a:p>
          <a:p>
            <a:endParaRPr lang="ro-RO"/>
          </a:p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1111B-0DD8-2549-A040-29FA546D6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63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895171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Întrebări</a:t>
            </a:r>
          </a:p>
        </p:txBody>
      </p:sp>
      <p:pic>
        <p:nvPicPr>
          <p:cNvPr id="6" name="Content Placeholder 5" descr="questionMarkIcon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834384" y="3134709"/>
            <a:ext cx="1475232" cy="1456944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617490-7D10-5848-8514-BF8A22DFD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64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99526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13862</TotalTime>
  <Words>2130</Words>
  <Application>Microsoft Macintosh PowerPoint</Application>
  <PresentationFormat>On-screen Show (4:3)</PresentationFormat>
  <Paragraphs>553</Paragraphs>
  <Slides>64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9" baseType="lpstr">
      <vt:lpstr>Arial</vt:lpstr>
      <vt:lpstr>Calibri</vt:lpstr>
      <vt:lpstr>Courier New</vt:lpstr>
      <vt:lpstr>Menlo</vt:lpstr>
      <vt:lpstr>Office Theme</vt:lpstr>
      <vt:lpstr>Sisteme de operare</vt:lpstr>
      <vt:lpstr>Cuprins</vt:lpstr>
      <vt:lpstr>Bibliografie</vt:lpstr>
      <vt:lpstr>Planificarea Proceselor</vt:lpstr>
      <vt:lpstr>Procese și procesoare</vt:lpstr>
      <vt:lpstr>Multitasking</vt:lpstr>
      <vt:lpstr>Multitasking</vt:lpstr>
      <vt:lpstr>Tranzițiile între stările proceselor</vt:lpstr>
      <vt:lpstr>Tranzițiile între stările proceselor</vt:lpstr>
      <vt:lpstr>Planificare (scheduling)</vt:lpstr>
      <vt:lpstr>Tipuri de SO (dpdv. planificator)</vt:lpstr>
      <vt:lpstr>Schimbarea de context</vt:lpstr>
      <vt:lpstr>Puncționarea unui proces</vt:lpstr>
      <vt:lpstr>Schimbarea de context</vt:lpstr>
      <vt:lpstr>Tipuri de procese (CPU)</vt:lpstr>
      <vt:lpstr>Planificatorul de procese </vt:lpstr>
      <vt:lpstr>Definiții</vt:lpstr>
      <vt:lpstr>Sistem ideal</vt:lpstr>
      <vt:lpstr>Tipuri de sisteme</vt:lpstr>
      <vt:lpstr>Procesare în background</vt:lpstr>
      <vt:lpstr>Procesare în background</vt:lpstr>
      <vt:lpstr>First Come First Served</vt:lpstr>
      <vt:lpstr>Exemple</vt:lpstr>
      <vt:lpstr>Shortest Job First</vt:lpstr>
      <vt:lpstr>Exemple</vt:lpstr>
      <vt:lpstr>Shortest Remaining Time First</vt:lpstr>
      <vt:lpstr>Exemple</vt:lpstr>
      <vt:lpstr>Sisteme Interactive</vt:lpstr>
      <vt:lpstr>Sisteme Interactive</vt:lpstr>
      <vt:lpstr>Round Robin</vt:lpstr>
      <vt:lpstr>Clase de priorități</vt:lpstr>
      <vt:lpstr>Clase de priorități</vt:lpstr>
      <vt:lpstr>Clase de priorități (Linux)</vt:lpstr>
      <vt:lpstr>Shortest Process Next</vt:lpstr>
      <vt:lpstr>Timp Real</vt:lpstr>
      <vt:lpstr>Timp Real</vt:lpstr>
      <vt:lpstr>Priority Inversion</vt:lpstr>
      <vt:lpstr>Priority Boosting</vt:lpstr>
      <vt:lpstr>Starvation</vt:lpstr>
      <vt:lpstr>Completely Fair Scheduler</vt:lpstr>
      <vt:lpstr>Completly Fair Scheduler</vt:lpstr>
      <vt:lpstr>Completly Fair Scheduler</vt:lpstr>
      <vt:lpstr>IPC – Comunicarea între procese</vt:lpstr>
      <vt:lpstr>IPC</vt:lpstr>
      <vt:lpstr>Semnale</vt:lpstr>
      <vt:lpstr>Semnale</vt:lpstr>
      <vt:lpstr>Lista de semnale - Linux</vt:lpstr>
      <vt:lpstr>Trimiterea unui semnal</vt:lpstr>
      <vt:lpstr>Acțiunea la primirea unui semnal</vt:lpstr>
      <vt:lpstr>Acțiune definită de proces</vt:lpstr>
      <vt:lpstr>Exemplu</vt:lpstr>
      <vt:lpstr>Mascarea semnalelor</vt:lpstr>
      <vt:lpstr>Pipe</vt:lpstr>
      <vt:lpstr>Anonime</vt:lpstr>
      <vt:lpstr>Anonime</vt:lpstr>
      <vt:lpstr>Exemplu de Pipe în Linux</vt:lpstr>
      <vt:lpstr>Exemplu de Pipe în Linux</vt:lpstr>
      <vt:lpstr>Pipe-uri cu nume</vt:lpstr>
      <vt:lpstr>Exemplu Linux</vt:lpstr>
      <vt:lpstr>Alte sisteme IPC</vt:lpstr>
      <vt:lpstr>Memorie partajată</vt:lpstr>
      <vt:lpstr>socket</vt:lpstr>
      <vt:lpstr>Cuvinte cheie</vt:lpstr>
      <vt:lpstr>Întrebări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Alex</dc:creator>
  <cp:lastModifiedBy>Alexandru Radovici</cp:lastModifiedBy>
  <cp:revision>1254</cp:revision>
  <dcterms:created xsi:type="dcterms:W3CDTF">2010-02-23T11:53:40Z</dcterms:created>
  <dcterms:modified xsi:type="dcterms:W3CDTF">2020-03-23T20:49:49Z</dcterms:modified>
</cp:coreProperties>
</file>